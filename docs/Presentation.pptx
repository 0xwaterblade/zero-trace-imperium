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48"/>
  </p:notesMasterIdLst>
  <p:sldIdLst>
    <p:sldId id="257" r:id="rId2"/>
    <p:sldId id="258" r:id="rId3"/>
    <p:sldId id="259" r:id="rId4"/>
    <p:sldId id="260" r:id="rId5"/>
    <p:sldId id="261" r:id="rId6"/>
    <p:sldId id="262" r:id="rId7"/>
    <p:sldId id="263" r:id="rId8"/>
    <p:sldId id="264" r:id="rId9"/>
    <p:sldId id="265" r:id="rId10"/>
    <p:sldId id="266" r:id="rId11"/>
    <p:sldId id="256" r:id="rId12"/>
    <p:sldId id="267" r:id="rId13"/>
    <p:sldId id="268" r:id="rId14"/>
    <p:sldId id="269" r:id="rId15"/>
    <p:sldId id="270" r:id="rId16"/>
    <p:sldId id="271" r:id="rId17"/>
    <p:sldId id="272" r:id="rId18"/>
    <p:sldId id="273" r:id="rId19"/>
    <p:sldId id="274" r:id="rId20"/>
    <p:sldId id="275" r:id="rId21"/>
    <p:sldId id="296" r:id="rId22"/>
    <p:sldId id="297" r:id="rId23"/>
    <p:sldId id="276" r:id="rId24"/>
    <p:sldId id="277" r:id="rId25"/>
    <p:sldId id="278" r:id="rId26"/>
    <p:sldId id="279" r:id="rId27"/>
    <p:sldId id="280" r:id="rId28"/>
    <p:sldId id="281" r:id="rId29"/>
    <p:sldId id="282" r:id="rId30"/>
    <p:sldId id="283" r:id="rId31"/>
    <p:sldId id="284" r:id="rId32"/>
    <p:sldId id="285" r:id="rId33"/>
    <p:sldId id="298" r:id="rId34"/>
    <p:sldId id="299" r:id="rId35"/>
    <p:sldId id="286" r:id="rId36"/>
    <p:sldId id="287" r:id="rId37"/>
    <p:sldId id="288" r:id="rId38"/>
    <p:sldId id="289" r:id="rId39"/>
    <p:sldId id="290" r:id="rId40"/>
    <p:sldId id="291" r:id="rId41"/>
    <p:sldId id="292" r:id="rId42"/>
    <p:sldId id="293" r:id="rId43"/>
    <p:sldId id="294" r:id="rId44"/>
    <p:sldId id="295" r:id="rId45"/>
    <p:sldId id="300" r:id="rId46"/>
    <p:sldId id="30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111F"/>
    <a:srgbClr val="0E2841"/>
    <a:srgbClr val="D6D6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58"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646594-6BAF-44E8-8430-43CA6BA53C25}" type="datetimeFigureOut">
              <a:rPr lang="en-US" smtClean="0"/>
              <a:t>7/11/2026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C41BB0-3793-478F-B92E-4A24074EE86A}" type="slidenum">
              <a:rPr lang="en-US" smtClean="0"/>
              <a:t>‹#›</a:t>
            </a:fld>
            <a:endParaRPr lang="en-US"/>
          </a:p>
        </p:txBody>
      </p:sp>
    </p:spTree>
    <p:extLst>
      <p:ext uri="{BB962C8B-B14F-4D97-AF65-F5344CB8AC3E}">
        <p14:creationId xmlns:p14="http://schemas.microsoft.com/office/powerpoint/2010/main" val="2379498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16113-156F-9ED2-0ECD-230103837D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173EE0-B29D-F82F-D774-E7425E6765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56349E-D656-A64F-3C2C-B3671CC430EA}"/>
              </a:ext>
            </a:extLst>
          </p:cNvPr>
          <p:cNvSpPr>
            <a:spLocks noGrp="1"/>
          </p:cNvSpPr>
          <p:nvPr>
            <p:ph type="dt" sz="half" idx="10"/>
          </p:nvPr>
        </p:nvSpPr>
        <p:spPr/>
        <p:txBody>
          <a:bodyPr/>
          <a:lstStyle/>
          <a:p>
            <a:fld id="{9A2B7EC0-FCA8-44B2-AD55-4B549F807EF2}" type="datetime1">
              <a:rPr lang="en-US" smtClean="0"/>
              <a:t>7/11/2026</a:t>
            </a:fld>
            <a:endParaRPr lang="en-US"/>
          </a:p>
        </p:txBody>
      </p:sp>
      <p:sp>
        <p:nvSpPr>
          <p:cNvPr id="5" name="Footer Placeholder 4">
            <a:extLst>
              <a:ext uri="{FF2B5EF4-FFF2-40B4-BE49-F238E27FC236}">
                <a16:creationId xmlns:a16="http://schemas.microsoft.com/office/drawing/2014/main" id="{53E1816F-66C9-7B8B-5334-29329295BD9F}"/>
              </a:ext>
            </a:extLst>
          </p:cNvPr>
          <p:cNvSpPr>
            <a:spLocks noGrp="1"/>
          </p:cNvSpPr>
          <p:nvPr>
            <p:ph type="ftr" sz="quarter" idx="11"/>
          </p:nvPr>
        </p:nvSpPr>
        <p:spPr/>
        <p:txBody>
          <a:bodyPr/>
          <a:lstStyle/>
          <a:p>
            <a:r>
              <a:rPr lang="en-US"/>
              <a:t>Zero Trace Imperium</a:t>
            </a:r>
          </a:p>
        </p:txBody>
      </p:sp>
      <p:sp>
        <p:nvSpPr>
          <p:cNvPr id="6" name="Slide Number Placeholder 5">
            <a:extLst>
              <a:ext uri="{FF2B5EF4-FFF2-40B4-BE49-F238E27FC236}">
                <a16:creationId xmlns:a16="http://schemas.microsoft.com/office/drawing/2014/main" id="{E79E617F-F070-76FA-8AB0-F36DD41D7ED3}"/>
              </a:ext>
            </a:extLst>
          </p:cNvPr>
          <p:cNvSpPr>
            <a:spLocks noGrp="1"/>
          </p:cNvSpPr>
          <p:nvPr>
            <p:ph type="sldNum" sz="quarter" idx="12"/>
          </p:nvPr>
        </p:nvSpPr>
        <p:spPr/>
        <p:txBody>
          <a:bodyPr/>
          <a:lstStyle/>
          <a:p>
            <a:fld id="{08D6B0A0-5113-456A-82B3-EA8CCD6D43D8}" type="slidenum">
              <a:rPr lang="en-US" smtClean="0"/>
              <a:t>‹#›</a:t>
            </a:fld>
            <a:endParaRPr lang="en-US"/>
          </a:p>
        </p:txBody>
      </p:sp>
    </p:spTree>
    <p:extLst>
      <p:ext uri="{BB962C8B-B14F-4D97-AF65-F5344CB8AC3E}">
        <p14:creationId xmlns:p14="http://schemas.microsoft.com/office/powerpoint/2010/main" val="226886133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FD24B-0F29-3DF7-2A10-285B6E8462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43E4E8-2F2F-EFDD-ADE0-32BB2B9EF8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A694CE-CECB-1831-D3CA-854499D8C17A}"/>
              </a:ext>
            </a:extLst>
          </p:cNvPr>
          <p:cNvSpPr>
            <a:spLocks noGrp="1"/>
          </p:cNvSpPr>
          <p:nvPr>
            <p:ph type="dt" sz="half" idx="10"/>
          </p:nvPr>
        </p:nvSpPr>
        <p:spPr/>
        <p:txBody>
          <a:bodyPr/>
          <a:lstStyle/>
          <a:p>
            <a:fld id="{E7DEE039-8827-479B-B9B2-A4EDF28C70F2}" type="datetime1">
              <a:rPr lang="en-US" smtClean="0"/>
              <a:t>7/11/2026</a:t>
            </a:fld>
            <a:endParaRPr lang="en-US"/>
          </a:p>
        </p:txBody>
      </p:sp>
      <p:sp>
        <p:nvSpPr>
          <p:cNvPr id="5" name="Footer Placeholder 4">
            <a:extLst>
              <a:ext uri="{FF2B5EF4-FFF2-40B4-BE49-F238E27FC236}">
                <a16:creationId xmlns:a16="http://schemas.microsoft.com/office/drawing/2014/main" id="{F62B3644-8173-F0E9-576A-E73FD72AC2AB}"/>
              </a:ext>
            </a:extLst>
          </p:cNvPr>
          <p:cNvSpPr>
            <a:spLocks noGrp="1"/>
          </p:cNvSpPr>
          <p:nvPr>
            <p:ph type="ftr" sz="quarter" idx="11"/>
          </p:nvPr>
        </p:nvSpPr>
        <p:spPr/>
        <p:txBody>
          <a:bodyPr/>
          <a:lstStyle/>
          <a:p>
            <a:r>
              <a:rPr lang="en-US"/>
              <a:t>Zero Trace Imperium</a:t>
            </a:r>
          </a:p>
        </p:txBody>
      </p:sp>
      <p:sp>
        <p:nvSpPr>
          <p:cNvPr id="6" name="Slide Number Placeholder 5">
            <a:extLst>
              <a:ext uri="{FF2B5EF4-FFF2-40B4-BE49-F238E27FC236}">
                <a16:creationId xmlns:a16="http://schemas.microsoft.com/office/drawing/2014/main" id="{939E2CB6-D895-D794-FC7F-E0A03C70DCCD}"/>
              </a:ext>
            </a:extLst>
          </p:cNvPr>
          <p:cNvSpPr>
            <a:spLocks noGrp="1"/>
          </p:cNvSpPr>
          <p:nvPr>
            <p:ph type="sldNum" sz="quarter" idx="12"/>
          </p:nvPr>
        </p:nvSpPr>
        <p:spPr/>
        <p:txBody>
          <a:bodyPr/>
          <a:lstStyle/>
          <a:p>
            <a:fld id="{08D6B0A0-5113-456A-82B3-EA8CCD6D43D8}" type="slidenum">
              <a:rPr lang="en-US" smtClean="0"/>
              <a:t>‹#›</a:t>
            </a:fld>
            <a:endParaRPr lang="en-US"/>
          </a:p>
        </p:txBody>
      </p:sp>
    </p:spTree>
    <p:extLst>
      <p:ext uri="{BB962C8B-B14F-4D97-AF65-F5344CB8AC3E}">
        <p14:creationId xmlns:p14="http://schemas.microsoft.com/office/powerpoint/2010/main" val="10555849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D3385-DB66-7043-7D0C-E28E999163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B9E258-E67D-C206-B7AB-440419E53D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6FA7D7-3EB4-4D14-B8AE-61BFB6E7CAB7}"/>
              </a:ext>
            </a:extLst>
          </p:cNvPr>
          <p:cNvSpPr>
            <a:spLocks noGrp="1"/>
          </p:cNvSpPr>
          <p:nvPr>
            <p:ph type="dt" sz="half" idx="10"/>
          </p:nvPr>
        </p:nvSpPr>
        <p:spPr/>
        <p:txBody>
          <a:bodyPr/>
          <a:lstStyle/>
          <a:p>
            <a:fld id="{1C5BC961-317F-4386-9023-3FC0D1827A1D}" type="datetime1">
              <a:rPr lang="en-US" smtClean="0"/>
              <a:t>7/11/2026</a:t>
            </a:fld>
            <a:endParaRPr lang="en-US"/>
          </a:p>
        </p:txBody>
      </p:sp>
      <p:sp>
        <p:nvSpPr>
          <p:cNvPr id="5" name="Footer Placeholder 4">
            <a:extLst>
              <a:ext uri="{FF2B5EF4-FFF2-40B4-BE49-F238E27FC236}">
                <a16:creationId xmlns:a16="http://schemas.microsoft.com/office/drawing/2014/main" id="{87193944-F77F-934C-809E-45DB4827AA8A}"/>
              </a:ext>
            </a:extLst>
          </p:cNvPr>
          <p:cNvSpPr>
            <a:spLocks noGrp="1"/>
          </p:cNvSpPr>
          <p:nvPr>
            <p:ph type="ftr" sz="quarter" idx="11"/>
          </p:nvPr>
        </p:nvSpPr>
        <p:spPr/>
        <p:txBody>
          <a:bodyPr/>
          <a:lstStyle/>
          <a:p>
            <a:r>
              <a:rPr lang="en-US"/>
              <a:t>Zero Trace Imperium</a:t>
            </a:r>
          </a:p>
        </p:txBody>
      </p:sp>
      <p:sp>
        <p:nvSpPr>
          <p:cNvPr id="6" name="Slide Number Placeholder 5">
            <a:extLst>
              <a:ext uri="{FF2B5EF4-FFF2-40B4-BE49-F238E27FC236}">
                <a16:creationId xmlns:a16="http://schemas.microsoft.com/office/drawing/2014/main" id="{F62866E4-0886-7A78-B23F-15FC137641D1}"/>
              </a:ext>
            </a:extLst>
          </p:cNvPr>
          <p:cNvSpPr>
            <a:spLocks noGrp="1"/>
          </p:cNvSpPr>
          <p:nvPr>
            <p:ph type="sldNum" sz="quarter" idx="12"/>
          </p:nvPr>
        </p:nvSpPr>
        <p:spPr/>
        <p:txBody>
          <a:bodyPr/>
          <a:lstStyle/>
          <a:p>
            <a:fld id="{08D6B0A0-5113-456A-82B3-EA8CCD6D43D8}" type="slidenum">
              <a:rPr lang="en-US" smtClean="0"/>
              <a:t>‹#›</a:t>
            </a:fld>
            <a:endParaRPr lang="en-US"/>
          </a:p>
        </p:txBody>
      </p:sp>
    </p:spTree>
    <p:extLst>
      <p:ext uri="{BB962C8B-B14F-4D97-AF65-F5344CB8AC3E}">
        <p14:creationId xmlns:p14="http://schemas.microsoft.com/office/powerpoint/2010/main" val="211641489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9AA4C-DBB9-DBDE-BE1E-4A19F0A722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37B6B7-BC46-65B6-0770-40D685051B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3E430D-96F7-3BE1-F5FA-14F20DE74A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CEAD22-86F2-5D3D-3185-F499AFEAAF1B}"/>
              </a:ext>
            </a:extLst>
          </p:cNvPr>
          <p:cNvSpPr>
            <a:spLocks noGrp="1"/>
          </p:cNvSpPr>
          <p:nvPr>
            <p:ph type="dt" sz="half" idx="10"/>
          </p:nvPr>
        </p:nvSpPr>
        <p:spPr/>
        <p:txBody>
          <a:bodyPr/>
          <a:lstStyle/>
          <a:p>
            <a:fld id="{FCBD1B10-8C3F-494D-A9C1-FA6DB33DE239}" type="datetime1">
              <a:rPr lang="en-US" smtClean="0"/>
              <a:t>7/11/2026</a:t>
            </a:fld>
            <a:endParaRPr lang="en-US"/>
          </a:p>
        </p:txBody>
      </p:sp>
      <p:sp>
        <p:nvSpPr>
          <p:cNvPr id="6" name="Footer Placeholder 5">
            <a:extLst>
              <a:ext uri="{FF2B5EF4-FFF2-40B4-BE49-F238E27FC236}">
                <a16:creationId xmlns:a16="http://schemas.microsoft.com/office/drawing/2014/main" id="{B397DBEE-5178-DBD4-5704-F0333F638DB1}"/>
              </a:ext>
            </a:extLst>
          </p:cNvPr>
          <p:cNvSpPr>
            <a:spLocks noGrp="1"/>
          </p:cNvSpPr>
          <p:nvPr>
            <p:ph type="ftr" sz="quarter" idx="11"/>
          </p:nvPr>
        </p:nvSpPr>
        <p:spPr/>
        <p:txBody>
          <a:bodyPr/>
          <a:lstStyle/>
          <a:p>
            <a:r>
              <a:rPr lang="en-US"/>
              <a:t>Zero Trace Imperium</a:t>
            </a:r>
          </a:p>
        </p:txBody>
      </p:sp>
      <p:sp>
        <p:nvSpPr>
          <p:cNvPr id="7" name="Slide Number Placeholder 6">
            <a:extLst>
              <a:ext uri="{FF2B5EF4-FFF2-40B4-BE49-F238E27FC236}">
                <a16:creationId xmlns:a16="http://schemas.microsoft.com/office/drawing/2014/main" id="{A2FA884D-BEFA-D6F1-F6FF-DB503F61B543}"/>
              </a:ext>
            </a:extLst>
          </p:cNvPr>
          <p:cNvSpPr>
            <a:spLocks noGrp="1"/>
          </p:cNvSpPr>
          <p:nvPr>
            <p:ph type="sldNum" sz="quarter" idx="12"/>
          </p:nvPr>
        </p:nvSpPr>
        <p:spPr/>
        <p:txBody>
          <a:bodyPr/>
          <a:lstStyle/>
          <a:p>
            <a:fld id="{08D6B0A0-5113-456A-82B3-EA8CCD6D43D8}" type="slidenum">
              <a:rPr lang="en-US" smtClean="0"/>
              <a:t>‹#›</a:t>
            </a:fld>
            <a:endParaRPr lang="en-US"/>
          </a:p>
        </p:txBody>
      </p:sp>
    </p:spTree>
    <p:extLst>
      <p:ext uri="{BB962C8B-B14F-4D97-AF65-F5344CB8AC3E}">
        <p14:creationId xmlns:p14="http://schemas.microsoft.com/office/powerpoint/2010/main" val="162581693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E8729-B89A-3B2E-4C7D-8E22EBB9B7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D0CC12-01A5-8A37-B95A-C4E7A926B9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5BA5C6-70D2-4CE0-4250-5279F39A15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063E69-588E-71FC-55DE-2D7ED97995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D77211-874C-910B-A1BB-A8CDD509DA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ACA515-015D-4DC8-5DD1-A1115FA8E4AC}"/>
              </a:ext>
            </a:extLst>
          </p:cNvPr>
          <p:cNvSpPr>
            <a:spLocks noGrp="1"/>
          </p:cNvSpPr>
          <p:nvPr>
            <p:ph type="dt" sz="half" idx="10"/>
          </p:nvPr>
        </p:nvSpPr>
        <p:spPr/>
        <p:txBody>
          <a:bodyPr/>
          <a:lstStyle/>
          <a:p>
            <a:fld id="{B1910864-769A-4F9B-9E74-FF7CC89D347B}" type="datetime1">
              <a:rPr lang="en-US" smtClean="0"/>
              <a:t>7/11/2026</a:t>
            </a:fld>
            <a:endParaRPr lang="en-US"/>
          </a:p>
        </p:txBody>
      </p:sp>
      <p:sp>
        <p:nvSpPr>
          <p:cNvPr id="8" name="Footer Placeholder 7">
            <a:extLst>
              <a:ext uri="{FF2B5EF4-FFF2-40B4-BE49-F238E27FC236}">
                <a16:creationId xmlns:a16="http://schemas.microsoft.com/office/drawing/2014/main" id="{9BE590F5-2CDB-0223-033A-CDA0B4943679}"/>
              </a:ext>
            </a:extLst>
          </p:cNvPr>
          <p:cNvSpPr>
            <a:spLocks noGrp="1"/>
          </p:cNvSpPr>
          <p:nvPr>
            <p:ph type="ftr" sz="quarter" idx="11"/>
          </p:nvPr>
        </p:nvSpPr>
        <p:spPr/>
        <p:txBody>
          <a:bodyPr/>
          <a:lstStyle/>
          <a:p>
            <a:r>
              <a:rPr lang="en-US"/>
              <a:t>Zero Trace Imperium</a:t>
            </a:r>
          </a:p>
        </p:txBody>
      </p:sp>
      <p:sp>
        <p:nvSpPr>
          <p:cNvPr id="9" name="Slide Number Placeholder 8">
            <a:extLst>
              <a:ext uri="{FF2B5EF4-FFF2-40B4-BE49-F238E27FC236}">
                <a16:creationId xmlns:a16="http://schemas.microsoft.com/office/drawing/2014/main" id="{23C031C2-D921-CC56-4245-E2D1A41E5EB7}"/>
              </a:ext>
            </a:extLst>
          </p:cNvPr>
          <p:cNvSpPr>
            <a:spLocks noGrp="1"/>
          </p:cNvSpPr>
          <p:nvPr>
            <p:ph type="sldNum" sz="quarter" idx="12"/>
          </p:nvPr>
        </p:nvSpPr>
        <p:spPr/>
        <p:txBody>
          <a:bodyPr/>
          <a:lstStyle/>
          <a:p>
            <a:fld id="{08D6B0A0-5113-456A-82B3-EA8CCD6D43D8}" type="slidenum">
              <a:rPr lang="en-US" smtClean="0"/>
              <a:t>‹#›</a:t>
            </a:fld>
            <a:endParaRPr lang="en-US"/>
          </a:p>
        </p:txBody>
      </p:sp>
    </p:spTree>
    <p:extLst>
      <p:ext uri="{BB962C8B-B14F-4D97-AF65-F5344CB8AC3E}">
        <p14:creationId xmlns:p14="http://schemas.microsoft.com/office/powerpoint/2010/main" val="142158391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84ADD-2894-9D25-B0DE-F709541A4EA5}"/>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1E7563C8-A038-1CD6-D023-750F40E013A8}"/>
              </a:ext>
            </a:extLst>
          </p:cNvPr>
          <p:cNvSpPr>
            <a:spLocks noGrp="1"/>
          </p:cNvSpPr>
          <p:nvPr>
            <p:ph type="dt" sz="half" idx="10"/>
          </p:nvPr>
        </p:nvSpPr>
        <p:spPr/>
        <p:txBody>
          <a:bodyPr/>
          <a:lstStyle/>
          <a:p>
            <a:fld id="{970EDA2F-BBD7-4795-8A17-A035CE8B7297}" type="datetime1">
              <a:rPr lang="en-US" smtClean="0"/>
              <a:t>7/11/2026</a:t>
            </a:fld>
            <a:endParaRPr lang="en-US"/>
          </a:p>
        </p:txBody>
      </p:sp>
      <p:sp>
        <p:nvSpPr>
          <p:cNvPr id="4" name="Footer Placeholder 3">
            <a:extLst>
              <a:ext uri="{FF2B5EF4-FFF2-40B4-BE49-F238E27FC236}">
                <a16:creationId xmlns:a16="http://schemas.microsoft.com/office/drawing/2014/main" id="{3448575B-BBE5-0B3F-7B83-F10B1AE9039B}"/>
              </a:ext>
            </a:extLst>
          </p:cNvPr>
          <p:cNvSpPr>
            <a:spLocks noGrp="1"/>
          </p:cNvSpPr>
          <p:nvPr>
            <p:ph type="ftr" sz="quarter" idx="11"/>
          </p:nvPr>
        </p:nvSpPr>
        <p:spPr/>
        <p:txBody>
          <a:bodyPr/>
          <a:lstStyle/>
          <a:p>
            <a:r>
              <a:rPr lang="en-US"/>
              <a:t>Zero Trace Imperium</a:t>
            </a:r>
          </a:p>
        </p:txBody>
      </p:sp>
      <p:sp>
        <p:nvSpPr>
          <p:cNvPr id="5" name="Slide Number Placeholder 4">
            <a:extLst>
              <a:ext uri="{FF2B5EF4-FFF2-40B4-BE49-F238E27FC236}">
                <a16:creationId xmlns:a16="http://schemas.microsoft.com/office/drawing/2014/main" id="{5D213E7D-E8A6-D516-01B7-0C20B77F39CA}"/>
              </a:ext>
            </a:extLst>
          </p:cNvPr>
          <p:cNvSpPr>
            <a:spLocks noGrp="1"/>
          </p:cNvSpPr>
          <p:nvPr>
            <p:ph type="sldNum" sz="quarter" idx="12"/>
          </p:nvPr>
        </p:nvSpPr>
        <p:spPr/>
        <p:txBody>
          <a:bodyPr/>
          <a:lstStyle/>
          <a:p>
            <a:fld id="{08D6B0A0-5113-456A-82B3-EA8CCD6D43D8}" type="slidenum">
              <a:rPr lang="en-US" smtClean="0"/>
              <a:t>‹#›</a:t>
            </a:fld>
            <a:endParaRPr lang="en-US"/>
          </a:p>
        </p:txBody>
      </p:sp>
    </p:spTree>
    <p:extLst>
      <p:ext uri="{BB962C8B-B14F-4D97-AF65-F5344CB8AC3E}">
        <p14:creationId xmlns:p14="http://schemas.microsoft.com/office/powerpoint/2010/main" val="58894026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872C52-72B8-64A1-5AE2-A3469252528D}"/>
              </a:ext>
            </a:extLst>
          </p:cNvPr>
          <p:cNvSpPr>
            <a:spLocks noGrp="1"/>
          </p:cNvSpPr>
          <p:nvPr>
            <p:ph type="dt" sz="half" idx="10"/>
          </p:nvPr>
        </p:nvSpPr>
        <p:spPr/>
        <p:txBody>
          <a:bodyPr/>
          <a:lstStyle/>
          <a:p>
            <a:fld id="{728C1499-CA40-4032-AE70-65B763F7E101}" type="datetime1">
              <a:rPr lang="en-US" smtClean="0"/>
              <a:t>7/11/2026</a:t>
            </a:fld>
            <a:endParaRPr lang="en-US"/>
          </a:p>
        </p:txBody>
      </p:sp>
      <p:sp>
        <p:nvSpPr>
          <p:cNvPr id="3" name="Footer Placeholder 2">
            <a:extLst>
              <a:ext uri="{FF2B5EF4-FFF2-40B4-BE49-F238E27FC236}">
                <a16:creationId xmlns:a16="http://schemas.microsoft.com/office/drawing/2014/main" id="{A9A5007D-1565-C1F7-FD6D-950678FDCB2B}"/>
              </a:ext>
            </a:extLst>
          </p:cNvPr>
          <p:cNvSpPr>
            <a:spLocks noGrp="1"/>
          </p:cNvSpPr>
          <p:nvPr>
            <p:ph type="ftr" sz="quarter" idx="11"/>
          </p:nvPr>
        </p:nvSpPr>
        <p:spPr/>
        <p:txBody>
          <a:bodyPr/>
          <a:lstStyle/>
          <a:p>
            <a:r>
              <a:rPr lang="en-US"/>
              <a:t>Zero Trace Imperium</a:t>
            </a:r>
          </a:p>
        </p:txBody>
      </p:sp>
      <p:sp>
        <p:nvSpPr>
          <p:cNvPr id="4" name="Slide Number Placeholder 3">
            <a:extLst>
              <a:ext uri="{FF2B5EF4-FFF2-40B4-BE49-F238E27FC236}">
                <a16:creationId xmlns:a16="http://schemas.microsoft.com/office/drawing/2014/main" id="{6D0F7153-A7A3-600A-85CC-38D1CD087004}"/>
              </a:ext>
            </a:extLst>
          </p:cNvPr>
          <p:cNvSpPr>
            <a:spLocks noGrp="1"/>
          </p:cNvSpPr>
          <p:nvPr>
            <p:ph type="sldNum" sz="quarter" idx="12"/>
          </p:nvPr>
        </p:nvSpPr>
        <p:spPr/>
        <p:txBody>
          <a:bodyPr/>
          <a:lstStyle/>
          <a:p>
            <a:fld id="{08D6B0A0-5113-456A-82B3-EA8CCD6D43D8}" type="slidenum">
              <a:rPr lang="en-US" smtClean="0"/>
              <a:t>‹#›</a:t>
            </a:fld>
            <a:endParaRPr lang="en-US"/>
          </a:p>
        </p:txBody>
      </p:sp>
    </p:spTree>
    <p:extLst>
      <p:ext uri="{BB962C8B-B14F-4D97-AF65-F5344CB8AC3E}">
        <p14:creationId xmlns:p14="http://schemas.microsoft.com/office/powerpoint/2010/main" val="59540343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A07DD-5AFE-90C2-6B00-FC927E939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DD778E-949E-2EDB-2DC8-EFC0CCA5F1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ABF906-FBDD-C974-927D-5556E8EB5D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D9F814-9CB2-07D4-4166-72D37E1EE9A5}"/>
              </a:ext>
            </a:extLst>
          </p:cNvPr>
          <p:cNvSpPr>
            <a:spLocks noGrp="1"/>
          </p:cNvSpPr>
          <p:nvPr>
            <p:ph type="dt" sz="half" idx="10"/>
          </p:nvPr>
        </p:nvSpPr>
        <p:spPr/>
        <p:txBody>
          <a:bodyPr/>
          <a:lstStyle/>
          <a:p>
            <a:fld id="{316FEA10-55E9-4394-A062-8C1960079767}" type="datetime1">
              <a:rPr lang="en-US" smtClean="0"/>
              <a:t>7/11/2026</a:t>
            </a:fld>
            <a:endParaRPr lang="en-US"/>
          </a:p>
        </p:txBody>
      </p:sp>
      <p:sp>
        <p:nvSpPr>
          <p:cNvPr id="6" name="Footer Placeholder 5">
            <a:extLst>
              <a:ext uri="{FF2B5EF4-FFF2-40B4-BE49-F238E27FC236}">
                <a16:creationId xmlns:a16="http://schemas.microsoft.com/office/drawing/2014/main" id="{4CB7A484-715C-71BB-EE77-CFD4054F047E}"/>
              </a:ext>
            </a:extLst>
          </p:cNvPr>
          <p:cNvSpPr>
            <a:spLocks noGrp="1"/>
          </p:cNvSpPr>
          <p:nvPr>
            <p:ph type="ftr" sz="quarter" idx="11"/>
          </p:nvPr>
        </p:nvSpPr>
        <p:spPr/>
        <p:txBody>
          <a:bodyPr/>
          <a:lstStyle/>
          <a:p>
            <a:r>
              <a:rPr lang="en-US"/>
              <a:t>Zero Trace Imperium</a:t>
            </a:r>
          </a:p>
        </p:txBody>
      </p:sp>
      <p:sp>
        <p:nvSpPr>
          <p:cNvPr id="7" name="Slide Number Placeholder 6">
            <a:extLst>
              <a:ext uri="{FF2B5EF4-FFF2-40B4-BE49-F238E27FC236}">
                <a16:creationId xmlns:a16="http://schemas.microsoft.com/office/drawing/2014/main" id="{8473C851-7A72-12E0-1F32-F28FBD4DDDC7}"/>
              </a:ext>
            </a:extLst>
          </p:cNvPr>
          <p:cNvSpPr>
            <a:spLocks noGrp="1"/>
          </p:cNvSpPr>
          <p:nvPr>
            <p:ph type="sldNum" sz="quarter" idx="12"/>
          </p:nvPr>
        </p:nvSpPr>
        <p:spPr/>
        <p:txBody>
          <a:bodyPr/>
          <a:lstStyle/>
          <a:p>
            <a:fld id="{08D6B0A0-5113-456A-82B3-EA8CCD6D43D8}" type="slidenum">
              <a:rPr lang="en-US" smtClean="0"/>
              <a:t>‹#›</a:t>
            </a:fld>
            <a:endParaRPr lang="en-US"/>
          </a:p>
        </p:txBody>
      </p:sp>
    </p:spTree>
    <p:extLst>
      <p:ext uri="{BB962C8B-B14F-4D97-AF65-F5344CB8AC3E}">
        <p14:creationId xmlns:p14="http://schemas.microsoft.com/office/powerpoint/2010/main" val="99559978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16CBF-A7CA-15C6-D16F-0E28001DFD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A01BB01-2694-95BC-C412-2FA3D4F142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5B09A5-AACB-1FE1-F42D-E7D9245ACD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E7B4AE-F949-248C-A654-F2C2A0A66E9C}"/>
              </a:ext>
            </a:extLst>
          </p:cNvPr>
          <p:cNvSpPr>
            <a:spLocks noGrp="1"/>
          </p:cNvSpPr>
          <p:nvPr>
            <p:ph type="dt" sz="half" idx="10"/>
          </p:nvPr>
        </p:nvSpPr>
        <p:spPr/>
        <p:txBody>
          <a:bodyPr/>
          <a:lstStyle/>
          <a:p>
            <a:fld id="{9DE72DA2-1461-43BA-9E97-7B71A28CF293}" type="datetime1">
              <a:rPr lang="en-US" smtClean="0"/>
              <a:t>7/11/2026</a:t>
            </a:fld>
            <a:endParaRPr lang="en-US"/>
          </a:p>
        </p:txBody>
      </p:sp>
      <p:sp>
        <p:nvSpPr>
          <p:cNvPr id="6" name="Footer Placeholder 5">
            <a:extLst>
              <a:ext uri="{FF2B5EF4-FFF2-40B4-BE49-F238E27FC236}">
                <a16:creationId xmlns:a16="http://schemas.microsoft.com/office/drawing/2014/main" id="{2B402761-00F3-C2A9-B300-DC60379DE67B}"/>
              </a:ext>
            </a:extLst>
          </p:cNvPr>
          <p:cNvSpPr>
            <a:spLocks noGrp="1"/>
          </p:cNvSpPr>
          <p:nvPr>
            <p:ph type="ftr" sz="quarter" idx="11"/>
          </p:nvPr>
        </p:nvSpPr>
        <p:spPr/>
        <p:txBody>
          <a:bodyPr/>
          <a:lstStyle/>
          <a:p>
            <a:r>
              <a:rPr lang="en-US"/>
              <a:t>Zero Trace Imperium</a:t>
            </a:r>
          </a:p>
        </p:txBody>
      </p:sp>
      <p:sp>
        <p:nvSpPr>
          <p:cNvPr id="7" name="Slide Number Placeholder 6">
            <a:extLst>
              <a:ext uri="{FF2B5EF4-FFF2-40B4-BE49-F238E27FC236}">
                <a16:creationId xmlns:a16="http://schemas.microsoft.com/office/drawing/2014/main" id="{28BF8693-9F06-4F4B-D6E6-7429494ED6F6}"/>
              </a:ext>
            </a:extLst>
          </p:cNvPr>
          <p:cNvSpPr>
            <a:spLocks noGrp="1"/>
          </p:cNvSpPr>
          <p:nvPr>
            <p:ph type="sldNum" sz="quarter" idx="12"/>
          </p:nvPr>
        </p:nvSpPr>
        <p:spPr/>
        <p:txBody>
          <a:bodyPr/>
          <a:lstStyle/>
          <a:p>
            <a:fld id="{08D6B0A0-5113-456A-82B3-EA8CCD6D43D8}" type="slidenum">
              <a:rPr lang="en-US" smtClean="0"/>
              <a:t>‹#›</a:t>
            </a:fld>
            <a:endParaRPr lang="en-US"/>
          </a:p>
        </p:txBody>
      </p:sp>
    </p:spTree>
    <p:extLst>
      <p:ext uri="{BB962C8B-B14F-4D97-AF65-F5344CB8AC3E}">
        <p14:creationId xmlns:p14="http://schemas.microsoft.com/office/powerpoint/2010/main" val="36864803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54A3C-610D-C005-DD42-0C635AEA37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1F4A89-24CE-452D-3CA3-6A2427F68E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B2DE9-DDA7-B9A5-529A-6D733D9D836F}"/>
              </a:ext>
            </a:extLst>
          </p:cNvPr>
          <p:cNvSpPr>
            <a:spLocks noGrp="1"/>
          </p:cNvSpPr>
          <p:nvPr>
            <p:ph type="dt" sz="half" idx="10"/>
          </p:nvPr>
        </p:nvSpPr>
        <p:spPr/>
        <p:txBody>
          <a:bodyPr/>
          <a:lstStyle/>
          <a:p>
            <a:fld id="{E7D402A5-A710-42F7-B625-C6464BDCE43C}" type="datetime1">
              <a:rPr lang="en-US" smtClean="0"/>
              <a:t>7/11/2026</a:t>
            </a:fld>
            <a:endParaRPr lang="en-US"/>
          </a:p>
        </p:txBody>
      </p:sp>
      <p:sp>
        <p:nvSpPr>
          <p:cNvPr id="5" name="Footer Placeholder 4">
            <a:extLst>
              <a:ext uri="{FF2B5EF4-FFF2-40B4-BE49-F238E27FC236}">
                <a16:creationId xmlns:a16="http://schemas.microsoft.com/office/drawing/2014/main" id="{8FBBC522-A1C6-9B33-124A-712081FC140C}"/>
              </a:ext>
            </a:extLst>
          </p:cNvPr>
          <p:cNvSpPr>
            <a:spLocks noGrp="1"/>
          </p:cNvSpPr>
          <p:nvPr>
            <p:ph type="ftr" sz="quarter" idx="11"/>
          </p:nvPr>
        </p:nvSpPr>
        <p:spPr/>
        <p:txBody>
          <a:bodyPr/>
          <a:lstStyle/>
          <a:p>
            <a:r>
              <a:rPr lang="en-US"/>
              <a:t>Zero Trace Imperium</a:t>
            </a:r>
          </a:p>
        </p:txBody>
      </p:sp>
      <p:sp>
        <p:nvSpPr>
          <p:cNvPr id="6" name="Slide Number Placeholder 5">
            <a:extLst>
              <a:ext uri="{FF2B5EF4-FFF2-40B4-BE49-F238E27FC236}">
                <a16:creationId xmlns:a16="http://schemas.microsoft.com/office/drawing/2014/main" id="{8742ED86-C00B-5367-B232-D6F84AB0E1F5}"/>
              </a:ext>
            </a:extLst>
          </p:cNvPr>
          <p:cNvSpPr>
            <a:spLocks noGrp="1"/>
          </p:cNvSpPr>
          <p:nvPr>
            <p:ph type="sldNum" sz="quarter" idx="12"/>
          </p:nvPr>
        </p:nvSpPr>
        <p:spPr/>
        <p:txBody>
          <a:bodyPr/>
          <a:lstStyle/>
          <a:p>
            <a:fld id="{08D6B0A0-5113-456A-82B3-EA8CCD6D43D8}" type="slidenum">
              <a:rPr lang="en-US" smtClean="0"/>
              <a:t>‹#›</a:t>
            </a:fld>
            <a:endParaRPr lang="en-US"/>
          </a:p>
        </p:txBody>
      </p:sp>
    </p:spTree>
    <p:extLst>
      <p:ext uri="{BB962C8B-B14F-4D97-AF65-F5344CB8AC3E}">
        <p14:creationId xmlns:p14="http://schemas.microsoft.com/office/powerpoint/2010/main" val="345058825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4835F4-166E-9040-4CB8-3E91785D0A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2D0B29-275E-B9DF-E44C-B5E7BD7D07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84E066-8AE6-B839-7CA9-93A5CD8B5F26}"/>
              </a:ext>
            </a:extLst>
          </p:cNvPr>
          <p:cNvSpPr>
            <a:spLocks noGrp="1"/>
          </p:cNvSpPr>
          <p:nvPr>
            <p:ph type="dt" sz="half" idx="10"/>
          </p:nvPr>
        </p:nvSpPr>
        <p:spPr/>
        <p:txBody>
          <a:bodyPr/>
          <a:lstStyle/>
          <a:p>
            <a:fld id="{9D716129-1258-4B7A-8010-E0CE1CB1F9F6}" type="datetime1">
              <a:rPr lang="en-US" smtClean="0"/>
              <a:t>7/11/2026</a:t>
            </a:fld>
            <a:endParaRPr lang="en-US"/>
          </a:p>
        </p:txBody>
      </p:sp>
      <p:sp>
        <p:nvSpPr>
          <p:cNvPr id="5" name="Footer Placeholder 4">
            <a:extLst>
              <a:ext uri="{FF2B5EF4-FFF2-40B4-BE49-F238E27FC236}">
                <a16:creationId xmlns:a16="http://schemas.microsoft.com/office/drawing/2014/main" id="{9E547F3B-AA05-ABE4-650C-00A7F2680D31}"/>
              </a:ext>
            </a:extLst>
          </p:cNvPr>
          <p:cNvSpPr>
            <a:spLocks noGrp="1"/>
          </p:cNvSpPr>
          <p:nvPr>
            <p:ph type="ftr" sz="quarter" idx="11"/>
          </p:nvPr>
        </p:nvSpPr>
        <p:spPr/>
        <p:txBody>
          <a:bodyPr/>
          <a:lstStyle/>
          <a:p>
            <a:r>
              <a:rPr lang="en-US"/>
              <a:t>Zero Trace Imperium</a:t>
            </a:r>
          </a:p>
        </p:txBody>
      </p:sp>
      <p:sp>
        <p:nvSpPr>
          <p:cNvPr id="6" name="Slide Number Placeholder 5">
            <a:extLst>
              <a:ext uri="{FF2B5EF4-FFF2-40B4-BE49-F238E27FC236}">
                <a16:creationId xmlns:a16="http://schemas.microsoft.com/office/drawing/2014/main" id="{C26540C5-912E-2C5C-B3A1-6D501160E9BE}"/>
              </a:ext>
            </a:extLst>
          </p:cNvPr>
          <p:cNvSpPr>
            <a:spLocks noGrp="1"/>
          </p:cNvSpPr>
          <p:nvPr>
            <p:ph type="sldNum" sz="quarter" idx="12"/>
          </p:nvPr>
        </p:nvSpPr>
        <p:spPr/>
        <p:txBody>
          <a:bodyPr/>
          <a:lstStyle/>
          <a:p>
            <a:fld id="{08D6B0A0-5113-456A-82B3-EA8CCD6D43D8}" type="slidenum">
              <a:rPr lang="en-US" smtClean="0"/>
              <a:t>‹#›</a:t>
            </a:fld>
            <a:endParaRPr lang="en-US"/>
          </a:p>
        </p:txBody>
      </p:sp>
    </p:spTree>
    <p:extLst>
      <p:ext uri="{BB962C8B-B14F-4D97-AF65-F5344CB8AC3E}">
        <p14:creationId xmlns:p14="http://schemas.microsoft.com/office/powerpoint/2010/main" val="370398924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lide master 1">
    <p:bg>
      <p:bgPr>
        <a:solidFill>
          <a:srgbClr val="08111F"/>
        </a:solid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38364EDF-B293-4A02-088D-D5A86912F5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10" name="Text Placeholder 2">
            <a:extLst>
              <a:ext uri="{FF2B5EF4-FFF2-40B4-BE49-F238E27FC236}">
                <a16:creationId xmlns:a16="http://schemas.microsoft.com/office/drawing/2014/main" id="{0CADD5B1-3E18-8382-4309-EA5D1DA6E54F}"/>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a:extLst>
              <a:ext uri="{FF2B5EF4-FFF2-40B4-BE49-F238E27FC236}">
                <a16:creationId xmlns:a16="http://schemas.microsoft.com/office/drawing/2014/main" id="{8605D23A-E62B-189B-B554-B1A4900723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7D6B08-0B9A-4039-B3B2-5FF838C8D2E7}" type="datetime1">
              <a:rPr lang="en-US" smtClean="0"/>
              <a:t>7/11/2026</a:t>
            </a:fld>
            <a:endParaRPr lang="en-US" dirty="0"/>
          </a:p>
        </p:txBody>
      </p:sp>
      <p:sp>
        <p:nvSpPr>
          <p:cNvPr id="12" name="Footer Placeholder 4">
            <a:extLst>
              <a:ext uri="{FF2B5EF4-FFF2-40B4-BE49-F238E27FC236}">
                <a16:creationId xmlns:a16="http://schemas.microsoft.com/office/drawing/2014/main" id="{39B7CE59-BEB7-5542-8CF6-2542CDAD53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Zero Trace Imperium</a:t>
            </a:r>
          </a:p>
        </p:txBody>
      </p:sp>
      <p:sp>
        <p:nvSpPr>
          <p:cNvPr id="13" name="Slide Number Placeholder 5">
            <a:extLst>
              <a:ext uri="{FF2B5EF4-FFF2-40B4-BE49-F238E27FC236}">
                <a16:creationId xmlns:a16="http://schemas.microsoft.com/office/drawing/2014/main" id="{EA55EF59-2EE2-93EA-14F0-6E1F5E5CE1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D6B0A0-5113-456A-82B3-EA8CCD6D43D8}" type="slidenum">
              <a:rPr lang="en-US" smtClean="0"/>
              <a:t>‹#›</a:t>
            </a:fld>
            <a:endParaRPr lang="en-US" dirty="0"/>
          </a:p>
        </p:txBody>
      </p:sp>
    </p:spTree>
    <p:extLst>
      <p:ext uri="{BB962C8B-B14F-4D97-AF65-F5344CB8AC3E}">
        <p14:creationId xmlns:p14="http://schemas.microsoft.com/office/powerpoint/2010/main" val="287859062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master 2">
    <p:bg>
      <p:bgPr>
        <a:solidFill>
          <a:srgbClr val="0811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A0A0A">
              <a:alpha val="95000"/>
            </a:srgbClr>
          </a:solidFill>
          <a:ln/>
        </p:spPr>
      </p:sp>
    </p:spTree>
    <p:extLst>
      <p:ext uri="{BB962C8B-B14F-4D97-AF65-F5344CB8AC3E}">
        <p14:creationId xmlns:p14="http://schemas.microsoft.com/office/powerpoint/2010/main" val="417281978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A0A0A">
              <a:alpha val="95000"/>
            </a:srgbClr>
          </a:solidFill>
          <a:ln/>
        </p:spPr>
        <p:txBody>
          <a:bodyPr/>
          <a:lstStyle/>
          <a:p>
            <a:endParaRPr lang="en-US" sz="2400"/>
          </a:p>
        </p:txBody>
      </p:sp>
    </p:spTree>
    <p:extLst>
      <p:ext uri="{BB962C8B-B14F-4D97-AF65-F5344CB8AC3E}">
        <p14:creationId xmlns:p14="http://schemas.microsoft.com/office/powerpoint/2010/main" val="324949944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111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E148FE-E480-640F-FCD7-F9E69A69A4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4F98E8-9A43-174C-D4B2-4795432016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A0729D7-2526-25CD-F25C-0E8DE94CCE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AC3B35-3C3B-4C95-8ECA-1C548CEF179E}" type="datetime1">
              <a:rPr lang="en-US" smtClean="0"/>
              <a:t>7/11/2026</a:t>
            </a:fld>
            <a:endParaRPr lang="en-US" dirty="0"/>
          </a:p>
        </p:txBody>
      </p:sp>
      <p:sp>
        <p:nvSpPr>
          <p:cNvPr id="5" name="Footer Placeholder 4">
            <a:extLst>
              <a:ext uri="{FF2B5EF4-FFF2-40B4-BE49-F238E27FC236}">
                <a16:creationId xmlns:a16="http://schemas.microsoft.com/office/drawing/2014/main" id="{12667E61-1E3D-A926-54BC-1D4FAAEB3F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Zero Trace Imperium</a:t>
            </a:r>
          </a:p>
        </p:txBody>
      </p:sp>
      <p:sp>
        <p:nvSpPr>
          <p:cNvPr id="6" name="Slide Number Placeholder 5">
            <a:extLst>
              <a:ext uri="{FF2B5EF4-FFF2-40B4-BE49-F238E27FC236}">
                <a16:creationId xmlns:a16="http://schemas.microsoft.com/office/drawing/2014/main" id="{414CF6C9-ACB2-895F-5DD7-20DE77C4F9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D6B0A0-5113-456A-82B3-EA8CCD6D43D8}" type="slidenum">
              <a:rPr lang="en-US" smtClean="0"/>
              <a:t>‹#›</a:t>
            </a:fld>
            <a:endParaRPr lang="en-US" dirty="0"/>
          </a:p>
        </p:txBody>
      </p:sp>
      <p:pic>
        <p:nvPicPr>
          <p:cNvPr id="8" name="Picture 7">
            <a:extLst>
              <a:ext uri="{FF2B5EF4-FFF2-40B4-BE49-F238E27FC236}">
                <a16:creationId xmlns:a16="http://schemas.microsoft.com/office/drawing/2014/main" id="{0A13C581-5D1B-73B9-6123-3889B42C761F}"/>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 y="-1"/>
            <a:ext cx="701965" cy="701965"/>
          </a:xfrm>
          <a:prstGeom prst="rect">
            <a:avLst/>
          </a:prstGeom>
        </p:spPr>
      </p:pic>
    </p:spTree>
    <p:extLst>
      <p:ext uri="{BB962C8B-B14F-4D97-AF65-F5344CB8AC3E}">
        <p14:creationId xmlns:p14="http://schemas.microsoft.com/office/powerpoint/2010/main" val="2890201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2.svg"/></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4.svg"/></Relationships>
</file>

<file path=ppt/slides/_rels/slide1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27.svg"/><Relationship Id="rId4" Type="http://schemas.openxmlformats.org/officeDocument/2006/relationships/image" Target="../media/image26.svg"/></Relationships>
</file>

<file path=ppt/slides/_rels/slide1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9.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32.svg"/><Relationship Id="rId4" Type="http://schemas.openxmlformats.org/officeDocument/2006/relationships/image" Target="../media/image31.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s/_rels/slide25.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40.jpeg"/></Relationships>
</file>

<file path=ppt/slides/_rels/slide2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44.jpeg"/></Relationships>
</file>

<file path=ppt/slides/_rels/slide2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47.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50.jpeg"/></Relationships>
</file>

<file path=ppt/slides/_rels/slide33.xml.rels><?xml version="1.0" encoding="UTF-8" standalone="yes"?>
<Relationships xmlns="http://schemas.openxmlformats.org/package/2006/relationships"><Relationship Id="rId3" Type="http://schemas.openxmlformats.org/officeDocument/2006/relationships/image" Target="../media/image51.svg"/><Relationship Id="rId7"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4.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52.svg"/></Relationships>
</file>

<file path=ppt/slides/_rels/slide3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59.svg"/><Relationship Id="rId5" Type="http://schemas.openxmlformats.org/officeDocument/2006/relationships/image" Target="../media/image58.svg"/><Relationship Id="rId4" Type="http://schemas.openxmlformats.org/officeDocument/2006/relationships/image" Target="../media/image57.svg"/></Relationships>
</file>

<file path=ppt/slides/_rels/slide37.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37.xml"/><Relationship Id="rId1" Type="http://schemas.openxmlformats.org/officeDocument/2006/relationships/slideLayout" Target="../slideLayouts/slideLayout12.xml"/><Relationship Id="rId5" Type="http://schemas.openxmlformats.org/officeDocument/2006/relationships/image" Target="../media/image63.jpeg"/><Relationship Id="rId4" Type="http://schemas.openxmlformats.org/officeDocument/2006/relationships/image" Target="../media/image62.svg"/></Relationships>
</file>

<file path=ppt/slides/_rels/slide38.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70.png"/><Relationship Id="rId4" Type="http://schemas.openxmlformats.org/officeDocument/2006/relationships/image" Target="../media/image6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71.svg"/><Relationship Id="rId7" Type="http://schemas.openxmlformats.org/officeDocument/2006/relationships/image" Target="../media/image75.sv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74.svg"/><Relationship Id="rId5" Type="http://schemas.openxmlformats.org/officeDocument/2006/relationships/image" Target="../media/image73.svg"/><Relationship Id="rId4" Type="http://schemas.openxmlformats.org/officeDocument/2006/relationships/image" Target="../media/image72.svg"/></Relationships>
</file>

<file path=ppt/slides/_rels/slide4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039F22A-7FAE-4A16-87AB-F2ECC276C31A}"/>
              </a:ext>
            </a:extLst>
          </p:cNvPr>
          <p:cNvGrpSpPr/>
          <p:nvPr/>
        </p:nvGrpSpPr>
        <p:grpSpPr>
          <a:xfrm>
            <a:off x="1197411" y="124791"/>
            <a:ext cx="2175517" cy="336218"/>
            <a:chOff x="720031" y="599413"/>
            <a:chExt cx="3047297" cy="312639"/>
          </a:xfrm>
        </p:grpSpPr>
        <p:sp>
          <p:nvSpPr>
            <p:cNvPr id="2" name="Shape 0"/>
            <p:cNvSpPr/>
            <p:nvPr/>
          </p:nvSpPr>
          <p:spPr>
            <a:xfrm>
              <a:off x="720031" y="599413"/>
              <a:ext cx="3047297" cy="312639"/>
            </a:xfrm>
            <a:prstGeom prst="roundRect">
              <a:avLst>
                <a:gd name="adj" fmla="val 22111"/>
              </a:avLst>
            </a:prstGeom>
            <a:solidFill>
              <a:srgbClr val="480405"/>
            </a:solidFill>
            <a:ln/>
          </p:spPr>
          <p:txBody>
            <a:bodyPr/>
            <a:lstStyle/>
            <a:p>
              <a:endParaRPr lang="en-US" sz="2400">
                <a:latin typeface="+mj-lt"/>
              </a:endParaRPr>
            </a:p>
          </p:txBody>
        </p:sp>
        <p:sp>
          <p:nvSpPr>
            <p:cNvPr id="3" name="Text 1"/>
            <p:cNvSpPr/>
            <p:nvPr/>
          </p:nvSpPr>
          <p:spPr>
            <a:xfrm>
              <a:off x="863663" y="662707"/>
              <a:ext cx="1673219" cy="186049"/>
            </a:xfrm>
            <a:prstGeom prst="rect">
              <a:avLst/>
            </a:prstGeom>
            <a:noFill/>
            <a:ln/>
          </p:spPr>
          <p:txBody>
            <a:bodyPr wrap="none" lIns="0" tIns="0" rIns="0" bIns="0" rtlCol="0" anchor="t"/>
            <a:lstStyle/>
            <a:p>
              <a:pPr>
                <a:lnSpc>
                  <a:spcPct val="96000"/>
                </a:lnSpc>
              </a:pPr>
              <a:r>
                <a:rPr lang="en-US" sz="1267" dirty="0">
                  <a:solidFill>
                    <a:srgbClr val="E5E0DF"/>
                  </a:solidFill>
                  <a:latin typeface="+mj-lt"/>
                  <a:ea typeface="Barlow" pitchFamily="34" charset="-122"/>
                  <a:cs typeface="Barlow" pitchFamily="34" charset="-120"/>
                </a:rPr>
                <a:t>GRADUATION PROJECT</a:t>
              </a:r>
              <a:endParaRPr lang="en-US" sz="1267" dirty="0">
                <a:latin typeface="+mj-lt"/>
              </a:endParaRPr>
            </a:p>
          </p:txBody>
        </p:sp>
      </p:grpSp>
      <p:sp>
        <p:nvSpPr>
          <p:cNvPr id="4" name="Text 2"/>
          <p:cNvSpPr/>
          <p:nvPr/>
        </p:nvSpPr>
        <p:spPr>
          <a:xfrm>
            <a:off x="1089453" y="557188"/>
            <a:ext cx="5745299" cy="576713"/>
          </a:xfrm>
          <a:prstGeom prst="rect">
            <a:avLst/>
          </a:prstGeom>
          <a:noFill/>
          <a:ln/>
        </p:spPr>
        <p:txBody>
          <a:bodyPr wrap="none" lIns="0" tIns="0" rIns="0" bIns="0" rtlCol="0" anchor="t"/>
          <a:lstStyle/>
          <a:p>
            <a:pPr>
              <a:lnSpc>
                <a:spcPct val="104000"/>
              </a:lnSpc>
            </a:pPr>
            <a:r>
              <a:rPr lang="en-US" sz="4000" dirty="0">
                <a:solidFill>
                  <a:srgbClr val="FFFFFF"/>
                </a:solidFill>
                <a:latin typeface="+mj-lt"/>
                <a:ea typeface="Barlow Medium" pitchFamily="34" charset="-122"/>
                <a:cs typeface="Barlow Medium" pitchFamily="34" charset="-120"/>
              </a:rPr>
              <a:t>Zero Trace Imperium</a:t>
            </a:r>
            <a:endParaRPr lang="en-US" sz="4000" dirty="0">
              <a:latin typeface="+mj-lt"/>
            </a:endParaRPr>
          </a:p>
        </p:txBody>
      </p:sp>
      <p:sp>
        <p:nvSpPr>
          <p:cNvPr id="5" name="Text 3"/>
          <p:cNvSpPr/>
          <p:nvPr/>
        </p:nvSpPr>
        <p:spPr>
          <a:xfrm>
            <a:off x="1306544" y="5669158"/>
            <a:ext cx="9768659" cy="489173"/>
          </a:xfrm>
          <a:prstGeom prst="rect">
            <a:avLst/>
          </a:prstGeom>
          <a:noFill/>
          <a:ln/>
        </p:spPr>
        <p:txBody>
          <a:bodyPr wrap="square" lIns="0" tIns="0" rIns="0" bIns="0" rtlCol="0" anchor="t">
            <a:normAutofit/>
          </a:bodyPr>
          <a:lstStyle/>
          <a:p>
            <a:pPr>
              <a:lnSpc>
                <a:spcPct val="104000"/>
              </a:lnSpc>
            </a:pPr>
            <a:endParaRPr lang="en-US" sz="3200" dirty="0">
              <a:latin typeface="+mj-lt"/>
            </a:endParaRPr>
          </a:p>
        </p:txBody>
      </p:sp>
      <p:sp>
        <p:nvSpPr>
          <p:cNvPr id="6" name="Shape 4"/>
          <p:cNvSpPr/>
          <p:nvPr/>
        </p:nvSpPr>
        <p:spPr>
          <a:xfrm>
            <a:off x="747428" y="6254510"/>
            <a:ext cx="10751939" cy="25400"/>
          </a:xfrm>
          <a:prstGeom prst="roundRect">
            <a:avLst>
              <a:gd name="adj" fmla="val 60000"/>
            </a:avLst>
          </a:prstGeom>
          <a:solidFill>
            <a:srgbClr val="E5E0DF">
              <a:alpha val="50000"/>
            </a:srgbClr>
          </a:solidFill>
          <a:ln/>
        </p:spPr>
        <p:txBody>
          <a:bodyPr/>
          <a:lstStyle/>
          <a:p>
            <a:endParaRPr lang="en-US" sz="2400">
              <a:latin typeface="+mj-lt"/>
            </a:endParaRPr>
          </a:p>
        </p:txBody>
      </p:sp>
      <p:sp>
        <p:nvSpPr>
          <p:cNvPr id="7" name="Text 5"/>
          <p:cNvSpPr/>
          <p:nvPr/>
        </p:nvSpPr>
        <p:spPr>
          <a:xfrm>
            <a:off x="1219114" y="6357224"/>
            <a:ext cx="9857206" cy="376859"/>
          </a:xfrm>
          <a:prstGeom prst="rect">
            <a:avLst/>
          </a:prstGeom>
          <a:noFill/>
          <a:ln/>
        </p:spPr>
        <p:txBody>
          <a:bodyPr wrap="square" lIns="0" tIns="0" rIns="0" bIns="0" rtlCol="0" anchor="t"/>
          <a:lstStyle/>
          <a:p>
            <a:pPr>
              <a:lnSpc>
                <a:spcPct val="133000"/>
              </a:lnSpc>
            </a:pPr>
            <a:r>
              <a:rPr lang="en-US" sz="1600" dirty="0">
                <a:solidFill>
                  <a:srgbClr val="D6D6D6"/>
                </a:solidFill>
                <a:ea typeface="Barlow" pitchFamily="34" charset="-122"/>
                <a:cs typeface="Barlow" pitchFamily="34" charset="-120"/>
              </a:rPr>
              <a:t>Yusuf Hussein · Ahmed Samy · Abdulrahman Husayn · Hossam Hassan · Seif Elddien Sherif </a:t>
            </a:r>
            <a:r>
              <a:rPr lang="en-US" sz="1600">
                <a:solidFill>
                  <a:srgbClr val="D6D6D6"/>
                </a:solidFill>
                <a:ea typeface="Barlow" pitchFamily="34" charset="-122"/>
                <a:cs typeface="Barlow" pitchFamily="34" charset="-120"/>
              </a:rPr>
              <a:t>· Mohamed </a:t>
            </a:r>
            <a:r>
              <a:rPr lang="en-US" sz="1600" dirty="0">
                <a:solidFill>
                  <a:srgbClr val="D6D6D6"/>
                </a:solidFill>
                <a:ea typeface="Barlow" pitchFamily="34" charset="-122"/>
                <a:cs typeface="Barlow" pitchFamily="34" charset="-120"/>
              </a:rPr>
              <a:t>Ayman</a:t>
            </a:r>
            <a:endParaRPr lang="en-US" sz="1600" dirty="0">
              <a:solidFill>
                <a:srgbClr val="D6D6D6"/>
              </a:solidFill>
            </a:endParaRPr>
          </a:p>
        </p:txBody>
      </p:sp>
      <p:pic>
        <p:nvPicPr>
          <p:cNvPr id="12" name="Picture 11">
            <a:extLst>
              <a:ext uri="{FF2B5EF4-FFF2-40B4-BE49-F238E27FC236}">
                <a16:creationId xmlns:a16="http://schemas.microsoft.com/office/drawing/2014/main" id="{C992D57D-68B2-3446-508C-65F923E3E1C8}"/>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219074" y="1197197"/>
            <a:ext cx="11753851" cy="4111403"/>
          </a:xfrm>
          <a:prstGeom prst="rect">
            <a:avLst/>
          </a:prstGeom>
        </p:spPr>
      </p:pic>
      <p:sp>
        <p:nvSpPr>
          <p:cNvPr id="15" name="Text 3">
            <a:extLst>
              <a:ext uri="{FF2B5EF4-FFF2-40B4-BE49-F238E27FC236}">
                <a16:creationId xmlns:a16="http://schemas.microsoft.com/office/drawing/2014/main" id="{532044D2-9EAF-B43C-A7D5-2742F009D855}"/>
              </a:ext>
            </a:extLst>
          </p:cNvPr>
          <p:cNvSpPr/>
          <p:nvPr/>
        </p:nvSpPr>
        <p:spPr>
          <a:xfrm>
            <a:off x="1449149" y="5385914"/>
            <a:ext cx="9768659" cy="489173"/>
          </a:xfrm>
          <a:prstGeom prst="rect">
            <a:avLst/>
          </a:prstGeom>
          <a:noFill/>
          <a:ln/>
        </p:spPr>
        <p:txBody>
          <a:bodyPr wrap="square" lIns="0" tIns="0" rIns="0" bIns="0" rtlCol="0" anchor="t">
            <a:normAutofit fontScale="85000" lnSpcReduction="10000"/>
          </a:bodyPr>
          <a:lstStyle/>
          <a:p>
            <a:pPr>
              <a:lnSpc>
                <a:spcPct val="104000"/>
              </a:lnSpc>
            </a:pPr>
            <a:r>
              <a:rPr lang="en-US" sz="3200" dirty="0">
                <a:solidFill>
                  <a:srgbClr val="FFFFFF"/>
                </a:solidFill>
                <a:latin typeface="+mj-lt"/>
                <a:ea typeface="Barlow Medium" pitchFamily="34" charset="-122"/>
                <a:cs typeface="Barlow Medium" pitchFamily="34" charset="-120"/>
              </a:rPr>
              <a:t>Enterprise Attack &amp; Defense Cybersecurity Laboratory</a:t>
            </a:r>
            <a:endParaRPr lang="en-US" sz="3200" dirty="0">
              <a:latin typeface="+mj-lt"/>
            </a:endParaRPr>
          </a:p>
        </p:txBody>
      </p:sp>
      <p:sp>
        <p:nvSpPr>
          <p:cNvPr id="17" name="Text 3">
            <a:extLst>
              <a:ext uri="{FF2B5EF4-FFF2-40B4-BE49-F238E27FC236}">
                <a16:creationId xmlns:a16="http://schemas.microsoft.com/office/drawing/2014/main" id="{9D714E9A-7372-39F0-AF48-F0EF843CC8E5}"/>
              </a:ext>
            </a:extLst>
          </p:cNvPr>
          <p:cNvSpPr/>
          <p:nvPr/>
        </p:nvSpPr>
        <p:spPr>
          <a:xfrm>
            <a:off x="2236827" y="5875087"/>
            <a:ext cx="7793863" cy="309759"/>
          </a:xfrm>
          <a:prstGeom prst="rect">
            <a:avLst/>
          </a:prstGeom>
          <a:noFill/>
          <a:ln/>
        </p:spPr>
        <p:txBody>
          <a:bodyPr wrap="square" lIns="0" tIns="0" rIns="0" bIns="0" rtlCol="0" anchor="t">
            <a:normAutofit fontScale="77500" lnSpcReduction="20000"/>
          </a:bodyPr>
          <a:lstStyle/>
          <a:p>
            <a:pPr>
              <a:lnSpc>
                <a:spcPct val="104000"/>
              </a:lnSpc>
            </a:pPr>
            <a:r>
              <a:rPr lang="en-US" sz="2000" dirty="0">
                <a:solidFill>
                  <a:schemeClr val="bg1"/>
                </a:solidFill>
                <a:latin typeface="+mj-lt"/>
              </a:rPr>
              <a:t>An Enterprise</a:t>
            </a:r>
            <a:r>
              <a:rPr lang="ar-EG" sz="2000" dirty="0">
                <a:solidFill>
                  <a:schemeClr val="bg1"/>
                </a:solidFill>
                <a:latin typeface="+mj-lt"/>
              </a:rPr>
              <a:t> </a:t>
            </a:r>
            <a:r>
              <a:rPr lang="en-US" sz="2000" dirty="0">
                <a:solidFill>
                  <a:schemeClr val="bg1"/>
                </a:solidFill>
                <a:latin typeface="+mj-lt"/>
              </a:rPr>
              <a:t>Inspired Red Team &amp; Blue Team Security Assessment Lab</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15988" y="351233"/>
            <a:ext cx="1089687" cy="288131"/>
          </a:xfrm>
          <a:prstGeom prst="roundRect">
            <a:avLst>
              <a:gd name="adj" fmla="val 22118"/>
            </a:avLst>
          </a:prstGeom>
          <a:noFill/>
          <a:ln w="4763">
            <a:solidFill>
              <a:srgbClr val="F65F62"/>
            </a:solidFill>
            <a:prstDash val="solid"/>
          </a:ln>
        </p:spPr>
        <p:txBody>
          <a:bodyPr/>
          <a:lstStyle/>
          <a:p>
            <a:endParaRPr lang="en-US" sz="2400" noProof="1">
              <a:latin typeface="+mj-lt"/>
            </a:endParaRPr>
          </a:p>
        </p:txBody>
      </p:sp>
      <p:sp>
        <p:nvSpPr>
          <p:cNvPr id="3" name="Text 1"/>
          <p:cNvSpPr/>
          <p:nvPr/>
        </p:nvSpPr>
        <p:spPr>
          <a:xfrm>
            <a:off x="1012073" y="408086"/>
            <a:ext cx="1328737" cy="174427"/>
          </a:xfrm>
          <a:prstGeom prst="rect">
            <a:avLst/>
          </a:prstGeom>
          <a:noFill/>
          <a:ln/>
        </p:spPr>
        <p:txBody>
          <a:bodyPr wrap="none" lIns="0" tIns="0" rIns="0" bIns="0" rtlCol="0" anchor="t"/>
          <a:lstStyle/>
          <a:p>
            <a:pPr>
              <a:lnSpc>
                <a:spcPct val="96000"/>
              </a:lnSpc>
            </a:pPr>
            <a:r>
              <a:rPr lang="en-US" sz="1200" noProof="1">
                <a:solidFill>
                  <a:srgbClr val="F65F62"/>
                </a:solidFill>
                <a:latin typeface="+mj-lt"/>
                <a:ea typeface="Barlow" pitchFamily="34" charset="-122"/>
                <a:cs typeface="Barlow" pitchFamily="34" charset="-120"/>
              </a:rPr>
              <a:t>OVERVIEW</a:t>
            </a:r>
            <a:endParaRPr lang="en-US" sz="1200" noProof="1">
              <a:latin typeface="+mj-lt"/>
            </a:endParaRPr>
          </a:p>
        </p:txBody>
      </p:sp>
      <p:sp>
        <p:nvSpPr>
          <p:cNvPr id="4" name="Text 2"/>
          <p:cNvSpPr/>
          <p:nvPr/>
        </p:nvSpPr>
        <p:spPr>
          <a:xfrm>
            <a:off x="720032" y="940494"/>
            <a:ext cx="4145266" cy="545109"/>
          </a:xfrm>
          <a:prstGeom prst="rect">
            <a:avLst/>
          </a:prstGeom>
          <a:noFill/>
          <a:ln/>
        </p:spPr>
        <p:txBody>
          <a:bodyPr wrap="none" lIns="0" tIns="0" rIns="0" bIns="0" rtlCol="0" anchor="t"/>
          <a:lstStyle/>
          <a:p>
            <a:pPr>
              <a:lnSpc>
                <a:spcPct val="104000"/>
              </a:lnSpc>
            </a:pPr>
            <a:r>
              <a:rPr lang="en-US" sz="3267" noProof="1">
                <a:solidFill>
                  <a:srgbClr val="FFFFFF"/>
                </a:solidFill>
                <a:latin typeface="+mj-lt"/>
                <a:ea typeface="Barlow Medium" pitchFamily="34" charset="-122"/>
                <a:cs typeface="Barlow Medium" pitchFamily="34" charset="-120"/>
              </a:rPr>
              <a:t>Project at a Glance</a:t>
            </a:r>
            <a:endParaRPr lang="en-US" sz="3267" noProof="1">
              <a:latin typeface="+mj-lt"/>
            </a:endParaRPr>
          </a:p>
        </p:txBody>
      </p:sp>
      <p:sp>
        <p:nvSpPr>
          <p:cNvPr id="5" name="Text 3"/>
          <p:cNvSpPr/>
          <p:nvPr/>
        </p:nvSpPr>
        <p:spPr>
          <a:xfrm>
            <a:off x="720030" y="1478756"/>
            <a:ext cx="10555984" cy="952997"/>
          </a:xfrm>
          <a:prstGeom prst="rect">
            <a:avLst/>
          </a:prstGeom>
          <a:noFill/>
          <a:ln/>
        </p:spPr>
        <p:txBody>
          <a:bodyPr wrap="square" lIns="0" tIns="0" rIns="0" bIns="0" rtlCol="0" anchor="t">
            <a:noAutofit/>
          </a:bodyPr>
          <a:lstStyle/>
          <a:p>
            <a:pPr>
              <a:lnSpc>
                <a:spcPct val="128000"/>
              </a:lnSpc>
            </a:pPr>
            <a:r>
              <a:rPr lang="en-US" sz="1600" noProof="1">
                <a:solidFill>
                  <a:srgbClr val="E5E0DF"/>
                </a:solidFill>
                <a:ea typeface="Barlow" pitchFamily="34" charset="-122"/>
                <a:cs typeface="Barlow" pitchFamily="34" charset="-120"/>
              </a:rPr>
              <a:t>Zero Trace Imperium is an enterprise inspired cybersecurity laboratory demonstrating the complete attack and defense lifecycle inside an isolated VMware environment  built for realism, repeatability, and rigorous documentation.</a:t>
            </a:r>
            <a:endParaRPr lang="en-US" sz="1600" noProof="1"/>
          </a:p>
        </p:txBody>
      </p:sp>
      <p:sp>
        <p:nvSpPr>
          <p:cNvPr id="6" name="Shape 4"/>
          <p:cNvSpPr/>
          <p:nvPr/>
        </p:nvSpPr>
        <p:spPr>
          <a:xfrm>
            <a:off x="720031" y="2509441"/>
            <a:ext cx="5288557" cy="1795561"/>
          </a:xfrm>
          <a:prstGeom prst="roundRect">
            <a:avLst>
              <a:gd name="adj" fmla="val 4437"/>
            </a:avLst>
          </a:prstGeom>
          <a:solidFill>
            <a:srgbClr val="790709"/>
          </a:solidFill>
          <a:ln w="4763">
            <a:solidFill>
              <a:srgbClr val="922022"/>
            </a:solidFill>
            <a:prstDash val="solid"/>
          </a:ln>
        </p:spPr>
        <p:txBody>
          <a:bodyPr/>
          <a:lstStyle/>
          <a:p>
            <a:endParaRPr lang="en-US" sz="2400" noProof="1">
              <a:latin typeface="+mj-lt"/>
            </a:endParaRPr>
          </a:p>
        </p:txBody>
      </p:sp>
      <p:sp>
        <p:nvSpPr>
          <p:cNvPr id="7" name="Shape 5"/>
          <p:cNvSpPr/>
          <p:nvPr/>
        </p:nvSpPr>
        <p:spPr>
          <a:xfrm>
            <a:off x="915988" y="2705397"/>
            <a:ext cx="568920" cy="568920"/>
          </a:xfrm>
          <a:prstGeom prst="ellipse">
            <a:avLst/>
          </a:prstGeom>
          <a:solidFill>
            <a:srgbClr val="F65F62"/>
          </a:solidFill>
          <a:ln/>
        </p:spPr>
        <p:txBody>
          <a:bodyPr/>
          <a:lstStyle/>
          <a:p>
            <a:endParaRPr lang="en-US" sz="2400" noProof="1">
              <a:latin typeface="+mj-lt"/>
            </a:endParaRPr>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2456" y="2861767"/>
            <a:ext cx="255984" cy="255984"/>
          </a:xfrm>
          <a:prstGeom prst="rect">
            <a:avLst/>
          </a:prstGeom>
        </p:spPr>
      </p:pic>
      <p:sp>
        <p:nvSpPr>
          <p:cNvPr id="9" name="Text 6"/>
          <p:cNvSpPr/>
          <p:nvPr/>
        </p:nvSpPr>
        <p:spPr>
          <a:xfrm>
            <a:off x="915989" y="3449142"/>
            <a:ext cx="4896644" cy="263425"/>
          </a:xfrm>
          <a:prstGeom prst="rect">
            <a:avLst/>
          </a:prstGeom>
          <a:noFill/>
          <a:ln/>
        </p:spPr>
        <p:txBody>
          <a:bodyPr wrap="none" lIns="0" tIns="0" rIns="0" bIns="0" rtlCol="0" anchor="t"/>
          <a:lstStyle/>
          <a:p>
            <a:pPr>
              <a:lnSpc>
                <a:spcPct val="104000"/>
              </a:lnSpc>
            </a:pPr>
            <a:r>
              <a:rPr lang="en-US" sz="1600" noProof="1">
                <a:solidFill>
                  <a:srgbClr val="E5E0DF"/>
                </a:solidFill>
                <a:latin typeface="+mj-lt"/>
                <a:ea typeface="Barlow Medium" pitchFamily="34" charset="-122"/>
                <a:cs typeface="Barlow Medium" pitchFamily="34" charset="-120"/>
              </a:rPr>
              <a:t>12 Assessment Phases</a:t>
            </a:r>
            <a:endParaRPr lang="en-US" sz="1600" noProof="1">
              <a:latin typeface="+mj-lt"/>
            </a:endParaRPr>
          </a:p>
        </p:txBody>
      </p:sp>
      <p:sp>
        <p:nvSpPr>
          <p:cNvPr id="10" name="Text 7"/>
          <p:cNvSpPr/>
          <p:nvPr/>
        </p:nvSpPr>
        <p:spPr>
          <a:xfrm>
            <a:off x="915989" y="3817442"/>
            <a:ext cx="4896644" cy="291604"/>
          </a:xfrm>
          <a:prstGeom prst="rect">
            <a:avLst/>
          </a:prstGeom>
          <a:noFill/>
          <a:ln/>
        </p:spPr>
        <p:txBody>
          <a:bodyPr wrap="none" lIns="0" tIns="0" rIns="0" bIns="0" rtlCol="0" anchor="t"/>
          <a:lstStyle/>
          <a:p>
            <a:pPr>
              <a:lnSpc>
                <a:spcPct val="128000"/>
              </a:lnSpc>
            </a:pPr>
            <a:r>
              <a:rPr lang="en-US" sz="1467" noProof="1">
                <a:solidFill>
                  <a:srgbClr val="E5E0DF"/>
                </a:solidFill>
                <a:latin typeface="+mj-lt"/>
                <a:ea typeface="Barlow" pitchFamily="34" charset="-122"/>
                <a:cs typeface="Barlow" pitchFamily="34" charset="-120"/>
              </a:rPr>
              <a:t>Full lifecycle coverage from build through recovery</a:t>
            </a:r>
            <a:endParaRPr lang="en-US" sz="1467" noProof="1">
              <a:latin typeface="+mj-lt"/>
            </a:endParaRPr>
          </a:p>
        </p:txBody>
      </p:sp>
      <p:sp>
        <p:nvSpPr>
          <p:cNvPr id="11" name="Shape 8"/>
          <p:cNvSpPr/>
          <p:nvPr/>
        </p:nvSpPr>
        <p:spPr>
          <a:xfrm>
            <a:off x="6183412" y="2509441"/>
            <a:ext cx="5288557" cy="1795561"/>
          </a:xfrm>
          <a:prstGeom prst="roundRect">
            <a:avLst>
              <a:gd name="adj" fmla="val 4437"/>
            </a:avLst>
          </a:prstGeom>
          <a:solidFill>
            <a:srgbClr val="790709"/>
          </a:solidFill>
          <a:ln w="4763">
            <a:solidFill>
              <a:srgbClr val="922022"/>
            </a:solidFill>
            <a:prstDash val="solid"/>
          </a:ln>
        </p:spPr>
        <p:txBody>
          <a:bodyPr/>
          <a:lstStyle/>
          <a:p>
            <a:endParaRPr lang="en-US" sz="2400" noProof="1">
              <a:latin typeface="+mj-lt"/>
            </a:endParaRPr>
          </a:p>
        </p:txBody>
      </p:sp>
      <p:sp>
        <p:nvSpPr>
          <p:cNvPr id="12" name="Shape 9"/>
          <p:cNvSpPr/>
          <p:nvPr/>
        </p:nvSpPr>
        <p:spPr>
          <a:xfrm>
            <a:off x="6379369" y="2705397"/>
            <a:ext cx="568920" cy="568920"/>
          </a:xfrm>
          <a:prstGeom prst="ellipse">
            <a:avLst/>
          </a:prstGeom>
          <a:solidFill>
            <a:srgbClr val="F65F62"/>
          </a:solidFill>
          <a:ln/>
        </p:spPr>
        <p:txBody>
          <a:bodyPr/>
          <a:lstStyle/>
          <a:p>
            <a:endParaRPr lang="en-US" sz="2400" noProof="1">
              <a:latin typeface="+mj-lt"/>
            </a:endParaRPr>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35837" y="2861767"/>
            <a:ext cx="255984" cy="255984"/>
          </a:xfrm>
          <a:prstGeom prst="rect">
            <a:avLst/>
          </a:prstGeom>
        </p:spPr>
      </p:pic>
      <p:sp>
        <p:nvSpPr>
          <p:cNvPr id="14" name="Text 10"/>
          <p:cNvSpPr/>
          <p:nvPr/>
        </p:nvSpPr>
        <p:spPr>
          <a:xfrm>
            <a:off x="6379370" y="3449142"/>
            <a:ext cx="4896644" cy="263425"/>
          </a:xfrm>
          <a:prstGeom prst="rect">
            <a:avLst/>
          </a:prstGeom>
          <a:noFill/>
          <a:ln/>
        </p:spPr>
        <p:txBody>
          <a:bodyPr wrap="none" lIns="0" tIns="0" rIns="0" bIns="0" rtlCol="0" anchor="t"/>
          <a:lstStyle/>
          <a:p>
            <a:pPr>
              <a:lnSpc>
                <a:spcPct val="104000"/>
              </a:lnSpc>
            </a:pPr>
            <a:r>
              <a:rPr lang="en-US" sz="1600" noProof="1">
                <a:solidFill>
                  <a:srgbClr val="E5E0DF"/>
                </a:solidFill>
                <a:latin typeface="+mj-lt"/>
                <a:ea typeface="Barlow Medium" pitchFamily="34" charset="-122"/>
                <a:cs typeface="Barlow Medium" pitchFamily="34" charset="-120"/>
              </a:rPr>
              <a:t>Red Team Operations</a:t>
            </a:r>
            <a:endParaRPr lang="en-US" sz="1600" noProof="1">
              <a:latin typeface="+mj-lt"/>
            </a:endParaRPr>
          </a:p>
        </p:txBody>
      </p:sp>
      <p:sp>
        <p:nvSpPr>
          <p:cNvPr id="15" name="Text 11"/>
          <p:cNvSpPr/>
          <p:nvPr/>
        </p:nvSpPr>
        <p:spPr>
          <a:xfrm>
            <a:off x="6379370" y="3817442"/>
            <a:ext cx="4896644" cy="291604"/>
          </a:xfrm>
          <a:prstGeom prst="rect">
            <a:avLst/>
          </a:prstGeom>
          <a:noFill/>
          <a:ln/>
        </p:spPr>
        <p:txBody>
          <a:bodyPr wrap="none" lIns="0" tIns="0" rIns="0" bIns="0" rtlCol="0" anchor="t"/>
          <a:lstStyle/>
          <a:p>
            <a:pPr>
              <a:lnSpc>
                <a:spcPct val="128000"/>
              </a:lnSpc>
            </a:pPr>
            <a:r>
              <a:rPr lang="en-US" sz="1200" noProof="1">
                <a:solidFill>
                  <a:srgbClr val="E5E0DF"/>
                </a:solidFill>
                <a:latin typeface="+mj-lt"/>
                <a:ea typeface="Barlow" pitchFamily="34" charset="-122"/>
                <a:cs typeface="Barlow" pitchFamily="34" charset="-120"/>
              </a:rPr>
              <a:t>Reconnaissance, exploitation, and privilege escalation</a:t>
            </a:r>
            <a:endParaRPr lang="en-US" sz="1200" noProof="1">
              <a:latin typeface="+mj-lt"/>
            </a:endParaRPr>
          </a:p>
        </p:txBody>
      </p:sp>
      <p:sp>
        <p:nvSpPr>
          <p:cNvPr id="16" name="Shape 12"/>
          <p:cNvSpPr/>
          <p:nvPr/>
        </p:nvSpPr>
        <p:spPr>
          <a:xfrm>
            <a:off x="720031" y="4479826"/>
            <a:ext cx="5288557" cy="1795561"/>
          </a:xfrm>
          <a:prstGeom prst="roundRect">
            <a:avLst>
              <a:gd name="adj" fmla="val 4437"/>
            </a:avLst>
          </a:prstGeom>
          <a:solidFill>
            <a:srgbClr val="790709"/>
          </a:solidFill>
          <a:ln w="4763">
            <a:solidFill>
              <a:srgbClr val="922022"/>
            </a:solidFill>
            <a:prstDash val="solid"/>
          </a:ln>
        </p:spPr>
        <p:txBody>
          <a:bodyPr/>
          <a:lstStyle/>
          <a:p>
            <a:endParaRPr lang="en-US" sz="2400" noProof="1">
              <a:latin typeface="+mj-lt"/>
            </a:endParaRPr>
          </a:p>
        </p:txBody>
      </p:sp>
      <p:sp>
        <p:nvSpPr>
          <p:cNvPr id="17" name="Shape 13"/>
          <p:cNvSpPr/>
          <p:nvPr/>
        </p:nvSpPr>
        <p:spPr>
          <a:xfrm>
            <a:off x="915988" y="4675783"/>
            <a:ext cx="568920" cy="568920"/>
          </a:xfrm>
          <a:prstGeom prst="ellipse">
            <a:avLst/>
          </a:prstGeom>
          <a:solidFill>
            <a:srgbClr val="F65F62"/>
          </a:solidFill>
          <a:ln/>
        </p:spPr>
        <p:txBody>
          <a:bodyPr/>
          <a:lstStyle/>
          <a:p>
            <a:endParaRPr lang="en-US" sz="2400" noProof="1">
              <a:latin typeface="+mj-lt"/>
            </a:endParaRPr>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2456" y="4832152"/>
            <a:ext cx="255984" cy="255984"/>
          </a:xfrm>
          <a:prstGeom prst="rect">
            <a:avLst/>
          </a:prstGeom>
        </p:spPr>
      </p:pic>
      <p:sp>
        <p:nvSpPr>
          <p:cNvPr id="19" name="Text 14"/>
          <p:cNvSpPr/>
          <p:nvPr/>
        </p:nvSpPr>
        <p:spPr>
          <a:xfrm>
            <a:off x="915989" y="5419528"/>
            <a:ext cx="4896644" cy="263425"/>
          </a:xfrm>
          <a:prstGeom prst="rect">
            <a:avLst/>
          </a:prstGeom>
          <a:noFill/>
          <a:ln/>
        </p:spPr>
        <p:txBody>
          <a:bodyPr wrap="none" lIns="0" tIns="0" rIns="0" bIns="0" rtlCol="0" anchor="t"/>
          <a:lstStyle/>
          <a:p>
            <a:pPr>
              <a:lnSpc>
                <a:spcPct val="104000"/>
              </a:lnSpc>
            </a:pPr>
            <a:r>
              <a:rPr lang="en-US" sz="1600" noProof="1">
                <a:solidFill>
                  <a:srgbClr val="E5E0DF"/>
                </a:solidFill>
                <a:latin typeface="+mj-lt"/>
                <a:ea typeface="Barlow Medium" pitchFamily="34" charset="-122"/>
                <a:cs typeface="Barlow Medium" pitchFamily="34" charset="-120"/>
              </a:rPr>
              <a:t>Blue Team Operations</a:t>
            </a:r>
            <a:endParaRPr lang="en-US" sz="1600" noProof="1">
              <a:latin typeface="+mj-lt"/>
            </a:endParaRPr>
          </a:p>
        </p:txBody>
      </p:sp>
      <p:sp>
        <p:nvSpPr>
          <p:cNvPr id="20" name="Text 15"/>
          <p:cNvSpPr/>
          <p:nvPr/>
        </p:nvSpPr>
        <p:spPr>
          <a:xfrm>
            <a:off x="915989" y="5787827"/>
            <a:ext cx="4896644" cy="291604"/>
          </a:xfrm>
          <a:prstGeom prst="rect">
            <a:avLst/>
          </a:prstGeom>
          <a:noFill/>
          <a:ln/>
        </p:spPr>
        <p:txBody>
          <a:bodyPr wrap="none" lIns="0" tIns="0" rIns="0" bIns="0" rtlCol="0" anchor="t"/>
          <a:lstStyle/>
          <a:p>
            <a:pPr>
              <a:lnSpc>
                <a:spcPct val="128000"/>
              </a:lnSpc>
            </a:pPr>
            <a:r>
              <a:rPr lang="en-US" sz="1200" noProof="1">
                <a:solidFill>
                  <a:srgbClr val="E5E0DF"/>
                </a:solidFill>
                <a:latin typeface="+mj-lt"/>
                <a:ea typeface="Barlow" pitchFamily="34" charset="-122"/>
                <a:cs typeface="Barlow" pitchFamily="34" charset="-120"/>
              </a:rPr>
              <a:t>Hardening, monitoring, detection, and incident response</a:t>
            </a:r>
            <a:endParaRPr lang="en-US" sz="1200" noProof="1">
              <a:latin typeface="+mj-lt"/>
            </a:endParaRPr>
          </a:p>
        </p:txBody>
      </p:sp>
      <p:sp>
        <p:nvSpPr>
          <p:cNvPr id="21" name="Shape 16"/>
          <p:cNvSpPr/>
          <p:nvPr/>
        </p:nvSpPr>
        <p:spPr>
          <a:xfrm>
            <a:off x="6183412" y="4479826"/>
            <a:ext cx="5288557" cy="1795561"/>
          </a:xfrm>
          <a:prstGeom prst="roundRect">
            <a:avLst>
              <a:gd name="adj" fmla="val 4437"/>
            </a:avLst>
          </a:prstGeom>
          <a:solidFill>
            <a:srgbClr val="790709"/>
          </a:solidFill>
          <a:ln w="4763">
            <a:solidFill>
              <a:srgbClr val="922022"/>
            </a:solidFill>
            <a:prstDash val="solid"/>
          </a:ln>
        </p:spPr>
        <p:txBody>
          <a:bodyPr/>
          <a:lstStyle/>
          <a:p>
            <a:endParaRPr lang="en-US" sz="2400" noProof="1">
              <a:latin typeface="+mj-lt"/>
            </a:endParaRPr>
          </a:p>
        </p:txBody>
      </p:sp>
      <p:sp>
        <p:nvSpPr>
          <p:cNvPr id="22" name="Shape 17"/>
          <p:cNvSpPr/>
          <p:nvPr/>
        </p:nvSpPr>
        <p:spPr>
          <a:xfrm>
            <a:off x="6379369" y="4675783"/>
            <a:ext cx="568920" cy="568920"/>
          </a:xfrm>
          <a:prstGeom prst="ellipse">
            <a:avLst/>
          </a:prstGeom>
          <a:solidFill>
            <a:srgbClr val="F65F62"/>
          </a:solidFill>
          <a:ln/>
        </p:spPr>
        <p:txBody>
          <a:bodyPr/>
          <a:lstStyle/>
          <a:p>
            <a:endParaRPr lang="en-US" sz="2400" noProof="1">
              <a:latin typeface="+mj-lt"/>
            </a:endParaRPr>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5837" y="4832152"/>
            <a:ext cx="255984" cy="255984"/>
          </a:xfrm>
          <a:prstGeom prst="rect">
            <a:avLst/>
          </a:prstGeom>
        </p:spPr>
      </p:pic>
      <p:sp>
        <p:nvSpPr>
          <p:cNvPr id="24" name="Text 18"/>
          <p:cNvSpPr/>
          <p:nvPr/>
        </p:nvSpPr>
        <p:spPr>
          <a:xfrm>
            <a:off x="6379370" y="5419528"/>
            <a:ext cx="4896644" cy="263425"/>
          </a:xfrm>
          <a:prstGeom prst="rect">
            <a:avLst/>
          </a:prstGeom>
          <a:noFill/>
          <a:ln/>
        </p:spPr>
        <p:txBody>
          <a:bodyPr wrap="none" lIns="0" tIns="0" rIns="0" bIns="0" rtlCol="0" anchor="t"/>
          <a:lstStyle/>
          <a:p>
            <a:pPr>
              <a:lnSpc>
                <a:spcPct val="104000"/>
              </a:lnSpc>
            </a:pPr>
            <a:r>
              <a:rPr lang="en-US" sz="1600" noProof="1">
                <a:solidFill>
                  <a:srgbClr val="E5E0DF"/>
                </a:solidFill>
                <a:latin typeface="+mj-lt"/>
                <a:ea typeface="Barlow Medium" pitchFamily="34" charset="-122"/>
                <a:cs typeface="Barlow Medium" pitchFamily="34" charset="-120"/>
              </a:rPr>
              <a:t>Enterprise Documentation</a:t>
            </a:r>
            <a:endParaRPr lang="en-US" sz="1600" noProof="1">
              <a:latin typeface="+mj-lt"/>
            </a:endParaRPr>
          </a:p>
        </p:txBody>
      </p:sp>
      <p:sp>
        <p:nvSpPr>
          <p:cNvPr id="25" name="Text 19"/>
          <p:cNvSpPr/>
          <p:nvPr/>
        </p:nvSpPr>
        <p:spPr>
          <a:xfrm>
            <a:off x="6379370" y="5787827"/>
            <a:ext cx="4896644" cy="291604"/>
          </a:xfrm>
          <a:prstGeom prst="rect">
            <a:avLst/>
          </a:prstGeom>
          <a:noFill/>
          <a:ln/>
        </p:spPr>
        <p:txBody>
          <a:bodyPr wrap="none" lIns="0" tIns="0" rIns="0" bIns="0" rtlCol="0" anchor="t"/>
          <a:lstStyle/>
          <a:p>
            <a:pPr>
              <a:lnSpc>
                <a:spcPct val="128000"/>
              </a:lnSpc>
            </a:pPr>
            <a:r>
              <a:rPr lang="en-US" sz="1467" noProof="1">
                <a:solidFill>
                  <a:srgbClr val="E5E0DF"/>
                </a:solidFill>
                <a:latin typeface="+mj-lt"/>
                <a:ea typeface="Barlow" pitchFamily="34" charset="-122"/>
                <a:cs typeface="Barlow" pitchFamily="34" charset="-120"/>
              </a:rPr>
              <a:t>Professional reporting and repeatable deployment</a:t>
            </a:r>
            <a:endParaRPr lang="en-US" sz="1467" noProof="1">
              <a:latin typeface="+mj-lt"/>
            </a:endParaRPr>
          </a:p>
        </p:txBody>
      </p:sp>
      <p:sp>
        <p:nvSpPr>
          <p:cNvPr id="28" name="Footer Placeholder 27">
            <a:extLst>
              <a:ext uri="{FF2B5EF4-FFF2-40B4-BE49-F238E27FC236}">
                <a16:creationId xmlns:a16="http://schemas.microsoft.com/office/drawing/2014/main" id="{43AF81B9-974E-7C28-ED55-30D78C8460EB}"/>
              </a:ext>
            </a:extLst>
          </p:cNvPr>
          <p:cNvSpPr>
            <a:spLocks noGrp="1"/>
          </p:cNvSpPr>
          <p:nvPr>
            <p:ph type="ftr" sz="quarter" idx="3"/>
          </p:nvPr>
        </p:nvSpPr>
        <p:spPr>
          <a:xfrm>
            <a:off x="5284922" y="6356350"/>
            <a:ext cx="1918135" cy="365125"/>
          </a:xfrm>
        </p:spPr>
        <p:txBody>
          <a:bodyPr/>
          <a:lstStyle/>
          <a:p>
            <a:r>
              <a:rPr lang="en-US" noProof="1">
                <a:latin typeface="+mj-lt"/>
              </a:rPr>
              <a:t>Zero Trace Imperium</a:t>
            </a:r>
          </a:p>
        </p:txBody>
      </p:sp>
      <p:sp>
        <p:nvSpPr>
          <p:cNvPr id="29" name="Slide Number Placeholder 28">
            <a:extLst>
              <a:ext uri="{FF2B5EF4-FFF2-40B4-BE49-F238E27FC236}">
                <a16:creationId xmlns:a16="http://schemas.microsoft.com/office/drawing/2014/main" id="{E05992A6-869A-1158-8E34-CADC045D69A4}"/>
              </a:ext>
            </a:extLst>
          </p:cNvPr>
          <p:cNvSpPr>
            <a:spLocks noGrp="1"/>
          </p:cNvSpPr>
          <p:nvPr>
            <p:ph type="sldNum" sz="quarter" idx="4"/>
          </p:nvPr>
        </p:nvSpPr>
        <p:spPr/>
        <p:txBody>
          <a:bodyPr/>
          <a:lstStyle/>
          <a:p>
            <a:fld id="{08D6B0A0-5113-456A-82B3-EA8CCD6D43D8}" type="slidenum">
              <a:rPr lang="en-US" smtClean="0">
                <a:latin typeface="+mj-lt"/>
              </a:rPr>
              <a:t>1</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409816" y="448875"/>
            <a:ext cx="1988991" cy="267117"/>
          </a:xfrm>
          <a:prstGeom prst="roundRect">
            <a:avLst>
              <a:gd name="adj" fmla="val 22118"/>
            </a:avLst>
          </a:prstGeom>
          <a:noFill/>
          <a:ln w="4763">
            <a:solidFill>
              <a:srgbClr val="F65F62"/>
            </a:solidFill>
            <a:prstDash val="solid"/>
          </a:ln>
        </p:spPr>
        <p:txBody>
          <a:bodyPr/>
          <a:lstStyle/>
          <a:p>
            <a:endParaRPr lang="en-US" sz="2400">
              <a:latin typeface="+mj-lt"/>
            </a:endParaRPr>
          </a:p>
        </p:txBody>
      </p:sp>
      <p:sp>
        <p:nvSpPr>
          <p:cNvPr id="3" name="Text 1"/>
          <p:cNvSpPr/>
          <p:nvPr/>
        </p:nvSpPr>
        <p:spPr>
          <a:xfrm>
            <a:off x="1480070" y="507596"/>
            <a:ext cx="1423789" cy="369974"/>
          </a:xfrm>
          <a:prstGeom prst="rect">
            <a:avLst/>
          </a:prstGeom>
          <a:noFill/>
          <a:ln/>
        </p:spPr>
        <p:txBody>
          <a:bodyPr wrap="none" lIns="0" tIns="0" rIns="0" bIns="0" rtlCol="0" anchor="t"/>
          <a:lstStyle/>
          <a:p>
            <a:pPr>
              <a:lnSpc>
                <a:spcPct val="96000"/>
              </a:lnSpc>
            </a:pPr>
            <a:r>
              <a:rPr lang="en-US" sz="1200" dirty="0">
                <a:solidFill>
                  <a:srgbClr val="F65F62"/>
                </a:solidFill>
                <a:latin typeface="+mj-lt"/>
                <a:ea typeface="Barlow" pitchFamily="34" charset="-122"/>
                <a:cs typeface="Barlow" pitchFamily="34" charset="-120"/>
              </a:rPr>
              <a:t>PROBLEM STATEMENT</a:t>
            </a:r>
            <a:endParaRPr lang="en-US" sz="1200" dirty="0">
              <a:latin typeface="+mj-lt"/>
            </a:endParaRPr>
          </a:p>
        </p:txBody>
      </p:sp>
      <p:sp>
        <p:nvSpPr>
          <p:cNvPr id="4" name="Text 2"/>
          <p:cNvSpPr/>
          <p:nvPr/>
        </p:nvSpPr>
        <p:spPr>
          <a:xfrm>
            <a:off x="350578" y="1017968"/>
            <a:ext cx="4858732" cy="423374"/>
          </a:xfrm>
          <a:prstGeom prst="rect">
            <a:avLst/>
          </a:prstGeom>
          <a:noFill/>
          <a:ln/>
        </p:spPr>
        <p:txBody>
          <a:bodyPr wrap="none" lIns="0" tIns="0" rIns="0" bIns="0" rtlCol="0" anchor="t"/>
          <a:lstStyle/>
          <a:p>
            <a:pPr>
              <a:lnSpc>
                <a:spcPct val="104000"/>
              </a:lnSpc>
            </a:pPr>
            <a:r>
              <a:rPr lang="en-US" sz="2000" dirty="0">
                <a:solidFill>
                  <a:srgbClr val="FFFFFF"/>
                </a:solidFill>
                <a:latin typeface="+mj-lt"/>
                <a:ea typeface="Barlow Medium" pitchFamily="34" charset="-122"/>
                <a:cs typeface="Barlow Medium" pitchFamily="34" charset="-120"/>
              </a:rPr>
              <a:t>The Gap in Cybersecurity Education</a:t>
            </a:r>
            <a:endParaRPr lang="en-US" sz="2000" dirty="0">
              <a:latin typeface="+mj-lt"/>
            </a:endParaRPr>
          </a:p>
        </p:txBody>
      </p:sp>
      <p:sp>
        <p:nvSpPr>
          <p:cNvPr id="5" name="Text 3"/>
          <p:cNvSpPr/>
          <p:nvPr/>
        </p:nvSpPr>
        <p:spPr>
          <a:xfrm>
            <a:off x="267452" y="2265680"/>
            <a:ext cx="5763893" cy="2702560"/>
          </a:xfrm>
          <a:prstGeom prst="rect">
            <a:avLst/>
          </a:prstGeom>
          <a:noFill/>
          <a:ln/>
        </p:spPr>
        <p:txBody>
          <a:bodyPr wrap="square" lIns="0" tIns="0" rIns="0" bIns="0" rtlCol="0" anchor="t">
            <a:noAutofit/>
          </a:bodyPr>
          <a:lstStyle/>
          <a:p>
            <a:pPr marL="342900" indent="-342900">
              <a:spcAft>
                <a:spcPts val="333"/>
              </a:spcAft>
              <a:buFont typeface="Arial" panose="020B0604020202020204" pitchFamily="34" charset="0"/>
              <a:buChar char="•"/>
            </a:pPr>
            <a:r>
              <a:rPr lang="en-US" sz="2000" dirty="0">
                <a:solidFill>
                  <a:srgbClr val="D6D6D6"/>
                </a:solidFill>
              </a:rPr>
              <a:t>Organizations face increasingly sophisticated cyber threats. </a:t>
            </a:r>
            <a:endParaRPr lang="ar-EG" sz="2000" dirty="0">
              <a:solidFill>
                <a:srgbClr val="D6D6D6"/>
              </a:solidFill>
            </a:endParaRPr>
          </a:p>
          <a:p>
            <a:pPr marL="342900" indent="-342900">
              <a:spcAft>
                <a:spcPts val="333"/>
              </a:spcAft>
              <a:buFont typeface="Arial" panose="020B0604020202020204" pitchFamily="34" charset="0"/>
              <a:buChar char="•"/>
            </a:pPr>
            <a:r>
              <a:rPr lang="en-US" sz="2000" dirty="0">
                <a:solidFill>
                  <a:srgbClr val="D6D6D6"/>
                </a:solidFill>
              </a:rPr>
              <a:t>Most academic labs focus primarily on offensive techniques. </a:t>
            </a:r>
            <a:endParaRPr lang="ar-EG" sz="2000" dirty="0">
              <a:solidFill>
                <a:srgbClr val="D6D6D6"/>
              </a:solidFill>
            </a:endParaRPr>
          </a:p>
          <a:p>
            <a:pPr marL="342900" indent="-342900">
              <a:spcAft>
                <a:spcPts val="333"/>
              </a:spcAft>
              <a:buFont typeface="Arial" panose="020B0604020202020204" pitchFamily="34" charset="0"/>
              <a:buChar char="•"/>
            </a:pPr>
            <a:r>
              <a:rPr lang="en-US" sz="2000" dirty="0">
                <a:solidFill>
                  <a:srgbClr val="D6D6D6"/>
                </a:solidFill>
              </a:rPr>
              <a:t>Students receive limited exposure to enterprise defense and recovery.</a:t>
            </a:r>
            <a:endParaRPr lang="ar-EG" sz="2000" dirty="0">
              <a:solidFill>
                <a:srgbClr val="D6D6D6"/>
              </a:solidFill>
            </a:endParaRPr>
          </a:p>
          <a:p>
            <a:pPr marL="342900" indent="-342900">
              <a:spcAft>
                <a:spcPts val="333"/>
              </a:spcAft>
              <a:buFont typeface="Arial" panose="020B0604020202020204" pitchFamily="34" charset="0"/>
              <a:buChar char="•"/>
            </a:pPr>
            <a:r>
              <a:rPr lang="en-US" sz="2000" dirty="0">
                <a:solidFill>
                  <a:srgbClr val="FF0000"/>
                </a:solidFill>
              </a:rPr>
              <a:t>Zero Trace Imperium </a:t>
            </a:r>
            <a:r>
              <a:rPr lang="en-US" sz="2000" dirty="0">
                <a:solidFill>
                  <a:srgbClr val="D6D6D6"/>
                </a:solidFill>
              </a:rPr>
              <a:t>addresses this gap through a complete attack and defense lifecycle.</a:t>
            </a:r>
          </a:p>
        </p:txBody>
      </p:sp>
      <p:pic>
        <p:nvPicPr>
          <p:cNvPr id="6" name="Image 0" descr="preencoded.png"/>
          <p:cNvPicPr>
            <a:picLocks noChangeAspect="1"/>
          </p:cNvPicPr>
          <p:nvPr/>
        </p:nvPicPr>
        <p:blipFill>
          <a:blip r:embed="rId3"/>
          <a:stretch>
            <a:fillRect/>
          </a:stretch>
        </p:blipFill>
        <p:spPr>
          <a:xfrm>
            <a:off x="6096000" y="274320"/>
            <a:ext cx="5852477" cy="5937294"/>
          </a:xfrm>
          <a:prstGeom prst="rect">
            <a:avLst/>
          </a:prstGeom>
        </p:spPr>
      </p:pic>
      <p:sp>
        <p:nvSpPr>
          <p:cNvPr id="9" name="Footer Placeholder 8">
            <a:extLst>
              <a:ext uri="{FF2B5EF4-FFF2-40B4-BE49-F238E27FC236}">
                <a16:creationId xmlns:a16="http://schemas.microsoft.com/office/drawing/2014/main" id="{DBD612F5-7F2E-E31E-756D-63B74B9EBE4B}"/>
              </a:ext>
            </a:extLst>
          </p:cNvPr>
          <p:cNvSpPr>
            <a:spLocks noGrp="1"/>
          </p:cNvSpPr>
          <p:nvPr>
            <p:ph type="ftr" sz="quarter" idx="3"/>
          </p:nvPr>
        </p:nvSpPr>
        <p:spPr>
          <a:xfrm>
            <a:off x="4822166" y="6356350"/>
            <a:ext cx="2012743" cy="365125"/>
          </a:xfrm>
        </p:spPr>
        <p:txBody>
          <a:bodyPr/>
          <a:lstStyle/>
          <a:p>
            <a:r>
              <a:rPr lang="en-US" dirty="0">
                <a:latin typeface="+mj-lt"/>
              </a:rPr>
              <a:t>Zero Trace Imperium</a:t>
            </a:r>
          </a:p>
        </p:txBody>
      </p:sp>
      <p:sp>
        <p:nvSpPr>
          <p:cNvPr id="10" name="Slide Number Placeholder 9">
            <a:extLst>
              <a:ext uri="{FF2B5EF4-FFF2-40B4-BE49-F238E27FC236}">
                <a16:creationId xmlns:a16="http://schemas.microsoft.com/office/drawing/2014/main" id="{D88847D3-E0E0-367A-EB22-CC9B65C90E67}"/>
              </a:ext>
            </a:extLst>
          </p:cNvPr>
          <p:cNvSpPr>
            <a:spLocks noGrp="1"/>
          </p:cNvSpPr>
          <p:nvPr>
            <p:ph type="sldNum" sz="quarter" idx="4"/>
          </p:nvPr>
        </p:nvSpPr>
        <p:spPr/>
        <p:txBody>
          <a:bodyPr/>
          <a:lstStyle/>
          <a:p>
            <a:fld id="{08D6B0A0-5113-456A-82B3-EA8CCD6D43D8}" type="slidenum">
              <a:rPr lang="en-US" smtClean="0">
                <a:latin typeface="+mj-lt"/>
              </a:rPr>
              <a:t>2</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A9622CDF-89C4-9970-E522-E931C075CEE3}"/>
              </a:ext>
            </a:extLst>
          </p:cNvPr>
          <p:cNvGrpSpPr/>
          <p:nvPr/>
        </p:nvGrpSpPr>
        <p:grpSpPr>
          <a:xfrm>
            <a:off x="939999" y="330498"/>
            <a:ext cx="1657747" cy="312639"/>
            <a:chOff x="720031" y="987723"/>
            <a:chExt cx="1657747" cy="312639"/>
          </a:xfrm>
        </p:grpSpPr>
        <p:sp>
          <p:nvSpPr>
            <p:cNvPr id="2" name="Shape 0"/>
            <p:cNvSpPr/>
            <p:nvPr/>
          </p:nvSpPr>
          <p:spPr>
            <a:xfrm>
              <a:off x="720031" y="987723"/>
              <a:ext cx="1171575" cy="312639"/>
            </a:xfrm>
            <a:prstGeom prst="roundRect">
              <a:avLst>
                <a:gd name="adj" fmla="val 22111"/>
              </a:avLst>
            </a:prstGeom>
            <a:noFill/>
            <a:ln w="4763">
              <a:solidFill>
                <a:srgbClr val="F65F62"/>
              </a:solidFill>
              <a:prstDash val="solid"/>
            </a:ln>
          </p:spPr>
          <p:txBody>
            <a:bodyPr/>
            <a:lstStyle/>
            <a:p>
              <a:endParaRPr lang="en-US" sz="2400"/>
            </a:p>
          </p:txBody>
        </p:sp>
        <p:sp>
          <p:nvSpPr>
            <p:cNvPr id="3" name="Text 1"/>
            <p:cNvSpPr/>
            <p:nvPr/>
          </p:nvSpPr>
          <p:spPr>
            <a:xfrm>
              <a:off x="843459" y="1049437"/>
              <a:ext cx="1534319" cy="189211"/>
            </a:xfrm>
            <a:prstGeom prst="rect">
              <a:avLst/>
            </a:prstGeom>
            <a:noFill/>
            <a:ln/>
          </p:spPr>
          <p:txBody>
            <a:bodyPr wrap="none" lIns="0" tIns="0" rIns="0" bIns="0" rtlCol="0" anchor="t"/>
            <a:lstStyle/>
            <a:p>
              <a:pPr>
                <a:lnSpc>
                  <a:spcPct val="96000"/>
                </a:lnSpc>
              </a:pPr>
              <a:r>
                <a:rPr lang="en-US" sz="1267" dirty="0">
                  <a:solidFill>
                    <a:srgbClr val="F65F62"/>
                  </a:solidFill>
                  <a:ea typeface="Barlow" pitchFamily="34" charset="-122"/>
                  <a:cs typeface="Barlow" pitchFamily="34" charset="-120"/>
                </a:rPr>
                <a:t>OBJECTIVES</a:t>
              </a:r>
              <a:endParaRPr lang="en-US" sz="1267" dirty="0"/>
            </a:p>
          </p:txBody>
        </p:sp>
      </p:grpSp>
      <p:sp>
        <p:nvSpPr>
          <p:cNvPr id="4" name="Text 2"/>
          <p:cNvSpPr/>
          <p:nvPr/>
        </p:nvSpPr>
        <p:spPr>
          <a:xfrm>
            <a:off x="720032" y="1067495"/>
            <a:ext cx="4498949" cy="554271"/>
          </a:xfrm>
          <a:prstGeom prst="rect">
            <a:avLst/>
          </a:prstGeom>
          <a:noFill/>
          <a:ln/>
        </p:spPr>
        <p:txBody>
          <a:bodyPr wrap="none" lIns="0" tIns="0" rIns="0" bIns="0" rtlCol="0" anchor="t"/>
          <a:lstStyle/>
          <a:p>
            <a:pPr>
              <a:lnSpc>
                <a:spcPct val="104000"/>
              </a:lnSpc>
            </a:pPr>
            <a:r>
              <a:rPr lang="en-US" sz="3600" dirty="0">
                <a:solidFill>
                  <a:srgbClr val="FFFFFF"/>
                </a:solidFill>
                <a:ea typeface="Barlow Medium" pitchFamily="34" charset="-122"/>
                <a:cs typeface="Barlow Medium" pitchFamily="34" charset="-120"/>
              </a:rPr>
              <a:t>Project Objectives</a:t>
            </a:r>
            <a:endParaRPr lang="en-US" sz="36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031" y="2262685"/>
            <a:ext cx="3446860" cy="3607593"/>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9175" y="2436019"/>
            <a:ext cx="308571" cy="308571"/>
          </a:xfrm>
          <a:prstGeom prst="rect">
            <a:avLst/>
          </a:prstGeom>
        </p:spPr>
      </p:pic>
      <p:sp>
        <p:nvSpPr>
          <p:cNvPr id="7" name="Text 3"/>
          <p:cNvSpPr/>
          <p:nvPr/>
        </p:nvSpPr>
        <p:spPr>
          <a:xfrm>
            <a:off x="951111" y="3110906"/>
            <a:ext cx="2984699" cy="285751"/>
          </a:xfrm>
          <a:prstGeom prst="rect">
            <a:avLst/>
          </a:prstGeom>
          <a:noFill/>
          <a:ln/>
        </p:spPr>
        <p:txBody>
          <a:bodyPr wrap="none" lIns="0" tIns="0" rIns="0" bIns="0" rtlCol="0" anchor="t"/>
          <a:lstStyle/>
          <a:p>
            <a:pPr>
              <a:lnSpc>
                <a:spcPct val="104000"/>
              </a:lnSpc>
            </a:pPr>
            <a:r>
              <a:rPr lang="en-US" dirty="0">
                <a:solidFill>
                  <a:srgbClr val="E5E0DF"/>
                </a:solidFill>
                <a:ea typeface="Barlow Medium" pitchFamily="34" charset="-122"/>
                <a:cs typeface="Barlow Medium" pitchFamily="34" charset="-120"/>
              </a:rPr>
              <a:t>Infrastructure</a:t>
            </a:r>
            <a:endParaRPr lang="en-US" dirty="0"/>
          </a:p>
        </p:txBody>
      </p:sp>
      <p:sp>
        <p:nvSpPr>
          <p:cNvPr id="8" name="Text 4"/>
          <p:cNvSpPr/>
          <p:nvPr/>
        </p:nvSpPr>
        <p:spPr>
          <a:xfrm>
            <a:off x="951111" y="3520083"/>
            <a:ext cx="2984699" cy="2119115"/>
          </a:xfrm>
          <a:prstGeom prst="rect">
            <a:avLst/>
          </a:prstGeom>
          <a:noFill/>
          <a:ln/>
        </p:spPr>
        <p:txBody>
          <a:bodyPr wrap="square" lIns="0" tIns="0" rIns="0" bIns="0" rtlCol="0" anchor="t">
            <a:normAutofit/>
          </a:bodyPr>
          <a:lstStyle/>
          <a:p>
            <a:pPr marL="325112" indent="-325112">
              <a:lnSpc>
                <a:spcPct val="133000"/>
              </a:lnSpc>
              <a:buSzPct val="100000"/>
              <a:buChar char="•"/>
            </a:pPr>
            <a:r>
              <a:rPr lang="en-US" sz="1600" dirty="0">
                <a:solidFill>
                  <a:srgbClr val="E5E0DF"/>
                </a:solidFill>
                <a:ea typeface="Barlow" pitchFamily="34" charset="-122"/>
                <a:cs typeface="Barlow" pitchFamily="34" charset="-120"/>
              </a:rPr>
              <a:t>Build an enterprise</a:t>
            </a:r>
            <a:r>
              <a:rPr lang="ar-EG" sz="1600" dirty="0">
                <a:solidFill>
                  <a:srgbClr val="E5E0DF"/>
                </a:solidFill>
                <a:ea typeface="Barlow" pitchFamily="34" charset="-122"/>
                <a:cs typeface="Barlow" pitchFamily="34" charset="-120"/>
              </a:rPr>
              <a:t> </a:t>
            </a:r>
            <a:r>
              <a:rPr lang="en-US" sz="1600" dirty="0">
                <a:solidFill>
                  <a:srgbClr val="E5E0DF"/>
                </a:solidFill>
                <a:ea typeface="Barlow" pitchFamily="34" charset="-122"/>
                <a:cs typeface="Barlow" pitchFamily="34" charset="-120"/>
              </a:rPr>
              <a:t>grade VMware lab</a:t>
            </a:r>
            <a:endParaRPr lang="ar-EG" sz="1600" dirty="0">
              <a:solidFill>
                <a:srgbClr val="E5E0DF"/>
              </a:solidFill>
              <a:ea typeface="Barlow" pitchFamily="34" charset="-122"/>
              <a:cs typeface="Barlow" pitchFamily="34" charset="-120"/>
            </a:endParaRPr>
          </a:p>
          <a:p>
            <a:pPr marL="325112" indent="-325112">
              <a:lnSpc>
                <a:spcPct val="133000"/>
              </a:lnSpc>
              <a:buSzPct val="100000"/>
              <a:buChar char="•"/>
            </a:pPr>
            <a:r>
              <a:rPr lang="en-US" sz="1600" dirty="0">
                <a:solidFill>
                  <a:srgbClr val="E5E0DF"/>
                </a:solidFill>
                <a:ea typeface="Barlow" pitchFamily="34" charset="-122"/>
                <a:cs typeface="Barlow" pitchFamily="34" charset="-120"/>
              </a:rPr>
              <a:t>Deploy Ubuntu Server, Kali Linux, and Windows 11</a:t>
            </a:r>
            <a:endParaRPr lang="ar-EG" sz="1600" dirty="0">
              <a:solidFill>
                <a:srgbClr val="E5E0DF"/>
              </a:solidFill>
              <a:ea typeface="Barlow" pitchFamily="34" charset="-122"/>
              <a:cs typeface="Barlow" pitchFamily="34" charset="-120"/>
            </a:endParaRPr>
          </a:p>
          <a:p>
            <a:pPr marL="325112" indent="-325112">
              <a:lnSpc>
                <a:spcPct val="133000"/>
              </a:lnSpc>
              <a:buSzPct val="100000"/>
              <a:buChar char="•"/>
            </a:pPr>
            <a:r>
              <a:rPr lang="en-US" sz="1600" dirty="0">
                <a:solidFill>
                  <a:srgbClr val="E5E0DF"/>
                </a:solidFill>
                <a:ea typeface="Barlow" pitchFamily="34" charset="-122"/>
                <a:cs typeface="Barlow" pitchFamily="34" charset="-120"/>
              </a:rPr>
              <a:t>Configure an isolated NAT network</a:t>
            </a:r>
            <a:endParaRPr lang="en-US" sz="16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72571" y="2262685"/>
            <a:ext cx="3446860" cy="3607593"/>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41715" y="2436019"/>
            <a:ext cx="308571" cy="308571"/>
          </a:xfrm>
          <a:prstGeom prst="rect">
            <a:avLst/>
          </a:prstGeom>
        </p:spPr>
      </p:pic>
      <p:sp>
        <p:nvSpPr>
          <p:cNvPr id="11" name="Text 5"/>
          <p:cNvSpPr/>
          <p:nvPr/>
        </p:nvSpPr>
        <p:spPr>
          <a:xfrm>
            <a:off x="4603651" y="3110906"/>
            <a:ext cx="2984699" cy="285751"/>
          </a:xfrm>
          <a:prstGeom prst="rect">
            <a:avLst/>
          </a:prstGeom>
          <a:noFill/>
          <a:ln/>
        </p:spPr>
        <p:txBody>
          <a:bodyPr wrap="none" lIns="0" tIns="0" rIns="0" bIns="0" rtlCol="0" anchor="t"/>
          <a:lstStyle/>
          <a:p>
            <a:pPr>
              <a:lnSpc>
                <a:spcPct val="104000"/>
              </a:lnSpc>
            </a:pPr>
            <a:r>
              <a:rPr lang="en-US" dirty="0">
                <a:solidFill>
                  <a:srgbClr val="E5E0DF"/>
                </a:solidFill>
                <a:ea typeface="Barlow Medium" pitchFamily="34" charset="-122"/>
                <a:cs typeface="Barlow Medium" pitchFamily="34" charset="-120"/>
              </a:rPr>
              <a:t>Offensive Security</a:t>
            </a:r>
            <a:endParaRPr lang="en-US" dirty="0"/>
          </a:p>
        </p:txBody>
      </p:sp>
      <p:sp>
        <p:nvSpPr>
          <p:cNvPr id="12" name="Text 6"/>
          <p:cNvSpPr/>
          <p:nvPr/>
        </p:nvSpPr>
        <p:spPr>
          <a:xfrm>
            <a:off x="4603651" y="3520083"/>
            <a:ext cx="3215780" cy="2119115"/>
          </a:xfrm>
          <a:prstGeom prst="rect">
            <a:avLst/>
          </a:prstGeom>
          <a:noFill/>
          <a:ln/>
        </p:spPr>
        <p:txBody>
          <a:bodyPr wrap="square" lIns="0" tIns="0" rIns="0" bIns="0" rtlCol="0" anchor="t">
            <a:normAutofit/>
          </a:bodyPr>
          <a:lstStyle/>
          <a:p>
            <a:pPr marL="325112" indent="-325112">
              <a:lnSpc>
                <a:spcPct val="133000"/>
              </a:lnSpc>
              <a:buSzPct val="100000"/>
              <a:buChar char="•"/>
            </a:pPr>
            <a:r>
              <a:rPr lang="en-US" sz="1600" dirty="0">
                <a:solidFill>
                  <a:srgbClr val="E5E0DF"/>
                </a:solidFill>
                <a:ea typeface="Barlow" pitchFamily="34" charset="-122"/>
                <a:cs typeface="Barlow" pitchFamily="34" charset="-120"/>
              </a:rPr>
              <a:t>Reconnaissance &amp; Vulnerability Assessment</a:t>
            </a:r>
            <a:endParaRPr lang="ar-EG" sz="1600" dirty="0">
              <a:solidFill>
                <a:srgbClr val="E5E0DF"/>
              </a:solidFill>
              <a:ea typeface="Barlow" pitchFamily="34" charset="-122"/>
              <a:cs typeface="Barlow" pitchFamily="34" charset="-120"/>
            </a:endParaRPr>
          </a:p>
          <a:p>
            <a:pPr marL="325112" indent="-325112">
              <a:lnSpc>
                <a:spcPct val="133000"/>
              </a:lnSpc>
              <a:buSzPct val="100000"/>
              <a:buChar char="•"/>
            </a:pPr>
            <a:r>
              <a:rPr lang="en-US" sz="1600" dirty="0">
                <a:solidFill>
                  <a:srgbClr val="E5E0DF"/>
                </a:solidFill>
                <a:ea typeface="Barlow" pitchFamily="34" charset="-122"/>
                <a:cs typeface="Barlow" pitchFamily="34" charset="-120"/>
              </a:rPr>
              <a:t>Exploitation &amp; privilege escalation</a:t>
            </a:r>
            <a:endParaRPr lang="en-US" sz="1600" dirty="0"/>
          </a:p>
          <a:p>
            <a:pPr marL="325112" indent="-325112">
              <a:lnSpc>
                <a:spcPct val="133000"/>
              </a:lnSpc>
              <a:buSzPct val="100000"/>
              <a:buChar char="•"/>
            </a:pPr>
            <a:r>
              <a:rPr lang="en-US" sz="1600" dirty="0">
                <a:solidFill>
                  <a:srgbClr val="E5E0DF"/>
                </a:solidFill>
                <a:ea typeface="Barlow" pitchFamily="34" charset="-122"/>
                <a:cs typeface="Barlow" pitchFamily="34" charset="-120"/>
              </a:rPr>
              <a:t>Post exploitation &amp; persistence</a:t>
            </a:r>
            <a:endParaRPr lang="en-US" sz="160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25111" y="2262685"/>
            <a:ext cx="3446860" cy="3607593"/>
          </a:xfrm>
          <a:prstGeom prst="rect">
            <a:avLst/>
          </a:prstGeom>
        </p:spPr>
      </p:pic>
      <p:pic>
        <p:nvPicPr>
          <p:cNvPr id="14"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94255" y="2436019"/>
            <a:ext cx="308571" cy="308571"/>
          </a:xfrm>
          <a:prstGeom prst="rect">
            <a:avLst/>
          </a:prstGeom>
        </p:spPr>
      </p:pic>
      <p:sp>
        <p:nvSpPr>
          <p:cNvPr id="15" name="Text 7"/>
          <p:cNvSpPr/>
          <p:nvPr/>
        </p:nvSpPr>
        <p:spPr>
          <a:xfrm>
            <a:off x="8256191" y="3110906"/>
            <a:ext cx="2984699" cy="285751"/>
          </a:xfrm>
          <a:prstGeom prst="rect">
            <a:avLst/>
          </a:prstGeom>
          <a:noFill/>
          <a:ln/>
        </p:spPr>
        <p:txBody>
          <a:bodyPr wrap="none" lIns="0" tIns="0" rIns="0" bIns="0" rtlCol="0" anchor="t"/>
          <a:lstStyle/>
          <a:p>
            <a:pPr>
              <a:lnSpc>
                <a:spcPct val="104000"/>
              </a:lnSpc>
            </a:pPr>
            <a:r>
              <a:rPr lang="en-US" dirty="0">
                <a:solidFill>
                  <a:srgbClr val="E5E0DF"/>
                </a:solidFill>
                <a:ea typeface="Barlow Medium" pitchFamily="34" charset="-122"/>
                <a:cs typeface="Barlow Medium" pitchFamily="34" charset="-120"/>
              </a:rPr>
              <a:t>Defensive Security</a:t>
            </a:r>
            <a:endParaRPr lang="en-US" dirty="0"/>
          </a:p>
        </p:txBody>
      </p:sp>
      <p:sp>
        <p:nvSpPr>
          <p:cNvPr id="16" name="Text 8"/>
          <p:cNvSpPr/>
          <p:nvPr/>
        </p:nvSpPr>
        <p:spPr>
          <a:xfrm>
            <a:off x="8256191" y="3520083"/>
            <a:ext cx="3097609" cy="1789907"/>
          </a:xfrm>
          <a:prstGeom prst="rect">
            <a:avLst/>
          </a:prstGeom>
          <a:noFill/>
          <a:ln/>
        </p:spPr>
        <p:txBody>
          <a:bodyPr wrap="square" lIns="0" tIns="0" rIns="0" bIns="0" rtlCol="0" anchor="t">
            <a:normAutofit/>
          </a:bodyPr>
          <a:lstStyle/>
          <a:p>
            <a:pPr marL="325112" indent="-325112">
              <a:lnSpc>
                <a:spcPct val="133000"/>
              </a:lnSpc>
              <a:buSzPct val="100000"/>
              <a:buChar char="•"/>
            </a:pPr>
            <a:r>
              <a:rPr lang="en-US" sz="1600" dirty="0">
                <a:solidFill>
                  <a:srgbClr val="E5E0DF"/>
                </a:solidFill>
                <a:ea typeface="Barlow" pitchFamily="34" charset="-122"/>
                <a:cs typeface="Barlow" pitchFamily="34" charset="-120"/>
              </a:rPr>
              <a:t>Linux Hardening, UFW firewall, Fail2Ban</a:t>
            </a:r>
            <a:endParaRPr lang="en-US" sz="1600" dirty="0"/>
          </a:p>
          <a:p>
            <a:pPr marL="325112" indent="-325112">
              <a:lnSpc>
                <a:spcPct val="133000"/>
              </a:lnSpc>
              <a:buSzPct val="100000"/>
              <a:buChar char="•"/>
            </a:pPr>
            <a:r>
              <a:rPr lang="en-US" sz="1600" dirty="0">
                <a:solidFill>
                  <a:srgbClr val="E5E0DF"/>
                </a:solidFill>
                <a:ea typeface="Barlow" pitchFamily="34" charset="-122"/>
                <a:cs typeface="Barlow" pitchFamily="34" charset="-120"/>
              </a:rPr>
              <a:t>ModSecurity WAF with OWASP CRS</a:t>
            </a:r>
            <a:endParaRPr lang="en-US" sz="1600" dirty="0"/>
          </a:p>
          <a:p>
            <a:pPr marL="325112" indent="-325112">
              <a:lnSpc>
                <a:spcPct val="133000"/>
              </a:lnSpc>
              <a:buSzPct val="100000"/>
              <a:buChar char="•"/>
            </a:pPr>
            <a:r>
              <a:rPr lang="en-US" sz="1600" dirty="0">
                <a:solidFill>
                  <a:srgbClr val="E5E0DF"/>
                </a:solidFill>
                <a:ea typeface="Barlow" pitchFamily="34" charset="-122"/>
                <a:cs typeface="Barlow" pitchFamily="34" charset="-120"/>
              </a:rPr>
              <a:t>Cowrie Honeypot Deployment</a:t>
            </a:r>
            <a:endParaRPr lang="en-US" sz="1600" dirty="0"/>
          </a:p>
        </p:txBody>
      </p:sp>
      <p:sp>
        <p:nvSpPr>
          <p:cNvPr id="20" name="Footer Placeholder 19">
            <a:extLst>
              <a:ext uri="{FF2B5EF4-FFF2-40B4-BE49-F238E27FC236}">
                <a16:creationId xmlns:a16="http://schemas.microsoft.com/office/drawing/2014/main" id="{AAF48968-8978-3409-EE01-8E3675B35406}"/>
              </a:ext>
            </a:extLst>
          </p:cNvPr>
          <p:cNvSpPr>
            <a:spLocks noGrp="1"/>
          </p:cNvSpPr>
          <p:nvPr>
            <p:ph type="ftr" sz="quarter" idx="3"/>
          </p:nvPr>
        </p:nvSpPr>
        <p:spPr/>
        <p:txBody>
          <a:bodyPr/>
          <a:lstStyle/>
          <a:p>
            <a:r>
              <a:rPr lang="en-US" dirty="0">
                <a:latin typeface="+mj-lt"/>
              </a:rPr>
              <a:t>Zero Trace Imperium</a:t>
            </a:r>
          </a:p>
        </p:txBody>
      </p:sp>
      <p:sp>
        <p:nvSpPr>
          <p:cNvPr id="21" name="Slide Number Placeholder 20">
            <a:extLst>
              <a:ext uri="{FF2B5EF4-FFF2-40B4-BE49-F238E27FC236}">
                <a16:creationId xmlns:a16="http://schemas.microsoft.com/office/drawing/2014/main" id="{BD2E32AB-C4DC-0556-C11F-866BEB7A8A0E}"/>
              </a:ext>
            </a:extLst>
          </p:cNvPr>
          <p:cNvSpPr>
            <a:spLocks noGrp="1"/>
          </p:cNvSpPr>
          <p:nvPr>
            <p:ph type="sldNum" sz="quarter" idx="4"/>
          </p:nvPr>
        </p:nvSpPr>
        <p:spPr/>
        <p:txBody>
          <a:bodyPr/>
          <a:lstStyle/>
          <a:p>
            <a:fld id="{08D6B0A0-5113-456A-82B3-EA8CCD6D43D8}" type="slidenum">
              <a:rPr lang="en-US" smtClean="0">
                <a:latin typeface="+mj-lt"/>
              </a:rPr>
              <a:t>3</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2119E299-15E7-B1F6-F6AB-19AB9C3764C1}"/>
              </a:ext>
            </a:extLst>
          </p:cNvPr>
          <p:cNvGrpSpPr/>
          <p:nvPr/>
        </p:nvGrpSpPr>
        <p:grpSpPr>
          <a:xfrm>
            <a:off x="1047210" y="785828"/>
            <a:ext cx="2429235" cy="493102"/>
            <a:chOff x="843459" y="1403224"/>
            <a:chExt cx="2188151" cy="312639"/>
          </a:xfrm>
        </p:grpSpPr>
        <p:sp>
          <p:nvSpPr>
            <p:cNvPr id="2" name="Shape 0"/>
            <p:cNvSpPr/>
            <p:nvPr/>
          </p:nvSpPr>
          <p:spPr>
            <a:xfrm>
              <a:off x="843459" y="1403224"/>
              <a:ext cx="1756767" cy="312639"/>
            </a:xfrm>
            <a:prstGeom prst="roundRect">
              <a:avLst>
                <a:gd name="adj" fmla="val 22111"/>
              </a:avLst>
            </a:prstGeom>
            <a:noFill/>
            <a:ln w="4763">
              <a:solidFill>
                <a:srgbClr val="F65F62"/>
              </a:solidFill>
              <a:prstDash val="solid"/>
            </a:ln>
          </p:spPr>
          <p:txBody>
            <a:bodyPr/>
            <a:lstStyle/>
            <a:p>
              <a:endParaRPr lang="en-US" sz="2400">
                <a:latin typeface="+mj-lt"/>
              </a:endParaRPr>
            </a:p>
          </p:txBody>
        </p:sp>
        <p:sp>
          <p:nvSpPr>
            <p:cNvPr id="3" name="Text 1"/>
            <p:cNvSpPr/>
            <p:nvPr/>
          </p:nvSpPr>
          <p:spPr>
            <a:xfrm>
              <a:off x="912099" y="1483765"/>
              <a:ext cx="2119511" cy="189211"/>
            </a:xfrm>
            <a:prstGeom prst="rect">
              <a:avLst/>
            </a:prstGeom>
            <a:noFill/>
            <a:ln/>
          </p:spPr>
          <p:txBody>
            <a:bodyPr wrap="none" lIns="0" tIns="0" rIns="0" bIns="0" rtlCol="0" anchor="t"/>
            <a:lstStyle/>
            <a:p>
              <a:pPr>
                <a:lnSpc>
                  <a:spcPct val="96000"/>
                </a:lnSpc>
              </a:pPr>
              <a:r>
                <a:rPr lang="en-US" sz="1267" dirty="0">
                  <a:solidFill>
                    <a:srgbClr val="F65F62"/>
                  </a:solidFill>
                  <a:latin typeface="+mj-lt"/>
                  <a:ea typeface="Barlow" pitchFamily="34" charset="-122"/>
                  <a:cs typeface="Barlow" pitchFamily="34" charset="-120"/>
                </a:rPr>
                <a:t>TECHNOLOGY STACK</a:t>
              </a:r>
              <a:endParaRPr lang="en-US" sz="1267" dirty="0">
                <a:latin typeface="+mj-lt"/>
              </a:endParaRPr>
            </a:p>
          </p:txBody>
        </p:sp>
      </p:grpSp>
      <p:sp>
        <p:nvSpPr>
          <p:cNvPr id="4" name="Text 2"/>
          <p:cNvSpPr/>
          <p:nvPr/>
        </p:nvSpPr>
        <p:spPr>
          <a:xfrm>
            <a:off x="818618" y="1565772"/>
            <a:ext cx="4280325" cy="571500"/>
          </a:xfrm>
          <a:prstGeom prst="rect">
            <a:avLst/>
          </a:prstGeom>
          <a:noFill/>
          <a:ln/>
        </p:spPr>
        <p:txBody>
          <a:bodyPr wrap="none" lIns="0" tIns="0" rIns="0" bIns="0" rtlCol="0" anchor="t"/>
          <a:lstStyle/>
          <a:p>
            <a:pPr>
              <a:lnSpc>
                <a:spcPct val="104000"/>
              </a:lnSpc>
            </a:pPr>
            <a:r>
              <a:rPr lang="en-US" sz="3600" dirty="0">
                <a:solidFill>
                  <a:srgbClr val="FFFFFF"/>
                </a:solidFill>
                <a:latin typeface="+mj-lt"/>
                <a:ea typeface="Barlow Medium" pitchFamily="34" charset="-122"/>
                <a:cs typeface="Barlow Medium" pitchFamily="34" charset="-120"/>
              </a:rPr>
              <a:t>Tools &amp; Technologies</a:t>
            </a:r>
            <a:endParaRPr lang="en-US" sz="3600" dirty="0">
              <a:latin typeface="+mj-lt"/>
            </a:endParaRPr>
          </a:p>
        </p:txBody>
      </p:sp>
      <p:sp>
        <p:nvSpPr>
          <p:cNvPr id="5" name="Text 3"/>
          <p:cNvSpPr/>
          <p:nvPr/>
        </p:nvSpPr>
        <p:spPr>
          <a:xfrm>
            <a:off x="720031" y="2574330"/>
            <a:ext cx="2023169" cy="285751"/>
          </a:xfrm>
          <a:prstGeom prst="rect">
            <a:avLst/>
          </a:prstGeom>
          <a:noFill/>
          <a:ln/>
        </p:spPr>
        <p:txBody>
          <a:bodyPr wrap="none" lIns="0" tIns="0" rIns="0" bIns="0" rtlCol="0" anchor="t"/>
          <a:lstStyle/>
          <a:p>
            <a:pPr>
              <a:lnSpc>
                <a:spcPct val="104000"/>
              </a:lnSpc>
            </a:pPr>
            <a:r>
              <a:rPr lang="en-US" dirty="0">
                <a:solidFill>
                  <a:srgbClr val="FFFFFF"/>
                </a:solidFill>
                <a:latin typeface="+mj-lt"/>
                <a:ea typeface="Barlow Medium" pitchFamily="34" charset="-122"/>
                <a:cs typeface="Barlow Medium" pitchFamily="34" charset="-120"/>
              </a:rPr>
              <a:t>Infrastructure &amp; OS</a:t>
            </a:r>
            <a:endParaRPr lang="en-US" dirty="0">
              <a:latin typeface="+mj-lt"/>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4631" y="3066058"/>
            <a:ext cx="2459335" cy="1486396"/>
          </a:xfrm>
          <a:prstGeom prst="rect">
            <a:avLst/>
          </a:prstGeom>
        </p:spPr>
      </p:pic>
      <p:sp>
        <p:nvSpPr>
          <p:cNvPr id="7" name="Text 4"/>
          <p:cNvSpPr/>
          <p:nvPr/>
        </p:nvSpPr>
        <p:spPr>
          <a:xfrm>
            <a:off x="976511" y="3091458"/>
            <a:ext cx="2177455" cy="571500"/>
          </a:xfrm>
          <a:prstGeom prst="rect">
            <a:avLst/>
          </a:prstGeom>
          <a:noFill/>
          <a:ln/>
        </p:spPr>
        <p:txBody>
          <a:bodyPr wrap="square" lIns="0" tIns="0" rIns="0" bIns="0" rtlCol="0" anchor="t">
            <a:normAutofit/>
          </a:bodyPr>
          <a:lstStyle/>
          <a:p>
            <a:pPr>
              <a:lnSpc>
                <a:spcPct val="104000"/>
              </a:lnSpc>
            </a:pPr>
            <a:r>
              <a:rPr lang="en-US" dirty="0">
                <a:solidFill>
                  <a:srgbClr val="E5E0DF"/>
                </a:solidFill>
                <a:latin typeface="+mj-lt"/>
                <a:ea typeface="Barlow Medium" pitchFamily="34" charset="-122"/>
                <a:cs typeface="Barlow Medium" pitchFamily="34" charset="-120"/>
              </a:rPr>
              <a:t>VMware Workstation Pro</a:t>
            </a:r>
            <a:endParaRPr lang="en-US" dirty="0">
              <a:latin typeface="+mj-lt"/>
            </a:endParaRPr>
          </a:p>
        </p:txBody>
      </p:sp>
      <p:sp>
        <p:nvSpPr>
          <p:cNvPr id="8" name="Text 5"/>
          <p:cNvSpPr/>
          <p:nvPr/>
        </p:nvSpPr>
        <p:spPr>
          <a:xfrm>
            <a:off x="976511" y="3868639"/>
            <a:ext cx="2177455" cy="658416"/>
          </a:xfrm>
          <a:prstGeom prst="rect">
            <a:avLst/>
          </a:prstGeom>
          <a:noFill/>
          <a:ln/>
        </p:spPr>
        <p:txBody>
          <a:bodyPr wrap="square" lIns="0" tIns="0" rIns="0" bIns="0" rtlCol="0" anchor="t">
            <a:normAutofit fontScale="92500"/>
          </a:bodyPr>
          <a:lstStyle/>
          <a:p>
            <a:pPr>
              <a:lnSpc>
                <a:spcPct val="133000"/>
              </a:lnSpc>
            </a:pPr>
            <a:r>
              <a:rPr lang="en-US" sz="1600" dirty="0">
                <a:solidFill>
                  <a:srgbClr val="E5E0DF"/>
                </a:solidFill>
                <a:latin typeface="+mj-lt"/>
                <a:ea typeface="Barlow" pitchFamily="34" charset="-122"/>
                <a:cs typeface="Barlow" pitchFamily="34" charset="-120"/>
              </a:rPr>
              <a:t>Isolated NAT network environment</a:t>
            </a:r>
            <a:endParaRPr lang="en-US" sz="1600" dirty="0">
              <a:latin typeface="+mj-lt"/>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85741" y="3066058"/>
            <a:ext cx="2459335" cy="1486396"/>
          </a:xfrm>
          <a:prstGeom prst="rect">
            <a:avLst/>
          </a:prstGeom>
        </p:spPr>
      </p:pic>
      <p:sp>
        <p:nvSpPr>
          <p:cNvPr id="10" name="Text 6"/>
          <p:cNvSpPr/>
          <p:nvPr/>
        </p:nvSpPr>
        <p:spPr>
          <a:xfrm>
            <a:off x="3667622" y="3091458"/>
            <a:ext cx="2177455" cy="571500"/>
          </a:xfrm>
          <a:prstGeom prst="rect">
            <a:avLst/>
          </a:prstGeom>
          <a:noFill/>
          <a:ln/>
        </p:spPr>
        <p:txBody>
          <a:bodyPr wrap="square" lIns="0" tIns="0" rIns="0" bIns="0" rtlCol="0" anchor="t">
            <a:normAutofit fontScale="85000" lnSpcReduction="10000"/>
          </a:bodyPr>
          <a:lstStyle/>
          <a:p>
            <a:pPr>
              <a:lnSpc>
                <a:spcPct val="104000"/>
              </a:lnSpc>
            </a:pPr>
            <a:r>
              <a:rPr lang="en-US" dirty="0">
                <a:solidFill>
                  <a:srgbClr val="E5E0DF"/>
                </a:solidFill>
                <a:latin typeface="+mj-lt"/>
                <a:ea typeface="Barlow Medium" pitchFamily="34" charset="-122"/>
                <a:cs typeface="Barlow Medium" pitchFamily="34" charset="-120"/>
              </a:rPr>
              <a:t>Kali Linux · Ubuntu Server · Windows 11</a:t>
            </a:r>
            <a:endParaRPr lang="en-US" dirty="0">
              <a:latin typeface="+mj-lt"/>
            </a:endParaRPr>
          </a:p>
        </p:txBody>
      </p:sp>
      <p:sp>
        <p:nvSpPr>
          <p:cNvPr id="11" name="Text 7"/>
          <p:cNvSpPr/>
          <p:nvPr/>
        </p:nvSpPr>
        <p:spPr>
          <a:xfrm>
            <a:off x="3667622" y="3868639"/>
            <a:ext cx="2177455" cy="658416"/>
          </a:xfrm>
          <a:prstGeom prst="rect">
            <a:avLst/>
          </a:prstGeom>
          <a:noFill/>
          <a:ln/>
        </p:spPr>
        <p:txBody>
          <a:bodyPr wrap="square" lIns="0" tIns="0" rIns="0" bIns="0" rtlCol="0" anchor="t">
            <a:normAutofit fontScale="92500"/>
          </a:bodyPr>
          <a:lstStyle/>
          <a:p>
            <a:pPr>
              <a:lnSpc>
                <a:spcPct val="133000"/>
              </a:lnSpc>
            </a:pPr>
            <a:r>
              <a:rPr lang="en-US" sz="1600" dirty="0">
                <a:solidFill>
                  <a:srgbClr val="E5E0DF"/>
                </a:solidFill>
                <a:latin typeface="+mj-lt"/>
                <a:ea typeface="Barlow" pitchFamily="34" charset="-122"/>
                <a:cs typeface="Barlow" pitchFamily="34" charset="-120"/>
              </a:rPr>
              <a:t>Attacker, target, and workstation VMs</a:t>
            </a:r>
            <a:endParaRPr lang="en-US" sz="1600" dirty="0">
              <a:latin typeface="+mj-lt"/>
            </a:endParaRPr>
          </a:p>
        </p:txBody>
      </p:sp>
      <p:sp>
        <p:nvSpPr>
          <p:cNvPr id="12" name="Text 8"/>
          <p:cNvSpPr/>
          <p:nvPr/>
        </p:nvSpPr>
        <p:spPr>
          <a:xfrm>
            <a:off x="720031" y="4758433"/>
            <a:ext cx="5125045" cy="285751"/>
          </a:xfrm>
          <a:prstGeom prst="rect">
            <a:avLst/>
          </a:prstGeom>
          <a:noFill/>
          <a:ln/>
        </p:spPr>
        <p:txBody>
          <a:bodyPr wrap="none" lIns="0" tIns="0" rIns="0" bIns="0" rtlCol="0" anchor="t"/>
          <a:lstStyle/>
          <a:p>
            <a:pPr>
              <a:lnSpc>
                <a:spcPct val="104000"/>
              </a:lnSpc>
            </a:pPr>
            <a:r>
              <a:rPr lang="en-US" dirty="0">
                <a:solidFill>
                  <a:srgbClr val="FFFFFF"/>
                </a:solidFill>
                <a:latin typeface="+mj-lt"/>
                <a:ea typeface="Barlow Medium" pitchFamily="34" charset="-122"/>
                <a:cs typeface="Barlow Medium" pitchFamily="34" charset="-120"/>
              </a:rPr>
              <a:t>Web Stack</a:t>
            </a:r>
            <a:endParaRPr lang="en-US" dirty="0">
              <a:latin typeface="+mj-lt"/>
            </a:endParaRPr>
          </a:p>
        </p:txBody>
      </p:sp>
      <p:sp>
        <p:nvSpPr>
          <p:cNvPr id="13" name="Text 9"/>
          <p:cNvSpPr/>
          <p:nvPr/>
        </p:nvSpPr>
        <p:spPr>
          <a:xfrm>
            <a:off x="720032" y="5249863"/>
            <a:ext cx="2867322" cy="329208"/>
          </a:xfrm>
          <a:prstGeom prst="rect">
            <a:avLst/>
          </a:prstGeom>
          <a:noFill/>
          <a:ln/>
        </p:spPr>
        <p:txBody>
          <a:bodyPr wrap="none" lIns="0" tIns="0" rIns="0" bIns="0" rtlCol="0" anchor="t"/>
          <a:lstStyle/>
          <a:p>
            <a:pPr>
              <a:lnSpc>
                <a:spcPct val="133000"/>
              </a:lnSpc>
            </a:pPr>
            <a:r>
              <a:rPr lang="en-US" sz="1600" dirty="0">
                <a:solidFill>
                  <a:srgbClr val="E5E0DF"/>
                </a:solidFill>
                <a:latin typeface="+mj-lt"/>
                <a:ea typeface="Barlow" pitchFamily="34" charset="-122"/>
                <a:cs typeface="Barlow" pitchFamily="34" charset="-120"/>
              </a:rPr>
              <a:t>Apache </a:t>
            </a:r>
            <a:r>
              <a:rPr lang="ar-EG" sz="1600" dirty="0">
                <a:solidFill>
                  <a:srgbClr val="E5E0DF"/>
                </a:solidFill>
                <a:latin typeface="+mj-lt"/>
                <a:ea typeface="Barlow" pitchFamily="34" charset="-122"/>
                <a:cs typeface="Barlow" pitchFamily="34" charset="-120"/>
              </a:rPr>
              <a:t>–</a:t>
            </a:r>
            <a:r>
              <a:rPr lang="en-US" sz="1600" dirty="0">
                <a:solidFill>
                  <a:srgbClr val="E5E0DF"/>
                </a:solidFill>
                <a:latin typeface="+mj-lt"/>
                <a:ea typeface="Barlow" pitchFamily="34" charset="-122"/>
                <a:cs typeface="Barlow" pitchFamily="34" charset="-120"/>
              </a:rPr>
              <a:t> PHP</a:t>
            </a:r>
            <a:r>
              <a:rPr lang="ar-EG" sz="1600" dirty="0">
                <a:solidFill>
                  <a:srgbClr val="E5E0DF"/>
                </a:solidFill>
                <a:latin typeface="+mj-lt"/>
                <a:ea typeface="Barlow" pitchFamily="34" charset="-122"/>
                <a:cs typeface="Barlow" pitchFamily="34" charset="-120"/>
              </a:rPr>
              <a:t> - </a:t>
            </a:r>
            <a:r>
              <a:rPr lang="en-US" sz="1600" dirty="0">
                <a:solidFill>
                  <a:srgbClr val="E5E0DF"/>
                </a:solidFill>
                <a:latin typeface="+mj-lt"/>
                <a:ea typeface="Barlow" pitchFamily="34" charset="-122"/>
                <a:cs typeface="Barlow" pitchFamily="34" charset="-120"/>
              </a:rPr>
              <a:t>MariaDB </a:t>
            </a:r>
            <a:r>
              <a:rPr lang="ar-EG" sz="1600" dirty="0">
                <a:solidFill>
                  <a:srgbClr val="E5E0DF"/>
                </a:solidFill>
                <a:latin typeface="+mj-lt"/>
                <a:ea typeface="Barlow" pitchFamily="34" charset="-122"/>
                <a:cs typeface="Barlow" pitchFamily="34" charset="-120"/>
              </a:rPr>
              <a:t>-</a:t>
            </a:r>
            <a:r>
              <a:rPr lang="en-US" sz="1600" dirty="0">
                <a:solidFill>
                  <a:srgbClr val="E5E0DF"/>
                </a:solidFill>
                <a:latin typeface="+mj-lt"/>
                <a:ea typeface="Barlow" pitchFamily="34" charset="-122"/>
                <a:cs typeface="Barlow" pitchFamily="34" charset="-120"/>
              </a:rPr>
              <a:t> DVWA</a:t>
            </a:r>
            <a:endParaRPr lang="en-US" sz="1600" dirty="0">
              <a:latin typeface="+mj-lt"/>
            </a:endParaRPr>
          </a:p>
        </p:txBody>
      </p:sp>
      <p:sp>
        <p:nvSpPr>
          <p:cNvPr id="14" name="Text 10"/>
          <p:cNvSpPr/>
          <p:nvPr/>
        </p:nvSpPr>
        <p:spPr>
          <a:xfrm>
            <a:off x="6353275" y="2574330"/>
            <a:ext cx="1659349" cy="285751"/>
          </a:xfrm>
          <a:prstGeom prst="rect">
            <a:avLst/>
          </a:prstGeom>
          <a:noFill/>
          <a:ln/>
        </p:spPr>
        <p:txBody>
          <a:bodyPr wrap="none" lIns="0" tIns="0" rIns="0" bIns="0" rtlCol="0" anchor="t"/>
          <a:lstStyle/>
          <a:p>
            <a:pPr>
              <a:lnSpc>
                <a:spcPct val="104000"/>
              </a:lnSpc>
            </a:pPr>
            <a:r>
              <a:rPr lang="en-US" dirty="0">
                <a:solidFill>
                  <a:srgbClr val="FFFFFF"/>
                </a:solidFill>
                <a:latin typeface="+mj-lt"/>
                <a:ea typeface="Barlow Medium" pitchFamily="34" charset="-122"/>
                <a:cs typeface="Barlow Medium" pitchFamily="34" charset="-120"/>
              </a:rPr>
              <a:t>Security Toolset</a:t>
            </a:r>
            <a:endParaRPr lang="en-US" dirty="0">
              <a:latin typeface="+mj-lt"/>
            </a:endParaRPr>
          </a:p>
        </p:txBody>
      </p:sp>
      <p:sp>
        <p:nvSpPr>
          <p:cNvPr id="15" name="Shape 11"/>
          <p:cNvSpPr/>
          <p:nvPr/>
        </p:nvSpPr>
        <p:spPr>
          <a:xfrm>
            <a:off x="6353276" y="3091458"/>
            <a:ext cx="2459633" cy="2245023"/>
          </a:xfrm>
          <a:prstGeom prst="roundRect">
            <a:avLst>
              <a:gd name="adj" fmla="val 3849"/>
            </a:avLst>
          </a:prstGeom>
          <a:solidFill>
            <a:srgbClr val="790709"/>
          </a:solidFill>
          <a:ln w="9525">
            <a:solidFill>
              <a:srgbClr val="922022"/>
            </a:solidFill>
            <a:prstDash val="solid"/>
          </a:ln>
        </p:spPr>
        <p:txBody>
          <a:bodyPr/>
          <a:lstStyle/>
          <a:p>
            <a:endParaRPr lang="en-US" sz="2400">
              <a:latin typeface="+mj-lt"/>
            </a:endParaRPr>
          </a:p>
        </p:txBody>
      </p:sp>
      <p:sp>
        <p:nvSpPr>
          <p:cNvPr id="16" name="Text 12"/>
          <p:cNvSpPr/>
          <p:nvPr/>
        </p:nvSpPr>
        <p:spPr>
          <a:xfrm>
            <a:off x="6571655" y="3309839"/>
            <a:ext cx="2022872" cy="285751"/>
          </a:xfrm>
          <a:prstGeom prst="rect">
            <a:avLst/>
          </a:prstGeom>
          <a:noFill/>
          <a:ln/>
        </p:spPr>
        <p:txBody>
          <a:bodyPr wrap="none" lIns="0" tIns="0" rIns="0" bIns="0" rtlCol="0" anchor="t"/>
          <a:lstStyle/>
          <a:p>
            <a:pPr>
              <a:lnSpc>
                <a:spcPct val="104000"/>
              </a:lnSpc>
            </a:pPr>
            <a:r>
              <a:rPr lang="en-US" dirty="0">
                <a:solidFill>
                  <a:srgbClr val="E5E0DF"/>
                </a:solidFill>
                <a:latin typeface="+mj-lt"/>
                <a:ea typeface="Barlow Medium" pitchFamily="34" charset="-122"/>
                <a:cs typeface="Barlow Medium" pitchFamily="34" charset="-120"/>
              </a:rPr>
              <a:t>Defense</a:t>
            </a:r>
            <a:endParaRPr lang="en-US" dirty="0">
              <a:latin typeface="+mj-lt"/>
            </a:endParaRPr>
          </a:p>
        </p:txBody>
      </p:sp>
      <p:sp>
        <p:nvSpPr>
          <p:cNvPr id="17" name="Text 13"/>
          <p:cNvSpPr/>
          <p:nvPr/>
        </p:nvSpPr>
        <p:spPr>
          <a:xfrm>
            <a:off x="6571655" y="3801269"/>
            <a:ext cx="2022872" cy="987624"/>
          </a:xfrm>
          <a:prstGeom prst="rect">
            <a:avLst/>
          </a:prstGeom>
          <a:noFill/>
          <a:ln/>
        </p:spPr>
        <p:txBody>
          <a:bodyPr wrap="square" lIns="0" tIns="0" rIns="0" bIns="0" rtlCol="0" anchor="t">
            <a:normAutofit fontScale="85000" lnSpcReduction="10000"/>
          </a:bodyPr>
          <a:lstStyle/>
          <a:p>
            <a:pPr>
              <a:lnSpc>
                <a:spcPct val="133000"/>
              </a:lnSpc>
            </a:pPr>
            <a:r>
              <a:rPr lang="en-US" sz="1600" dirty="0">
                <a:solidFill>
                  <a:srgbClr val="E5E0DF"/>
                </a:solidFill>
                <a:latin typeface="+mj-lt"/>
                <a:ea typeface="Barlow" pitchFamily="34" charset="-122"/>
                <a:cs typeface="Barlow" pitchFamily="34" charset="-120"/>
              </a:rPr>
              <a:t>UFW · Fail2Ban · ModSecurity · OWASP CRS · Cowrie</a:t>
            </a:r>
            <a:endParaRPr lang="en-US" sz="1600" dirty="0">
              <a:latin typeface="+mj-lt"/>
            </a:endParaRPr>
          </a:p>
        </p:txBody>
      </p:sp>
      <p:sp>
        <p:nvSpPr>
          <p:cNvPr id="18" name="Shape 14"/>
          <p:cNvSpPr/>
          <p:nvPr/>
        </p:nvSpPr>
        <p:spPr>
          <a:xfrm>
            <a:off x="9018589" y="3091458"/>
            <a:ext cx="2459732" cy="2245023"/>
          </a:xfrm>
          <a:prstGeom prst="roundRect">
            <a:avLst>
              <a:gd name="adj" fmla="val 3849"/>
            </a:avLst>
          </a:prstGeom>
          <a:solidFill>
            <a:srgbClr val="790709"/>
          </a:solidFill>
          <a:ln w="9525">
            <a:solidFill>
              <a:srgbClr val="922022"/>
            </a:solidFill>
            <a:prstDash val="solid"/>
          </a:ln>
        </p:spPr>
        <p:txBody>
          <a:bodyPr/>
          <a:lstStyle/>
          <a:p>
            <a:endParaRPr lang="en-US" sz="2400">
              <a:latin typeface="+mj-lt"/>
            </a:endParaRPr>
          </a:p>
        </p:txBody>
      </p:sp>
      <p:sp>
        <p:nvSpPr>
          <p:cNvPr id="19" name="Text 15"/>
          <p:cNvSpPr/>
          <p:nvPr/>
        </p:nvSpPr>
        <p:spPr>
          <a:xfrm>
            <a:off x="9236968" y="3309839"/>
            <a:ext cx="2022971" cy="285751"/>
          </a:xfrm>
          <a:prstGeom prst="rect">
            <a:avLst/>
          </a:prstGeom>
          <a:noFill/>
          <a:ln/>
        </p:spPr>
        <p:txBody>
          <a:bodyPr wrap="none" lIns="0" tIns="0" rIns="0" bIns="0" rtlCol="0" anchor="t"/>
          <a:lstStyle/>
          <a:p>
            <a:pPr>
              <a:lnSpc>
                <a:spcPct val="104000"/>
              </a:lnSpc>
            </a:pPr>
            <a:r>
              <a:rPr lang="en-US" dirty="0">
                <a:solidFill>
                  <a:srgbClr val="E5E0DF"/>
                </a:solidFill>
                <a:latin typeface="+mj-lt"/>
                <a:ea typeface="Barlow Medium" pitchFamily="34" charset="-122"/>
                <a:cs typeface="Barlow Medium" pitchFamily="34" charset="-120"/>
              </a:rPr>
              <a:t>Offense</a:t>
            </a:r>
            <a:endParaRPr lang="en-US" dirty="0">
              <a:latin typeface="+mj-lt"/>
            </a:endParaRPr>
          </a:p>
        </p:txBody>
      </p:sp>
      <p:sp>
        <p:nvSpPr>
          <p:cNvPr id="20" name="Text 16"/>
          <p:cNvSpPr/>
          <p:nvPr/>
        </p:nvSpPr>
        <p:spPr>
          <a:xfrm>
            <a:off x="9236968" y="3801270"/>
            <a:ext cx="2022971" cy="1316831"/>
          </a:xfrm>
          <a:prstGeom prst="rect">
            <a:avLst/>
          </a:prstGeom>
          <a:noFill/>
          <a:ln/>
        </p:spPr>
        <p:txBody>
          <a:bodyPr wrap="square" lIns="0" tIns="0" rIns="0" bIns="0" rtlCol="0" anchor="t">
            <a:normAutofit fontScale="92500" lnSpcReduction="20000"/>
          </a:bodyPr>
          <a:lstStyle/>
          <a:p>
            <a:pPr>
              <a:lnSpc>
                <a:spcPct val="133000"/>
              </a:lnSpc>
            </a:pPr>
            <a:r>
              <a:rPr lang="en-US" sz="1600" dirty="0">
                <a:solidFill>
                  <a:srgbClr val="E5E0DF"/>
                </a:solidFill>
                <a:latin typeface="+mj-lt"/>
                <a:ea typeface="Barlow" pitchFamily="34" charset="-122"/>
                <a:cs typeface="Barlow" pitchFamily="34" charset="-120"/>
              </a:rPr>
              <a:t>Nmap · </a:t>
            </a:r>
            <a:r>
              <a:rPr lang="en-US" sz="1600" dirty="0" err="1">
                <a:solidFill>
                  <a:srgbClr val="E5E0DF"/>
                </a:solidFill>
                <a:latin typeface="+mj-lt"/>
                <a:ea typeface="Barlow" pitchFamily="34" charset="-122"/>
                <a:cs typeface="Barlow" pitchFamily="34" charset="-120"/>
              </a:rPr>
              <a:t>Gobuster</a:t>
            </a:r>
            <a:r>
              <a:rPr lang="en-US" sz="1600" dirty="0">
                <a:solidFill>
                  <a:srgbClr val="E5E0DF"/>
                </a:solidFill>
                <a:latin typeface="+mj-lt"/>
                <a:ea typeface="Barlow" pitchFamily="34" charset="-122"/>
                <a:cs typeface="Barlow" pitchFamily="34" charset="-120"/>
              </a:rPr>
              <a:t> · </a:t>
            </a:r>
            <a:r>
              <a:rPr lang="en-US" sz="1600" dirty="0" err="1">
                <a:solidFill>
                  <a:srgbClr val="E5E0DF"/>
                </a:solidFill>
                <a:latin typeface="+mj-lt"/>
                <a:ea typeface="Barlow" pitchFamily="34" charset="-122"/>
                <a:cs typeface="Barlow" pitchFamily="34" charset="-120"/>
              </a:rPr>
              <a:t>Nikto</a:t>
            </a:r>
            <a:r>
              <a:rPr lang="en-US" sz="1600" dirty="0">
                <a:solidFill>
                  <a:srgbClr val="E5E0DF"/>
                </a:solidFill>
                <a:latin typeface="+mj-lt"/>
                <a:ea typeface="Barlow" pitchFamily="34" charset="-122"/>
                <a:cs typeface="Barlow" pitchFamily="34" charset="-120"/>
              </a:rPr>
              <a:t> · Burp Suite · Hydra · </a:t>
            </a:r>
            <a:r>
              <a:rPr lang="en-US" sz="1600" dirty="0" err="1">
                <a:solidFill>
                  <a:srgbClr val="E5E0DF"/>
                </a:solidFill>
                <a:latin typeface="+mj-lt"/>
                <a:ea typeface="Barlow" pitchFamily="34" charset="-122"/>
                <a:cs typeface="Barlow" pitchFamily="34" charset="-120"/>
              </a:rPr>
              <a:t>SQLMap</a:t>
            </a:r>
            <a:r>
              <a:rPr lang="en-US" sz="1600" dirty="0">
                <a:solidFill>
                  <a:srgbClr val="E5E0DF"/>
                </a:solidFill>
                <a:latin typeface="+mj-lt"/>
                <a:ea typeface="Barlow" pitchFamily="34" charset="-122"/>
                <a:cs typeface="Barlow" pitchFamily="34" charset="-120"/>
              </a:rPr>
              <a:t> · Metasploit · Wireshark</a:t>
            </a:r>
            <a:endParaRPr lang="en-US" sz="1600" dirty="0">
              <a:latin typeface="+mj-lt"/>
            </a:endParaRPr>
          </a:p>
        </p:txBody>
      </p:sp>
      <p:sp>
        <p:nvSpPr>
          <p:cNvPr id="23" name="Footer Placeholder 22">
            <a:extLst>
              <a:ext uri="{FF2B5EF4-FFF2-40B4-BE49-F238E27FC236}">
                <a16:creationId xmlns:a16="http://schemas.microsoft.com/office/drawing/2014/main" id="{154CF4C5-9A6A-101D-14EA-BACDD14FC936}"/>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24" name="Slide Number Placeholder 23">
            <a:extLst>
              <a:ext uri="{FF2B5EF4-FFF2-40B4-BE49-F238E27FC236}">
                <a16:creationId xmlns:a16="http://schemas.microsoft.com/office/drawing/2014/main" id="{912A1C2A-E55C-3AFE-CA16-96B225072432}"/>
              </a:ext>
            </a:extLst>
          </p:cNvPr>
          <p:cNvSpPr>
            <a:spLocks noGrp="1"/>
          </p:cNvSpPr>
          <p:nvPr>
            <p:ph type="sldNum" sz="quarter" idx="4"/>
          </p:nvPr>
        </p:nvSpPr>
        <p:spPr/>
        <p:txBody>
          <a:bodyPr/>
          <a:lstStyle/>
          <a:p>
            <a:fld id="{08D6B0A0-5113-456A-82B3-EA8CCD6D43D8}" type="slidenum">
              <a:rPr lang="en-US" smtClean="0">
                <a:latin typeface="+mj-lt"/>
              </a:rPr>
              <a:t>4</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3E7CD41-F77A-E4CC-C188-AB1F135CC944}"/>
              </a:ext>
            </a:extLst>
          </p:cNvPr>
          <p:cNvGrpSpPr/>
          <p:nvPr/>
        </p:nvGrpSpPr>
        <p:grpSpPr>
          <a:xfrm>
            <a:off x="6526912" y="168569"/>
            <a:ext cx="1517512" cy="419189"/>
            <a:chOff x="6434515" y="355695"/>
            <a:chExt cx="1345251" cy="359408"/>
          </a:xfrm>
        </p:grpSpPr>
        <p:sp>
          <p:nvSpPr>
            <p:cNvPr id="2" name="Shape 0"/>
            <p:cNvSpPr/>
            <p:nvPr/>
          </p:nvSpPr>
          <p:spPr>
            <a:xfrm>
              <a:off x="6434515" y="355695"/>
              <a:ext cx="1345251" cy="359408"/>
            </a:xfrm>
            <a:prstGeom prst="roundRect">
              <a:avLst>
                <a:gd name="adj" fmla="val 22118"/>
              </a:avLst>
            </a:prstGeom>
            <a:noFill/>
            <a:ln w="4763">
              <a:solidFill>
                <a:srgbClr val="F65F62"/>
              </a:solidFill>
              <a:prstDash val="solid"/>
            </a:ln>
          </p:spPr>
          <p:txBody>
            <a:bodyPr/>
            <a:lstStyle/>
            <a:p>
              <a:endParaRPr lang="en-US" sz="2400">
                <a:latin typeface="+mj-lt"/>
              </a:endParaRPr>
            </a:p>
          </p:txBody>
        </p:sp>
        <p:sp>
          <p:nvSpPr>
            <p:cNvPr id="3" name="Text 1"/>
            <p:cNvSpPr/>
            <p:nvPr/>
          </p:nvSpPr>
          <p:spPr>
            <a:xfrm>
              <a:off x="6555450" y="454039"/>
              <a:ext cx="1212593" cy="224134"/>
            </a:xfrm>
            <a:prstGeom prst="rect">
              <a:avLst/>
            </a:prstGeom>
            <a:noFill/>
            <a:ln/>
          </p:spPr>
          <p:txBody>
            <a:bodyPr wrap="none" lIns="0" tIns="0" rIns="0" bIns="0" rtlCol="0" anchor="t"/>
            <a:lstStyle/>
            <a:p>
              <a:pPr>
                <a:lnSpc>
                  <a:spcPct val="96000"/>
                </a:lnSpc>
              </a:pPr>
              <a:r>
                <a:rPr lang="en-US" sz="1200" dirty="0">
                  <a:solidFill>
                    <a:srgbClr val="F65F62"/>
                  </a:solidFill>
                  <a:latin typeface="+mj-lt"/>
                  <a:ea typeface="Barlow" pitchFamily="34" charset="-122"/>
                  <a:cs typeface="Barlow" pitchFamily="34" charset="-120"/>
                </a:rPr>
                <a:t>ARCHITECTURE</a:t>
              </a:r>
              <a:endParaRPr lang="en-US" sz="1200" dirty="0">
                <a:latin typeface="+mj-lt"/>
              </a:endParaRPr>
            </a:p>
          </p:txBody>
        </p:sp>
      </p:grpSp>
      <p:sp>
        <p:nvSpPr>
          <p:cNvPr id="4" name="Text 2"/>
          <p:cNvSpPr/>
          <p:nvPr/>
        </p:nvSpPr>
        <p:spPr>
          <a:xfrm>
            <a:off x="923779" y="449064"/>
            <a:ext cx="4799104" cy="359408"/>
          </a:xfrm>
          <a:prstGeom prst="rect">
            <a:avLst/>
          </a:prstGeom>
          <a:noFill/>
          <a:ln/>
        </p:spPr>
        <p:txBody>
          <a:bodyPr wrap="none" lIns="0" tIns="0" rIns="0" bIns="0" rtlCol="0" anchor="t"/>
          <a:lstStyle/>
          <a:p>
            <a:pPr>
              <a:lnSpc>
                <a:spcPct val="104000"/>
              </a:lnSpc>
            </a:pPr>
            <a:r>
              <a:rPr lang="en-US" sz="2400" dirty="0">
                <a:solidFill>
                  <a:srgbClr val="FFFFFF"/>
                </a:solidFill>
                <a:latin typeface="+mj-lt"/>
                <a:ea typeface="Barlow Medium" pitchFamily="34" charset="-122"/>
                <a:cs typeface="Barlow Medium" pitchFamily="34" charset="-120"/>
              </a:rPr>
              <a:t>Enterprise Laboratory Design</a:t>
            </a:r>
            <a:endParaRPr lang="en-US" sz="2400" dirty="0">
              <a:latin typeface="+mj-lt"/>
            </a:endParaRPr>
          </a:p>
        </p:txBody>
      </p:sp>
      <p:sp>
        <p:nvSpPr>
          <p:cNvPr id="6" name="Text 3"/>
          <p:cNvSpPr/>
          <p:nvPr/>
        </p:nvSpPr>
        <p:spPr>
          <a:xfrm>
            <a:off x="6696544" y="1247357"/>
            <a:ext cx="4347980" cy="406201"/>
          </a:xfrm>
          <a:prstGeom prst="rect">
            <a:avLst/>
          </a:prstGeom>
          <a:noFill/>
          <a:ln/>
        </p:spPr>
        <p:txBody>
          <a:bodyPr wrap="none" lIns="0" tIns="0" rIns="0" bIns="0" rtlCol="0" anchor="t"/>
          <a:lstStyle/>
          <a:p>
            <a:pPr>
              <a:lnSpc>
                <a:spcPct val="104000"/>
              </a:lnSpc>
            </a:pPr>
            <a:r>
              <a:rPr lang="en-US" sz="2400" dirty="0">
                <a:solidFill>
                  <a:srgbClr val="FFFFFF"/>
                </a:solidFill>
                <a:ea typeface="Barlow Medium" pitchFamily="34" charset="-122"/>
                <a:cs typeface="Barlow Medium" pitchFamily="34" charset="-120"/>
              </a:rPr>
              <a:t>Three</a:t>
            </a:r>
            <a:r>
              <a:rPr lang="ar-EG" sz="2400" dirty="0">
                <a:solidFill>
                  <a:srgbClr val="FFFFFF"/>
                </a:solidFill>
                <a:ea typeface="Barlow Medium" pitchFamily="34" charset="-122"/>
                <a:cs typeface="Barlow Medium" pitchFamily="34" charset="-120"/>
              </a:rPr>
              <a:t> </a:t>
            </a:r>
            <a:r>
              <a:rPr lang="en-US" sz="2400" dirty="0">
                <a:solidFill>
                  <a:srgbClr val="FFFFFF"/>
                </a:solidFill>
                <a:ea typeface="Barlow Medium" pitchFamily="34" charset="-122"/>
                <a:cs typeface="Barlow Medium" pitchFamily="34" charset="-120"/>
              </a:rPr>
              <a:t>VM Isolated Environment</a:t>
            </a:r>
            <a:endParaRPr lang="en-US" sz="2400" dirty="0"/>
          </a:p>
        </p:txBody>
      </p:sp>
      <p:sp>
        <p:nvSpPr>
          <p:cNvPr id="7" name="Text 4"/>
          <p:cNvSpPr/>
          <p:nvPr/>
        </p:nvSpPr>
        <p:spPr>
          <a:xfrm>
            <a:off x="6696544" y="1752159"/>
            <a:ext cx="5250557" cy="886265"/>
          </a:xfrm>
          <a:prstGeom prst="rect">
            <a:avLst/>
          </a:prstGeom>
          <a:noFill/>
          <a:ln/>
        </p:spPr>
        <p:txBody>
          <a:bodyPr wrap="square" lIns="0" tIns="0" rIns="0" bIns="0" rtlCol="0" anchor="t">
            <a:noAutofit/>
          </a:bodyPr>
          <a:lstStyle/>
          <a:p>
            <a:r>
              <a:rPr lang="en-US" sz="1600" dirty="0">
                <a:solidFill>
                  <a:srgbClr val="E5E0DF"/>
                </a:solidFill>
                <a:ea typeface="Barlow" pitchFamily="34" charset="-122"/>
                <a:cs typeface="Barlow" pitchFamily="34" charset="-120"/>
              </a:rPr>
              <a:t>All virtual machines communicate through a controlled VMware NAT network, fully isolated from production systems enabling safe, repeatable security testing.</a:t>
            </a:r>
            <a:endParaRPr lang="en-US" sz="1600" dirty="0"/>
          </a:p>
        </p:txBody>
      </p:sp>
      <p:sp>
        <p:nvSpPr>
          <p:cNvPr id="8" name="Text 5"/>
          <p:cNvSpPr/>
          <p:nvPr/>
        </p:nvSpPr>
        <p:spPr>
          <a:xfrm>
            <a:off x="6663024" y="2677970"/>
            <a:ext cx="5250557" cy="874856"/>
          </a:xfrm>
          <a:prstGeom prst="rect">
            <a:avLst/>
          </a:prstGeom>
          <a:noFill/>
          <a:ln/>
        </p:spPr>
        <p:txBody>
          <a:bodyPr wrap="square" lIns="0" tIns="0" rIns="0" bIns="0" rtlCol="0" anchor="t">
            <a:noAutofit/>
          </a:bodyPr>
          <a:lstStyle/>
          <a:p>
            <a:pPr marL="162556" indent="-162556">
              <a:buSzPct val="100000"/>
              <a:buChar char="•"/>
            </a:pPr>
            <a:r>
              <a:rPr lang="en-US" sz="1400" b="1" dirty="0">
                <a:solidFill>
                  <a:srgbClr val="E5E0DF"/>
                </a:solidFill>
                <a:ea typeface="Barlow Bold" pitchFamily="34" charset="-122"/>
                <a:cs typeface="Barlow Bold" pitchFamily="34" charset="-120"/>
              </a:rPr>
              <a:t>Kali Linux</a:t>
            </a:r>
            <a:r>
              <a:rPr lang="en-US" sz="1400" dirty="0">
                <a:solidFill>
                  <a:srgbClr val="E5E0DF"/>
                </a:solidFill>
                <a:ea typeface="Barlow" pitchFamily="34" charset="-122"/>
                <a:cs typeface="Barlow" pitchFamily="34" charset="-120"/>
              </a:rPr>
              <a:t> : Red team attack platform</a:t>
            </a:r>
            <a:endParaRPr lang="en-US" sz="1400" dirty="0"/>
          </a:p>
          <a:p>
            <a:pPr marL="162556" indent="-162556">
              <a:buSzPct val="100000"/>
              <a:buChar char="•"/>
            </a:pPr>
            <a:r>
              <a:rPr lang="en-US" sz="1400" b="1" dirty="0">
                <a:solidFill>
                  <a:srgbClr val="E5E0DF"/>
                </a:solidFill>
                <a:ea typeface="Barlow Bold" pitchFamily="34" charset="-122"/>
                <a:cs typeface="Barlow Bold" pitchFamily="34" charset="-120"/>
              </a:rPr>
              <a:t>Ubuntu Server</a:t>
            </a:r>
            <a:r>
              <a:rPr lang="en-US" sz="1400" dirty="0">
                <a:solidFill>
                  <a:srgbClr val="E5E0DF"/>
                </a:solidFill>
                <a:ea typeface="Barlow" pitchFamily="34" charset="-122"/>
                <a:cs typeface="Barlow" pitchFamily="34" charset="-120"/>
              </a:rPr>
              <a:t> : Hardened target with full service stack</a:t>
            </a:r>
            <a:endParaRPr lang="en-US" sz="1400" dirty="0"/>
          </a:p>
          <a:p>
            <a:pPr marL="162556" indent="-162556">
              <a:buSzPct val="100000"/>
              <a:buChar char="•"/>
            </a:pPr>
            <a:r>
              <a:rPr lang="en-US" sz="1400" b="1" dirty="0">
                <a:solidFill>
                  <a:srgbClr val="E5E0DF"/>
                </a:solidFill>
                <a:ea typeface="Barlow Bold" pitchFamily="34" charset="-122"/>
                <a:cs typeface="Barlow Bold" pitchFamily="34" charset="-120"/>
              </a:rPr>
              <a:t>Windows 11</a:t>
            </a:r>
            <a:r>
              <a:rPr lang="en-US" sz="1400" dirty="0">
                <a:solidFill>
                  <a:srgbClr val="E5E0DF"/>
                </a:solidFill>
                <a:ea typeface="Barlow" pitchFamily="34" charset="-122"/>
                <a:cs typeface="Barlow" pitchFamily="34" charset="-120"/>
              </a:rPr>
              <a:t> : Enterprise workstation simulation</a:t>
            </a:r>
            <a:endParaRPr lang="en-US" sz="1400" dirty="0"/>
          </a:p>
        </p:txBody>
      </p:sp>
      <p:sp>
        <p:nvSpPr>
          <p:cNvPr id="9" name="Shape 6"/>
          <p:cNvSpPr/>
          <p:nvPr/>
        </p:nvSpPr>
        <p:spPr>
          <a:xfrm>
            <a:off x="6696543" y="3664955"/>
            <a:ext cx="5423197" cy="521283"/>
          </a:xfrm>
          <a:prstGeom prst="roundRect">
            <a:avLst>
              <a:gd name="adj" fmla="val 15563"/>
            </a:avLst>
          </a:prstGeom>
          <a:solidFill>
            <a:srgbClr val="790709"/>
          </a:solidFill>
          <a:ln/>
        </p:spPr>
        <p:txBody>
          <a:bodyPr/>
          <a:lstStyle/>
          <a:p>
            <a:endParaRPr lang="en-US" sz="2400"/>
          </a:p>
        </p:txBody>
      </p:sp>
      <p:pic>
        <p:nvPicPr>
          <p:cNvPr id="10" name="Image 1" descr="preencoded.png"/>
          <p:cNvPicPr>
            <a:picLocks noChangeAspect="1"/>
          </p:cNvPicPr>
          <p:nvPr/>
        </p:nvPicPr>
        <p:blipFill>
          <a:blip r:embed="rId3"/>
          <a:stretch>
            <a:fillRect/>
          </a:stretch>
        </p:blipFill>
        <p:spPr>
          <a:xfrm>
            <a:off x="6734178" y="3714985"/>
            <a:ext cx="249930" cy="199790"/>
          </a:xfrm>
          <a:prstGeom prst="rect">
            <a:avLst/>
          </a:prstGeom>
        </p:spPr>
      </p:pic>
      <p:sp>
        <p:nvSpPr>
          <p:cNvPr id="11" name="Text 7"/>
          <p:cNvSpPr/>
          <p:nvPr/>
        </p:nvSpPr>
        <p:spPr>
          <a:xfrm>
            <a:off x="6984108" y="3704500"/>
            <a:ext cx="5423197" cy="481738"/>
          </a:xfrm>
          <a:prstGeom prst="rect">
            <a:avLst/>
          </a:prstGeom>
          <a:noFill/>
          <a:ln/>
        </p:spPr>
        <p:txBody>
          <a:bodyPr wrap="none" lIns="0" tIns="0" rIns="0" bIns="0" rtlCol="0" anchor="t"/>
          <a:lstStyle/>
          <a:p>
            <a:r>
              <a:rPr lang="en-US" sz="1400" dirty="0">
                <a:solidFill>
                  <a:srgbClr val="FFFFFF"/>
                </a:solidFill>
                <a:ea typeface="Barlow" pitchFamily="34" charset="-122"/>
                <a:cs typeface="Barlow" pitchFamily="34" charset="-120"/>
              </a:rPr>
              <a:t>Ubuntu Server hosts 9 security relevant services including DVWA,</a:t>
            </a:r>
            <a:br>
              <a:rPr lang="en-US" sz="1400" dirty="0">
                <a:solidFill>
                  <a:srgbClr val="FFFFFF"/>
                </a:solidFill>
                <a:ea typeface="Barlow" pitchFamily="34" charset="-122"/>
                <a:cs typeface="Barlow" pitchFamily="34" charset="-120"/>
              </a:rPr>
            </a:br>
            <a:r>
              <a:rPr lang="en-US" sz="1400" dirty="0">
                <a:solidFill>
                  <a:srgbClr val="FFFFFF"/>
                </a:solidFill>
                <a:ea typeface="Barlow" pitchFamily="34" charset="-122"/>
                <a:cs typeface="Barlow" pitchFamily="34" charset="-120"/>
              </a:rPr>
              <a:t> </a:t>
            </a:r>
            <a:r>
              <a:rPr lang="en-US" sz="1400" dirty="0" err="1">
                <a:solidFill>
                  <a:srgbClr val="FFFFFF"/>
                </a:solidFill>
                <a:ea typeface="Barlow" pitchFamily="34" charset="-122"/>
                <a:cs typeface="Barlow" pitchFamily="34" charset="-120"/>
              </a:rPr>
              <a:t>ModSecurity</a:t>
            </a:r>
            <a:r>
              <a:rPr lang="en-US" sz="1400" dirty="0">
                <a:solidFill>
                  <a:srgbClr val="FFFFFF"/>
                </a:solidFill>
                <a:ea typeface="Barlow" pitchFamily="34" charset="-122"/>
                <a:cs typeface="Barlow" pitchFamily="34" charset="-120"/>
              </a:rPr>
              <a:t>, WAF, and Cowrie honeypot.</a:t>
            </a:r>
            <a:endParaRPr lang="en-US" sz="1400" dirty="0"/>
          </a:p>
        </p:txBody>
      </p:sp>
      <p:pic>
        <p:nvPicPr>
          <p:cNvPr id="15" name="Picture 14">
            <a:extLst>
              <a:ext uri="{FF2B5EF4-FFF2-40B4-BE49-F238E27FC236}">
                <a16:creationId xmlns:a16="http://schemas.microsoft.com/office/drawing/2014/main" id="{E406B334-5653-8BB4-6CF4-DA03C10CB9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261" y="859222"/>
            <a:ext cx="6454648" cy="5497128"/>
          </a:xfrm>
          <a:prstGeom prst="rect">
            <a:avLst/>
          </a:prstGeom>
        </p:spPr>
      </p:pic>
      <p:sp>
        <p:nvSpPr>
          <p:cNvPr id="5" name="Footer Placeholder 4">
            <a:extLst>
              <a:ext uri="{FF2B5EF4-FFF2-40B4-BE49-F238E27FC236}">
                <a16:creationId xmlns:a16="http://schemas.microsoft.com/office/drawing/2014/main" id="{22F4A99E-B468-95BE-D726-0EA57964A63A}"/>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4" name="Slide Number Placeholder 13">
            <a:extLst>
              <a:ext uri="{FF2B5EF4-FFF2-40B4-BE49-F238E27FC236}">
                <a16:creationId xmlns:a16="http://schemas.microsoft.com/office/drawing/2014/main" id="{B548250E-25EE-600B-A275-E667085549BA}"/>
              </a:ext>
            </a:extLst>
          </p:cNvPr>
          <p:cNvSpPr>
            <a:spLocks noGrp="1"/>
          </p:cNvSpPr>
          <p:nvPr>
            <p:ph type="sldNum" sz="quarter" idx="4"/>
          </p:nvPr>
        </p:nvSpPr>
        <p:spPr/>
        <p:txBody>
          <a:bodyPr/>
          <a:lstStyle/>
          <a:p>
            <a:fld id="{08D6B0A0-5113-456A-82B3-EA8CCD6D43D8}" type="slidenum">
              <a:rPr lang="en-US" smtClean="0">
                <a:latin typeface="+mj-lt"/>
              </a:rPr>
              <a:t>5</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628029" y="174769"/>
            <a:ext cx="1882921" cy="199221"/>
          </a:xfrm>
          <a:prstGeom prst="roundRect">
            <a:avLst>
              <a:gd name="adj" fmla="val 22118"/>
            </a:avLst>
          </a:prstGeom>
          <a:noFill/>
          <a:ln w="4763">
            <a:solidFill>
              <a:srgbClr val="F65F62"/>
            </a:solidFill>
            <a:prstDash val="solid"/>
          </a:ln>
        </p:spPr>
        <p:txBody>
          <a:bodyPr/>
          <a:lstStyle/>
          <a:p>
            <a:endParaRPr lang="en-US" sz="2400">
              <a:latin typeface="+mj-lt"/>
            </a:endParaRPr>
          </a:p>
        </p:txBody>
      </p:sp>
      <p:sp>
        <p:nvSpPr>
          <p:cNvPr id="3" name="Text 1"/>
          <p:cNvSpPr/>
          <p:nvPr/>
        </p:nvSpPr>
        <p:spPr>
          <a:xfrm>
            <a:off x="1771069" y="204882"/>
            <a:ext cx="1660888" cy="217808"/>
          </a:xfrm>
          <a:prstGeom prst="rect">
            <a:avLst/>
          </a:prstGeom>
          <a:noFill/>
          <a:ln/>
        </p:spPr>
        <p:txBody>
          <a:bodyPr wrap="none" lIns="0" tIns="0" rIns="0" bIns="0" rtlCol="0" anchor="t"/>
          <a:lstStyle/>
          <a:p>
            <a:pPr>
              <a:lnSpc>
                <a:spcPct val="96000"/>
              </a:lnSpc>
            </a:pPr>
            <a:r>
              <a:rPr lang="en-US" sz="1100" dirty="0">
                <a:solidFill>
                  <a:srgbClr val="F65F62"/>
                </a:solidFill>
                <a:latin typeface="+mj-lt"/>
                <a:ea typeface="Barlow" pitchFamily="34" charset="-122"/>
                <a:cs typeface="Barlow" pitchFamily="34" charset="-120"/>
              </a:rPr>
              <a:t>NETWORK TOPOLOGY</a:t>
            </a:r>
            <a:endParaRPr lang="en-US" sz="1100" dirty="0">
              <a:latin typeface="+mj-lt"/>
            </a:endParaRPr>
          </a:p>
        </p:txBody>
      </p:sp>
      <p:sp>
        <p:nvSpPr>
          <p:cNvPr id="4" name="Text 2"/>
          <p:cNvSpPr/>
          <p:nvPr/>
        </p:nvSpPr>
        <p:spPr>
          <a:xfrm>
            <a:off x="863804" y="452802"/>
            <a:ext cx="2864741" cy="285751"/>
          </a:xfrm>
          <a:prstGeom prst="rect">
            <a:avLst/>
          </a:prstGeom>
          <a:noFill/>
          <a:ln/>
        </p:spPr>
        <p:txBody>
          <a:bodyPr wrap="none" lIns="0" tIns="0" rIns="0" bIns="0" rtlCol="0" anchor="t"/>
          <a:lstStyle/>
          <a:p>
            <a:pPr>
              <a:lnSpc>
                <a:spcPct val="104000"/>
              </a:lnSpc>
            </a:pPr>
            <a:r>
              <a:rPr lang="en-US" dirty="0">
                <a:solidFill>
                  <a:srgbClr val="FFFFFF"/>
                </a:solidFill>
                <a:latin typeface="+mj-lt"/>
                <a:ea typeface="Barlow Medium" pitchFamily="34" charset="-122"/>
                <a:cs typeface="Barlow Medium" pitchFamily="34" charset="-120"/>
              </a:rPr>
              <a:t>Secure Laboratory Network</a:t>
            </a:r>
            <a:endParaRPr lang="en-US" dirty="0">
              <a:latin typeface="+mj-lt"/>
            </a:endParaRPr>
          </a:p>
        </p:txBody>
      </p:sp>
      <p:sp>
        <p:nvSpPr>
          <p:cNvPr id="13" name="Text 10"/>
          <p:cNvSpPr/>
          <p:nvPr/>
        </p:nvSpPr>
        <p:spPr>
          <a:xfrm>
            <a:off x="1937082" y="4923582"/>
            <a:ext cx="8317833" cy="533836"/>
          </a:xfrm>
          <a:prstGeom prst="rect">
            <a:avLst/>
          </a:prstGeom>
          <a:noFill/>
          <a:ln/>
        </p:spPr>
        <p:txBody>
          <a:bodyPr wrap="none" lIns="0" tIns="0" rIns="0" bIns="0" rtlCol="0" anchor="t"/>
          <a:lstStyle/>
          <a:p>
            <a:r>
              <a:rPr lang="en-US" sz="1400" dirty="0">
                <a:solidFill>
                  <a:srgbClr val="E5E0DF"/>
                </a:solidFill>
                <a:latin typeface="+mj-lt"/>
                <a:ea typeface="Barlow" pitchFamily="34" charset="-122"/>
                <a:cs typeface="Barlow" pitchFamily="34" charset="-120"/>
              </a:rPr>
              <a:t>All VMs operate within an isolated VMware NAT segment enabling controlled communication, </a:t>
            </a:r>
            <a:br>
              <a:rPr lang="en-US" sz="1400" dirty="0">
                <a:solidFill>
                  <a:srgbClr val="E5E0DF"/>
                </a:solidFill>
                <a:latin typeface="+mj-lt"/>
                <a:ea typeface="Barlow" pitchFamily="34" charset="-122"/>
                <a:cs typeface="Barlow" pitchFamily="34" charset="-120"/>
              </a:rPr>
            </a:br>
            <a:r>
              <a:rPr lang="en-US" sz="1400" dirty="0">
                <a:solidFill>
                  <a:srgbClr val="E5E0DF"/>
                </a:solidFill>
                <a:latin typeface="+mj-lt"/>
                <a:ea typeface="Barlow" pitchFamily="34" charset="-122"/>
                <a:cs typeface="Barlow" pitchFamily="34" charset="-120"/>
              </a:rPr>
              <a:t>safe penetration testing, and enterprise</a:t>
            </a:r>
            <a:r>
              <a:rPr lang="ar-EG" sz="1400" dirty="0">
                <a:solidFill>
                  <a:srgbClr val="E5E0DF"/>
                </a:solidFill>
                <a:latin typeface="+mj-lt"/>
                <a:ea typeface="Barlow" pitchFamily="34" charset="-122"/>
                <a:cs typeface="Barlow" pitchFamily="34" charset="-120"/>
              </a:rPr>
              <a:t> </a:t>
            </a:r>
            <a:r>
              <a:rPr lang="en-US" sz="1400" dirty="0">
                <a:solidFill>
                  <a:srgbClr val="E5E0DF"/>
                </a:solidFill>
                <a:latin typeface="+mj-lt"/>
                <a:ea typeface="Barlow" pitchFamily="34" charset="-122"/>
                <a:cs typeface="Barlow" pitchFamily="34" charset="-120"/>
              </a:rPr>
              <a:t>style network layout with fully repeatable deployment.</a:t>
            </a:r>
            <a:endParaRPr lang="en-US" sz="1400" dirty="0">
              <a:latin typeface="+mj-lt"/>
            </a:endParaRPr>
          </a:p>
        </p:txBody>
      </p:sp>
      <p:grpSp>
        <p:nvGrpSpPr>
          <p:cNvPr id="83" name="Group 82">
            <a:extLst>
              <a:ext uri="{FF2B5EF4-FFF2-40B4-BE49-F238E27FC236}">
                <a16:creationId xmlns:a16="http://schemas.microsoft.com/office/drawing/2014/main" id="{41028E23-84F4-30F5-7C4E-359DA25A9893}"/>
              </a:ext>
            </a:extLst>
          </p:cNvPr>
          <p:cNvGrpSpPr/>
          <p:nvPr/>
        </p:nvGrpSpPr>
        <p:grpSpPr>
          <a:xfrm>
            <a:off x="755250" y="5532895"/>
            <a:ext cx="10694202" cy="767172"/>
            <a:chOff x="540023" y="5096247"/>
            <a:chExt cx="8063954" cy="532209"/>
          </a:xfrm>
        </p:grpSpPr>
        <p:sp>
          <p:nvSpPr>
            <p:cNvPr id="56" name="Shape 11">
              <a:extLst>
                <a:ext uri="{FF2B5EF4-FFF2-40B4-BE49-F238E27FC236}">
                  <a16:creationId xmlns:a16="http://schemas.microsoft.com/office/drawing/2014/main" id="{529C0BAD-8D78-52A2-159E-61793A0B5147}"/>
                </a:ext>
              </a:extLst>
            </p:cNvPr>
            <p:cNvSpPr/>
            <p:nvPr/>
          </p:nvSpPr>
          <p:spPr>
            <a:xfrm>
              <a:off x="540023" y="5096247"/>
              <a:ext cx="8063954" cy="532209"/>
            </a:xfrm>
            <a:prstGeom prst="roundRect">
              <a:avLst>
                <a:gd name="adj" fmla="val 6089"/>
              </a:avLst>
            </a:prstGeom>
            <a:solidFill>
              <a:srgbClr val="790709"/>
            </a:solidFill>
            <a:ln w="4763">
              <a:solidFill>
                <a:srgbClr val="922022"/>
              </a:solidFill>
              <a:prstDash val="solid"/>
            </a:ln>
          </p:spPr>
          <p:txBody>
            <a:bodyPr/>
            <a:lstStyle/>
            <a:p>
              <a:endParaRPr lang="en-US">
                <a:latin typeface="+mj-lt"/>
              </a:endParaRPr>
            </a:p>
          </p:txBody>
        </p:sp>
        <p:sp>
          <p:nvSpPr>
            <p:cNvPr id="58" name="Shape 12">
              <a:extLst>
                <a:ext uri="{FF2B5EF4-FFF2-40B4-BE49-F238E27FC236}">
                  <a16:creationId xmlns:a16="http://schemas.microsoft.com/office/drawing/2014/main" id="{E5FF653C-F154-32C0-1946-10616778EB34}"/>
                </a:ext>
              </a:extLst>
            </p:cNvPr>
            <p:cNvSpPr/>
            <p:nvPr/>
          </p:nvSpPr>
          <p:spPr>
            <a:xfrm>
              <a:off x="544785" y="5101010"/>
              <a:ext cx="4027215" cy="261342"/>
            </a:xfrm>
            <a:prstGeom prst="rect">
              <a:avLst/>
            </a:prstGeom>
            <a:solidFill>
              <a:srgbClr val="790709"/>
            </a:solidFill>
            <a:ln/>
          </p:spPr>
          <p:txBody>
            <a:bodyPr/>
            <a:lstStyle/>
            <a:p>
              <a:endParaRPr lang="en-US" dirty="0">
                <a:latin typeface="+mj-lt"/>
              </a:endParaRPr>
            </a:p>
          </p:txBody>
        </p:sp>
        <p:sp>
          <p:nvSpPr>
            <p:cNvPr id="60" name="Text 13">
              <a:extLst>
                <a:ext uri="{FF2B5EF4-FFF2-40B4-BE49-F238E27FC236}">
                  <a16:creationId xmlns:a16="http://schemas.microsoft.com/office/drawing/2014/main" id="{92A80A9C-03CA-195E-A200-CD559A8E2B4E}"/>
                </a:ext>
              </a:extLst>
            </p:cNvPr>
            <p:cNvSpPr/>
            <p:nvPr/>
          </p:nvSpPr>
          <p:spPr>
            <a:xfrm>
              <a:off x="621878" y="5110535"/>
              <a:ext cx="3873029" cy="174724"/>
            </a:xfrm>
            <a:prstGeom prst="rect">
              <a:avLst/>
            </a:prstGeom>
            <a:noFill/>
            <a:ln/>
          </p:spPr>
          <p:txBody>
            <a:bodyPr wrap="none" lIns="0" tIns="0" rIns="0" bIns="0" rtlCol="0" anchor="t"/>
            <a:lstStyle/>
            <a:p>
              <a:pPr marL="0" indent="0" algn="l">
                <a:lnSpc>
                  <a:spcPct val="104000"/>
                </a:lnSpc>
                <a:buNone/>
              </a:pPr>
              <a:r>
                <a:rPr lang="en-US" dirty="0">
                  <a:solidFill>
                    <a:srgbClr val="E5E0DF"/>
                  </a:solidFill>
                  <a:latin typeface="+mj-lt"/>
                  <a:ea typeface="Barlow Medium" pitchFamily="34" charset="-122"/>
                  <a:cs typeface="Barlow Medium" pitchFamily="34" charset="-120"/>
                </a:rPr>
                <a:t>Controlled Communication</a:t>
              </a:r>
              <a:endParaRPr lang="en-US" dirty="0">
                <a:latin typeface="+mj-lt"/>
              </a:endParaRPr>
            </a:p>
          </p:txBody>
        </p:sp>
        <p:sp>
          <p:nvSpPr>
            <p:cNvPr id="62" name="Shape 14">
              <a:extLst>
                <a:ext uri="{FF2B5EF4-FFF2-40B4-BE49-F238E27FC236}">
                  <a16:creationId xmlns:a16="http://schemas.microsoft.com/office/drawing/2014/main" id="{9EE27E94-3253-3096-C618-B4866FB86873}"/>
                </a:ext>
              </a:extLst>
            </p:cNvPr>
            <p:cNvSpPr/>
            <p:nvPr/>
          </p:nvSpPr>
          <p:spPr>
            <a:xfrm>
              <a:off x="4572000" y="5101010"/>
              <a:ext cx="4027215" cy="261342"/>
            </a:xfrm>
            <a:prstGeom prst="rect">
              <a:avLst/>
            </a:prstGeom>
            <a:solidFill>
              <a:srgbClr val="790709"/>
            </a:solidFill>
            <a:ln/>
          </p:spPr>
          <p:txBody>
            <a:bodyPr/>
            <a:lstStyle/>
            <a:p>
              <a:endParaRPr lang="en-US">
                <a:latin typeface="+mj-lt"/>
              </a:endParaRPr>
            </a:p>
          </p:txBody>
        </p:sp>
        <p:sp>
          <p:nvSpPr>
            <p:cNvPr id="64" name="Shape 15">
              <a:extLst>
                <a:ext uri="{FF2B5EF4-FFF2-40B4-BE49-F238E27FC236}">
                  <a16:creationId xmlns:a16="http://schemas.microsoft.com/office/drawing/2014/main" id="{22108D87-7D7E-43E2-1EF7-D040F6A93716}"/>
                </a:ext>
              </a:extLst>
            </p:cNvPr>
            <p:cNvSpPr/>
            <p:nvPr/>
          </p:nvSpPr>
          <p:spPr>
            <a:xfrm>
              <a:off x="4572000" y="5101010"/>
              <a:ext cx="9525" cy="261342"/>
            </a:xfrm>
            <a:prstGeom prst="roundRect">
              <a:avLst>
                <a:gd name="adj" fmla="val 340200"/>
              </a:avLst>
            </a:prstGeom>
            <a:solidFill>
              <a:srgbClr val="922022"/>
            </a:solidFill>
            <a:ln/>
          </p:spPr>
          <p:txBody>
            <a:bodyPr/>
            <a:lstStyle/>
            <a:p>
              <a:endParaRPr lang="en-US">
                <a:latin typeface="+mj-lt"/>
              </a:endParaRPr>
            </a:p>
          </p:txBody>
        </p:sp>
        <p:sp>
          <p:nvSpPr>
            <p:cNvPr id="66" name="Text 16">
              <a:extLst>
                <a:ext uri="{FF2B5EF4-FFF2-40B4-BE49-F238E27FC236}">
                  <a16:creationId xmlns:a16="http://schemas.microsoft.com/office/drawing/2014/main" id="{18D68371-BD83-A523-46EF-A005D1D88A70}"/>
                </a:ext>
              </a:extLst>
            </p:cNvPr>
            <p:cNvSpPr/>
            <p:nvPr/>
          </p:nvSpPr>
          <p:spPr>
            <a:xfrm>
              <a:off x="4639515" y="5136330"/>
              <a:ext cx="3873029" cy="107156"/>
            </a:xfrm>
            <a:prstGeom prst="rect">
              <a:avLst/>
            </a:prstGeom>
            <a:noFill/>
            <a:ln/>
          </p:spPr>
          <p:txBody>
            <a:bodyPr wrap="none" lIns="0" tIns="0" rIns="0" bIns="0" rtlCol="0" anchor="t"/>
            <a:lstStyle/>
            <a:p>
              <a:pPr marL="0" indent="0" algn="l">
                <a:lnSpc>
                  <a:spcPct val="104000"/>
                </a:lnSpc>
                <a:buNone/>
              </a:pPr>
              <a:r>
                <a:rPr lang="en-US" dirty="0">
                  <a:solidFill>
                    <a:srgbClr val="E5E0DF"/>
                  </a:solidFill>
                  <a:latin typeface="+mj-lt"/>
                  <a:ea typeface="Barlow Medium" pitchFamily="34" charset="-122"/>
                  <a:cs typeface="Barlow Medium" pitchFamily="34" charset="-120"/>
                </a:rPr>
                <a:t>Safe Testing Environment</a:t>
              </a:r>
              <a:endParaRPr lang="en-US" dirty="0">
                <a:latin typeface="+mj-lt"/>
              </a:endParaRPr>
            </a:p>
          </p:txBody>
        </p:sp>
        <p:sp>
          <p:nvSpPr>
            <p:cNvPr id="68" name="Shape 17">
              <a:extLst>
                <a:ext uri="{FF2B5EF4-FFF2-40B4-BE49-F238E27FC236}">
                  <a16:creationId xmlns:a16="http://schemas.microsoft.com/office/drawing/2014/main" id="{BA6ADADB-83FC-6382-9148-C051CDDE16A9}"/>
                </a:ext>
              </a:extLst>
            </p:cNvPr>
            <p:cNvSpPr/>
            <p:nvPr/>
          </p:nvSpPr>
          <p:spPr>
            <a:xfrm>
              <a:off x="544784" y="5362352"/>
              <a:ext cx="4027215" cy="261342"/>
            </a:xfrm>
            <a:prstGeom prst="rect">
              <a:avLst/>
            </a:prstGeom>
            <a:solidFill>
              <a:srgbClr val="790709"/>
            </a:solidFill>
            <a:ln/>
          </p:spPr>
          <p:txBody>
            <a:bodyPr/>
            <a:lstStyle/>
            <a:p>
              <a:endParaRPr lang="en-US">
                <a:latin typeface="+mj-lt"/>
              </a:endParaRPr>
            </a:p>
          </p:txBody>
        </p:sp>
        <p:sp>
          <p:nvSpPr>
            <p:cNvPr id="70" name="Shape 18">
              <a:extLst>
                <a:ext uri="{FF2B5EF4-FFF2-40B4-BE49-F238E27FC236}">
                  <a16:creationId xmlns:a16="http://schemas.microsoft.com/office/drawing/2014/main" id="{B97475D5-398D-2721-D82B-A4D616DC4C77}"/>
                </a:ext>
              </a:extLst>
            </p:cNvPr>
            <p:cNvSpPr/>
            <p:nvPr/>
          </p:nvSpPr>
          <p:spPr>
            <a:xfrm>
              <a:off x="544785" y="5362352"/>
              <a:ext cx="4027215" cy="9525"/>
            </a:xfrm>
            <a:prstGeom prst="roundRect">
              <a:avLst>
                <a:gd name="adj" fmla="val 340200"/>
              </a:avLst>
            </a:prstGeom>
            <a:solidFill>
              <a:srgbClr val="922022"/>
            </a:solidFill>
            <a:ln/>
          </p:spPr>
          <p:txBody>
            <a:bodyPr/>
            <a:lstStyle/>
            <a:p>
              <a:endParaRPr lang="en-US">
                <a:latin typeface="+mj-lt"/>
              </a:endParaRPr>
            </a:p>
          </p:txBody>
        </p:sp>
        <p:sp>
          <p:nvSpPr>
            <p:cNvPr id="72" name="Text 19">
              <a:extLst>
                <a:ext uri="{FF2B5EF4-FFF2-40B4-BE49-F238E27FC236}">
                  <a16:creationId xmlns:a16="http://schemas.microsoft.com/office/drawing/2014/main" id="{B772ED49-DF9E-6F61-0DA1-7A667CE1055A}"/>
                </a:ext>
              </a:extLst>
            </p:cNvPr>
            <p:cNvSpPr/>
            <p:nvPr/>
          </p:nvSpPr>
          <p:spPr>
            <a:xfrm>
              <a:off x="621878" y="5409525"/>
              <a:ext cx="3873029" cy="107156"/>
            </a:xfrm>
            <a:prstGeom prst="rect">
              <a:avLst/>
            </a:prstGeom>
            <a:noFill/>
            <a:ln/>
          </p:spPr>
          <p:txBody>
            <a:bodyPr wrap="none" lIns="0" tIns="0" rIns="0" bIns="0" rtlCol="0" anchor="t"/>
            <a:lstStyle/>
            <a:p>
              <a:pPr marL="0" indent="0" algn="l">
                <a:lnSpc>
                  <a:spcPct val="104000"/>
                </a:lnSpc>
                <a:buNone/>
              </a:pPr>
              <a:r>
                <a:rPr lang="en-US" dirty="0">
                  <a:solidFill>
                    <a:srgbClr val="E5E0DF"/>
                  </a:solidFill>
                  <a:latin typeface="+mj-lt"/>
                  <a:ea typeface="Barlow Medium" pitchFamily="34" charset="-122"/>
                  <a:cs typeface="Barlow Medium" pitchFamily="34" charset="-120"/>
                </a:rPr>
                <a:t>Enterprise Layout</a:t>
              </a:r>
              <a:endParaRPr lang="en-US" dirty="0">
                <a:latin typeface="+mj-lt"/>
              </a:endParaRPr>
            </a:p>
          </p:txBody>
        </p:sp>
        <p:sp>
          <p:nvSpPr>
            <p:cNvPr id="74" name="Shape 20">
              <a:extLst>
                <a:ext uri="{FF2B5EF4-FFF2-40B4-BE49-F238E27FC236}">
                  <a16:creationId xmlns:a16="http://schemas.microsoft.com/office/drawing/2014/main" id="{7B4B5EE4-355F-A54F-36CF-DD95CAC868A2}"/>
                </a:ext>
              </a:extLst>
            </p:cNvPr>
            <p:cNvSpPr/>
            <p:nvPr/>
          </p:nvSpPr>
          <p:spPr>
            <a:xfrm>
              <a:off x="4572000" y="5362352"/>
              <a:ext cx="4027215" cy="261342"/>
            </a:xfrm>
            <a:prstGeom prst="rect">
              <a:avLst/>
            </a:prstGeom>
            <a:solidFill>
              <a:srgbClr val="790709"/>
            </a:solidFill>
            <a:ln/>
          </p:spPr>
          <p:txBody>
            <a:bodyPr/>
            <a:lstStyle/>
            <a:p>
              <a:endParaRPr lang="en-US">
                <a:latin typeface="+mj-lt"/>
              </a:endParaRPr>
            </a:p>
          </p:txBody>
        </p:sp>
        <p:sp>
          <p:nvSpPr>
            <p:cNvPr id="76" name="Shape 21">
              <a:extLst>
                <a:ext uri="{FF2B5EF4-FFF2-40B4-BE49-F238E27FC236}">
                  <a16:creationId xmlns:a16="http://schemas.microsoft.com/office/drawing/2014/main" id="{E649D20A-996A-9E17-3435-CD4822907EE1}"/>
                </a:ext>
              </a:extLst>
            </p:cNvPr>
            <p:cNvSpPr/>
            <p:nvPr/>
          </p:nvSpPr>
          <p:spPr>
            <a:xfrm>
              <a:off x="4572000" y="5362352"/>
              <a:ext cx="9525" cy="261342"/>
            </a:xfrm>
            <a:prstGeom prst="roundRect">
              <a:avLst>
                <a:gd name="adj" fmla="val 340200"/>
              </a:avLst>
            </a:prstGeom>
            <a:solidFill>
              <a:srgbClr val="922022"/>
            </a:solidFill>
            <a:ln/>
          </p:spPr>
          <p:txBody>
            <a:bodyPr/>
            <a:lstStyle/>
            <a:p>
              <a:endParaRPr lang="en-US">
                <a:latin typeface="+mj-lt"/>
              </a:endParaRPr>
            </a:p>
          </p:txBody>
        </p:sp>
        <p:sp>
          <p:nvSpPr>
            <p:cNvPr id="78" name="Shape 22">
              <a:extLst>
                <a:ext uri="{FF2B5EF4-FFF2-40B4-BE49-F238E27FC236}">
                  <a16:creationId xmlns:a16="http://schemas.microsoft.com/office/drawing/2014/main" id="{962CDB8C-8BE9-D365-82A0-13DC6D1F4689}"/>
                </a:ext>
              </a:extLst>
            </p:cNvPr>
            <p:cNvSpPr/>
            <p:nvPr/>
          </p:nvSpPr>
          <p:spPr>
            <a:xfrm>
              <a:off x="4572000" y="5362352"/>
              <a:ext cx="4027215" cy="9525"/>
            </a:xfrm>
            <a:prstGeom prst="roundRect">
              <a:avLst>
                <a:gd name="adj" fmla="val 340200"/>
              </a:avLst>
            </a:prstGeom>
            <a:solidFill>
              <a:srgbClr val="922022"/>
            </a:solidFill>
            <a:ln/>
          </p:spPr>
          <p:txBody>
            <a:bodyPr/>
            <a:lstStyle/>
            <a:p>
              <a:endParaRPr lang="en-US">
                <a:latin typeface="+mj-lt"/>
              </a:endParaRPr>
            </a:p>
          </p:txBody>
        </p:sp>
        <p:sp>
          <p:nvSpPr>
            <p:cNvPr id="80" name="Text 23">
              <a:extLst>
                <a:ext uri="{FF2B5EF4-FFF2-40B4-BE49-F238E27FC236}">
                  <a16:creationId xmlns:a16="http://schemas.microsoft.com/office/drawing/2014/main" id="{53B11CA8-8C4B-3768-ADBD-B970401F1F65}"/>
                </a:ext>
              </a:extLst>
            </p:cNvPr>
            <p:cNvSpPr/>
            <p:nvPr/>
          </p:nvSpPr>
          <p:spPr>
            <a:xfrm>
              <a:off x="4649093" y="5421493"/>
              <a:ext cx="3873029" cy="107156"/>
            </a:xfrm>
            <a:prstGeom prst="rect">
              <a:avLst/>
            </a:prstGeom>
            <a:noFill/>
            <a:ln/>
          </p:spPr>
          <p:txBody>
            <a:bodyPr wrap="none" lIns="0" tIns="0" rIns="0" bIns="0" rtlCol="0" anchor="t"/>
            <a:lstStyle/>
            <a:p>
              <a:pPr marL="0" indent="0" algn="l">
                <a:lnSpc>
                  <a:spcPct val="104000"/>
                </a:lnSpc>
                <a:buNone/>
              </a:pPr>
              <a:r>
                <a:rPr lang="en-US" dirty="0">
                  <a:solidFill>
                    <a:srgbClr val="E5E0DF"/>
                  </a:solidFill>
                  <a:latin typeface="+mj-lt"/>
                  <a:ea typeface="Barlow Medium" pitchFamily="34" charset="-122"/>
                  <a:cs typeface="Barlow Medium" pitchFamily="34" charset="-120"/>
                </a:rPr>
                <a:t>Repeatable Deployment</a:t>
              </a:r>
              <a:endParaRPr lang="en-US" dirty="0">
                <a:latin typeface="+mj-lt"/>
              </a:endParaRPr>
            </a:p>
          </p:txBody>
        </p:sp>
      </p:grpSp>
      <p:pic>
        <p:nvPicPr>
          <p:cNvPr id="85" name="Picture 84">
            <a:extLst>
              <a:ext uri="{FF2B5EF4-FFF2-40B4-BE49-F238E27FC236}">
                <a16:creationId xmlns:a16="http://schemas.microsoft.com/office/drawing/2014/main" id="{85AB1CE4-1DF3-FA56-4EAA-E086185A8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75" y="814031"/>
            <a:ext cx="11830050" cy="4034073"/>
          </a:xfrm>
          <a:prstGeom prst="rect">
            <a:avLst/>
          </a:prstGeom>
        </p:spPr>
      </p:pic>
      <p:sp>
        <p:nvSpPr>
          <p:cNvPr id="5" name="Footer Placeholder 4">
            <a:extLst>
              <a:ext uri="{FF2B5EF4-FFF2-40B4-BE49-F238E27FC236}">
                <a16:creationId xmlns:a16="http://schemas.microsoft.com/office/drawing/2014/main" id="{D35AB67C-C117-8970-A8DA-BC7274801CC6}"/>
              </a:ext>
            </a:extLst>
          </p:cNvPr>
          <p:cNvSpPr>
            <a:spLocks noGrp="1"/>
          </p:cNvSpPr>
          <p:nvPr>
            <p:ph type="ftr" sz="quarter" idx="3"/>
          </p:nvPr>
        </p:nvSpPr>
        <p:spPr/>
        <p:txBody>
          <a:bodyPr/>
          <a:lstStyle/>
          <a:p>
            <a:r>
              <a:rPr lang="en-US" dirty="0">
                <a:latin typeface="+mj-lt"/>
              </a:rPr>
              <a:t>Zero Trace Imperium</a:t>
            </a:r>
          </a:p>
        </p:txBody>
      </p:sp>
      <p:sp>
        <p:nvSpPr>
          <p:cNvPr id="6" name="Slide Number Placeholder 5">
            <a:extLst>
              <a:ext uri="{FF2B5EF4-FFF2-40B4-BE49-F238E27FC236}">
                <a16:creationId xmlns:a16="http://schemas.microsoft.com/office/drawing/2014/main" id="{D3F9062A-7A26-57B5-E7E6-F3E9D7473A71}"/>
              </a:ext>
            </a:extLst>
          </p:cNvPr>
          <p:cNvSpPr>
            <a:spLocks noGrp="1"/>
          </p:cNvSpPr>
          <p:nvPr>
            <p:ph type="sldNum" sz="quarter" idx="4"/>
          </p:nvPr>
        </p:nvSpPr>
        <p:spPr/>
        <p:txBody>
          <a:bodyPr/>
          <a:lstStyle/>
          <a:p>
            <a:fld id="{08D6B0A0-5113-456A-82B3-EA8CCD6D43D8}" type="slidenum">
              <a:rPr lang="en-US" smtClean="0">
                <a:latin typeface="+mj-lt"/>
              </a:rPr>
              <a:t>6</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301218" y="104887"/>
            <a:ext cx="976156" cy="206031"/>
          </a:xfrm>
          <a:prstGeom prst="roundRect">
            <a:avLst>
              <a:gd name="adj" fmla="val 22118"/>
            </a:avLst>
          </a:prstGeom>
          <a:noFill/>
          <a:ln w="4763">
            <a:solidFill>
              <a:srgbClr val="F65F62"/>
            </a:solidFill>
            <a:prstDash val="solid"/>
          </a:ln>
        </p:spPr>
        <p:txBody>
          <a:bodyPr/>
          <a:lstStyle/>
          <a:p>
            <a:endParaRPr lang="en-US" sz="2400">
              <a:latin typeface="+mj-lt"/>
            </a:endParaRPr>
          </a:p>
        </p:txBody>
      </p:sp>
      <p:sp>
        <p:nvSpPr>
          <p:cNvPr id="3" name="Text 1"/>
          <p:cNvSpPr/>
          <p:nvPr/>
        </p:nvSpPr>
        <p:spPr>
          <a:xfrm>
            <a:off x="1375571" y="164967"/>
            <a:ext cx="1047849" cy="145952"/>
          </a:xfrm>
          <a:prstGeom prst="rect">
            <a:avLst/>
          </a:prstGeom>
          <a:noFill/>
          <a:ln/>
        </p:spPr>
        <p:txBody>
          <a:bodyPr wrap="none" lIns="0" tIns="0" rIns="0" bIns="0" rtlCol="0" anchor="t"/>
          <a:lstStyle/>
          <a:p>
            <a:pPr>
              <a:lnSpc>
                <a:spcPct val="96000"/>
              </a:lnSpc>
            </a:pPr>
            <a:r>
              <a:rPr lang="en-US" sz="1000" dirty="0">
                <a:solidFill>
                  <a:srgbClr val="F65F62"/>
                </a:solidFill>
                <a:latin typeface="+mj-lt"/>
                <a:ea typeface="Barlow" pitchFamily="34" charset="-122"/>
                <a:cs typeface="Barlow" pitchFamily="34" charset="-120"/>
              </a:rPr>
              <a:t>WORKFLOW</a:t>
            </a:r>
            <a:endParaRPr lang="en-US" sz="1000" dirty="0">
              <a:latin typeface="+mj-lt"/>
            </a:endParaRPr>
          </a:p>
        </p:txBody>
      </p:sp>
      <p:sp>
        <p:nvSpPr>
          <p:cNvPr id="4" name="Text 2"/>
          <p:cNvSpPr/>
          <p:nvPr/>
        </p:nvSpPr>
        <p:spPr>
          <a:xfrm>
            <a:off x="1161732" y="457043"/>
            <a:ext cx="3131299" cy="285751"/>
          </a:xfrm>
          <a:prstGeom prst="rect">
            <a:avLst/>
          </a:prstGeom>
          <a:noFill/>
          <a:ln/>
        </p:spPr>
        <p:txBody>
          <a:bodyPr wrap="none" lIns="0" tIns="0" rIns="0" bIns="0" rtlCol="0" anchor="t"/>
          <a:lstStyle/>
          <a:p>
            <a:pPr>
              <a:lnSpc>
                <a:spcPct val="104000"/>
              </a:lnSpc>
            </a:pPr>
            <a:r>
              <a:rPr lang="en-US" dirty="0">
                <a:solidFill>
                  <a:srgbClr val="FFFFFF"/>
                </a:solidFill>
                <a:latin typeface="+mj-lt"/>
                <a:ea typeface="Barlow Medium" pitchFamily="34" charset="-122"/>
                <a:cs typeface="Barlow Medium" pitchFamily="34" charset="-120"/>
              </a:rPr>
              <a:t>Security Assessment Lifecycle</a:t>
            </a:r>
            <a:endParaRPr lang="en-US" dirty="0">
              <a:latin typeface="+mj-lt"/>
            </a:endParaRPr>
          </a:p>
        </p:txBody>
      </p:sp>
      <p:sp>
        <p:nvSpPr>
          <p:cNvPr id="5" name="Text 3"/>
          <p:cNvSpPr/>
          <p:nvPr/>
        </p:nvSpPr>
        <p:spPr>
          <a:xfrm>
            <a:off x="720030" y="888919"/>
            <a:ext cx="11361539" cy="123428"/>
          </a:xfrm>
          <a:prstGeom prst="rect">
            <a:avLst/>
          </a:prstGeom>
          <a:noFill/>
          <a:ln/>
        </p:spPr>
        <p:txBody>
          <a:bodyPr wrap="none" lIns="0" tIns="0" rIns="0" bIns="0" rtlCol="0" anchor="t"/>
          <a:lstStyle/>
          <a:p>
            <a:r>
              <a:rPr lang="en-US" sz="1200" dirty="0">
                <a:solidFill>
                  <a:srgbClr val="E5E0DF"/>
                </a:solidFill>
                <a:ea typeface="Barlow" pitchFamily="34" charset="-122"/>
                <a:cs typeface="Barlow" pitchFamily="34" charset="-120"/>
              </a:rPr>
              <a:t>Zero Trace Imperium covers </a:t>
            </a:r>
            <a:r>
              <a:rPr lang="en-US" sz="1200" b="1" dirty="0">
                <a:solidFill>
                  <a:srgbClr val="E5E0DF"/>
                </a:solidFill>
                <a:ea typeface="Barlow Bold" pitchFamily="34" charset="-122"/>
                <a:cs typeface="Barlow Bold" pitchFamily="34" charset="-120"/>
              </a:rPr>
              <a:t>12 structured phases</a:t>
            </a:r>
            <a:r>
              <a:rPr lang="en-US" sz="1200" dirty="0">
                <a:solidFill>
                  <a:srgbClr val="E5E0DF"/>
                </a:solidFill>
                <a:ea typeface="Barlow" pitchFamily="34" charset="-122"/>
                <a:cs typeface="Barlow" pitchFamily="34" charset="-120"/>
              </a:rPr>
              <a:t> from initial infrastructure build through attack execution, defense implementation, detection, and full recovery.</a:t>
            </a:r>
            <a:endParaRPr lang="en-US" sz="1200" dirty="0"/>
          </a:p>
        </p:txBody>
      </p:sp>
      <p:pic>
        <p:nvPicPr>
          <p:cNvPr id="10" name="Picture 9">
            <a:extLst>
              <a:ext uri="{FF2B5EF4-FFF2-40B4-BE49-F238E27FC236}">
                <a16:creationId xmlns:a16="http://schemas.microsoft.com/office/drawing/2014/main" id="{4C12F115-184C-8E24-8EB3-9C30AAA2D4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 y="1200150"/>
            <a:ext cx="11967270" cy="5225675"/>
          </a:xfrm>
          <a:prstGeom prst="rect">
            <a:avLst/>
          </a:prstGeom>
        </p:spPr>
      </p:pic>
      <p:sp>
        <p:nvSpPr>
          <p:cNvPr id="6" name="Footer Placeholder 5">
            <a:extLst>
              <a:ext uri="{FF2B5EF4-FFF2-40B4-BE49-F238E27FC236}">
                <a16:creationId xmlns:a16="http://schemas.microsoft.com/office/drawing/2014/main" id="{6B976035-B6BF-69F1-C5CE-63E2CBBE3B25}"/>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9" name="Slide Number Placeholder 8">
            <a:extLst>
              <a:ext uri="{FF2B5EF4-FFF2-40B4-BE49-F238E27FC236}">
                <a16:creationId xmlns:a16="http://schemas.microsoft.com/office/drawing/2014/main" id="{101A180F-60CA-BFAF-7E9D-22C02605FB8B}"/>
              </a:ext>
            </a:extLst>
          </p:cNvPr>
          <p:cNvSpPr>
            <a:spLocks noGrp="1"/>
          </p:cNvSpPr>
          <p:nvPr>
            <p:ph type="sldNum" sz="quarter" idx="4"/>
          </p:nvPr>
        </p:nvSpPr>
        <p:spPr/>
        <p:txBody>
          <a:bodyPr/>
          <a:lstStyle/>
          <a:p>
            <a:fld id="{08D6B0A0-5113-456A-82B3-EA8CCD6D43D8}" type="slidenum">
              <a:rPr lang="en-US" smtClean="0">
                <a:latin typeface="+mj-lt"/>
              </a:rPr>
              <a:t>7</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262472" y="623348"/>
            <a:ext cx="1049407" cy="280040"/>
          </a:xfrm>
          <a:prstGeom prst="roundRect">
            <a:avLst>
              <a:gd name="adj" fmla="val 22111"/>
            </a:avLst>
          </a:prstGeom>
          <a:solidFill>
            <a:srgbClr val="480405"/>
          </a:solidFill>
          <a:ln/>
        </p:spPr>
        <p:txBody>
          <a:bodyPr/>
          <a:lstStyle/>
          <a:p>
            <a:endParaRPr lang="en-US" sz="2400">
              <a:latin typeface="+mj-lt"/>
            </a:endParaRPr>
          </a:p>
        </p:txBody>
      </p:sp>
      <p:sp>
        <p:nvSpPr>
          <p:cNvPr id="3" name="Text 1"/>
          <p:cNvSpPr/>
          <p:nvPr/>
        </p:nvSpPr>
        <p:spPr>
          <a:xfrm>
            <a:off x="1322031" y="689176"/>
            <a:ext cx="1284089" cy="189211"/>
          </a:xfrm>
          <a:prstGeom prst="rect">
            <a:avLst/>
          </a:prstGeom>
          <a:noFill/>
          <a:ln/>
        </p:spPr>
        <p:txBody>
          <a:bodyPr wrap="none" lIns="0" tIns="0" rIns="0" bIns="0" rtlCol="0" anchor="t"/>
          <a:lstStyle/>
          <a:p>
            <a:pPr>
              <a:lnSpc>
                <a:spcPct val="96000"/>
              </a:lnSpc>
            </a:pPr>
            <a:r>
              <a:rPr lang="en-US" sz="1267" dirty="0">
                <a:solidFill>
                  <a:srgbClr val="E5E0DF"/>
                </a:solidFill>
                <a:latin typeface="+mj-lt"/>
                <a:ea typeface="Barlow" pitchFamily="34" charset="-122"/>
                <a:cs typeface="Barlow" pitchFamily="34" charset="-120"/>
              </a:rPr>
              <a:t>PHASE : 01</a:t>
            </a:r>
            <a:endParaRPr lang="en-US" sz="1267" dirty="0">
              <a:latin typeface="+mj-lt"/>
            </a:endParaRPr>
          </a:p>
        </p:txBody>
      </p:sp>
      <p:sp>
        <p:nvSpPr>
          <p:cNvPr id="4" name="Text 2"/>
          <p:cNvSpPr/>
          <p:nvPr/>
        </p:nvSpPr>
        <p:spPr>
          <a:xfrm>
            <a:off x="720030" y="1087329"/>
            <a:ext cx="10751939" cy="571500"/>
          </a:xfrm>
          <a:prstGeom prst="rect">
            <a:avLst/>
          </a:prstGeom>
          <a:noFill/>
          <a:ln/>
        </p:spPr>
        <p:txBody>
          <a:bodyPr wrap="none" lIns="0" tIns="0" rIns="0" bIns="0" rtlCol="0" anchor="t"/>
          <a:lstStyle/>
          <a:p>
            <a:pPr>
              <a:lnSpc>
                <a:spcPct val="104000"/>
              </a:lnSpc>
            </a:pPr>
            <a:r>
              <a:rPr lang="en-US" sz="3600" dirty="0">
                <a:solidFill>
                  <a:srgbClr val="FFFFFF"/>
                </a:solidFill>
                <a:latin typeface="+mj-lt"/>
                <a:ea typeface="Barlow Medium" pitchFamily="34" charset="-122"/>
                <a:cs typeface="Barlow Medium" pitchFamily="34" charset="-120"/>
              </a:rPr>
              <a:t>Build</a:t>
            </a:r>
            <a:endParaRPr lang="en-US" sz="3600" dirty="0">
              <a:latin typeface="+mj-lt"/>
            </a:endParaRPr>
          </a:p>
        </p:txBody>
      </p:sp>
      <p:sp>
        <p:nvSpPr>
          <p:cNvPr id="5" name="Text 3"/>
          <p:cNvSpPr/>
          <p:nvPr/>
        </p:nvSpPr>
        <p:spPr>
          <a:xfrm>
            <a:off x="720031" y="2152651"/>
            <a:ext cx="5125045" cy="285751"/>
          </a:xfrm>
          <a:prstGeom prst="rect">
            <a:avLst/>
          </a:prstGeom>
          <a:noFill/>
          <a:ln/>
        </p:spPr>
        <p:txBody>
          <a:bodyPr wrap="none" lIns="0" tIns="0" rIns="0" bIns="0" rtlCol="0" anchor="t"/>
          <a:lstStyle/>
          <a:p>
            <a:pPr>
              <a:lnSpc>
                <a:spcPct val="104000"/>
              </a:lnSpc>
            </a:pPr>
            <a:r>
              <a:rPr lang="en-US" dirty="0">
                <a:solidFill>
                  <a:srgbClr val="FFFFFF"/>
                </a:solidFill>
                <a:latin typeface="+mj-lt"/>
                <a:ea typeface="Barlow Medium" pitchFamily="34" charset="-122"/>
                <a:cs typeface="Barlow Medium" pitchFamily="34" charset="-120"/>
              </a:rPr>
              <a:t>Activities</a:t>
            </a:r>
            <a:endParaRPr lang="en-US" dirty="0">
              <a:latin typeface="+mj-lt"/>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7124" y="2676177"/>
            <a:ext cx="308571" cy="308571"/>
          </a:xfrm>
          <a:prstGeom prst="rect">
            <a:avLst/>
          </a:prstGeom>
        </p:spPr>
      </p:pic>
      <p:sp>
        <p:nvSpPr>
          <p:cNvPr id="7" name="Text 4"/>
          <p:cNvSpPr/>
          <p:nvPr/>
        </p:nvSpPr>
        <p:spPr>
          <a:xfrm>
            <a:off x="1388567" y="2669779"/>
            <a:ext cx="4456509" cy="285751"/>
          </a:xfrm>
          <a:prstGeom prst="rect">
            <a:avLst/>
          </a:prstGeom>
          <a:noFill/>
          <a:ln/>
        </p:spPr>
        <p:txBody>
          <a:bodyPr wrap="none" lIns="0" tIns="0" rIns="0" bIns="0" rtlCol="0" anchor="t"/>
          <a:lstStyle/>
          <a:p>
            <a:pPr>
              <a:lnSpc>
                <a:spcPct val="104000"/>
              </a:lnSpc>
            </a:pPr>
            <a:r>
              <a:rPr lang="en-US" dirty="0">
                <a:solidFill>
                  <a:srgbClr val="E5E0DF"/>
                </a:solidFill>
                <a:latin typeface="+mj-lt"/>
                <a:ea typeface="Barlow Medium" pitchFamily="34" charset="-122"/>
                <a:cs typeface="Barlow Medium" pitchFamily="34" charset="-120"/>
              </a:rPr>
              <a:t>VMware Configuration</a:t>
            </a:r>
            <a:endParaRPr lang="en-US" dirty="0">
              <a:latin typeface="+mj-lt"/>
            </a:endParaRPr>
          </a:p>
        </p:txBody>
      </p:sp>
      <p:sp>
        <p:nvSpPr>
          <p:cNvPr id="8" name="Text 5"/>
          <p:cNvSpPr/>
          <p:nvPr/>
        </p:nvSpPr>
        <p:spPr>
          <a:xfrm>
            <a:off x="1388567" y="3161208"/>
            <a:ext cx="4456509" cy="329208"/>
          </a:xfrm>
          <a:prstGeom prst="rect">
            <a:avLst/>
          </a:prstGeom>
          <a:noFill/>
          <a:ln/>
        </p:spPr>
        <p:txBody>
          <a:bodyPr wrap="none" lIns="0" tIns="0" rIns="0" bIns="0" rtlCol="0" anchor="t"/>
          <a:lstStyle/>
          <a:p>
            <a:pPr>
              <a:lnSpc>
                <a:spcPct val="133000"/>
              </a:lnSpc>
            </a:pPr>
            <a:r>
              <a:rPr lang="en-US" sz="1600" dirty="0">
                <a:solidFill>
                  <a:srgbClr val="E5E0DF"/>
                </a:solidFill>
                <a:ea typeface="Barlow" pitchFamily="34" charset="-122"/>
                <a:cs typeface="Barlow" pitchFamily="34" charset="-120"/>
              </a:rPr>
              <a:t>Isolated NAT network setup</a:t>
            </a:r>
            <a:endParaRPr lang="en-US" sz="16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7124" y="3908276"/>
            <a:ext cx="308571" cy="308571"/>
          </a:xfrm>
          <a:prstGeom prst="rect">
            <a:avLst/>
          </a:prstGeom>
        </p:spPr>
      </p:pic>
      <p:sp>
        <p:nvSpPr>
          <p:cNvPr id="10" name="Text 6"/>
          <p:cNvSpPr/>
          <p:nvPr/>
        </p:nvSpPr>
        <p:spPr>
          <a:xfrm>
            <a:off x="1388567" y="3901877"/>
            <a:ext cx="4456509" cy="285751"/>
          </a:xfrm>
          <a:prstGeom prst="rect">
            <a:avLst/>
          </a:prstGeom>
          <a:noFill/>
          <a:ln/>
        </p:spPr>
        <p:txBody>
          <a:bodyPr wrap="none" lIns="0" tIns="0" rIns="0" bIns="0" rtlCol="0" anchor="t"/>
          <a:lstStyle/>
          <a:p>
            <a:pPr>
              <a:lnSpc>
                <a:spcPct val="104000"/>
              </a:lnSpc>
            </a:pPr>
            <a:r>
              <a:rPr lang="en-US" dirty="0">
                <a:solidFill>
                  <a:srgbClr val="E5E0DF"/>
                </a:solidFill>
                <a:latin typeface="+mj-lt"/>
                <a:ea typeface="Barlow Medium" pitchFamily="34" charset="-122"/>
                <a:cs typeface="Barlow Medium" pitchFamily="34" charset="-120"/>
              </a:rPr>
              <a:t>OS Deployment</a:t>
            </a:r>
            <a:endParaRPr lang="en-US" dirty="0">
              <a:latin typeface="+mj-lt"/>
            </a:endParaRPr>
          </a:p>
        </p:txBody>
      </p:sp>
      <p:sp>
        <p:nvSpPr>
          <p:cNvPr id="11" name="Text 7"/>
          <p:cNvSpPr/>
          <p:nvPr/>
        </p:nvSpPr>
        <p:spPr>
          <a:xfrm>
            <a:off x="1388567" y="4393307"/>
            <a:ext cx="4456509" cy="329208"/>
          </a:xfrm>
          <a:prstGeom prst="rect">
            <a:avLst/>
          </a:prstGeom>
          <a:noFill/>
          <a:ln/>
        </p:spPr>
        <p:txBody>
          <a:bodyPr wrap="none" lIns="0" tIns="0" rIns="0" bIns="0" rtlCol="0" anchor="t"/>
          <a:lstStyle/>
          <a:p>
            <a:pPr>
              <a:lnSpc>
                <a:spcPct val="133000"/>
              </a:lnSpc>
            </a:pPr>
            <a:r>
              <a:rPr lang="en-US" sz="1600" dirty="0">
                <a:solidFill>
                  <a:srgbClr val="E5E0DF"/>
                </a:solidFill>
                <a:ea typeface="Barlow" pitchFamily="34" charset="-122"/>
                <a:cs typeface="Barlow" pitchFamily="34" charset="-120"/>
              </a:rPr>
              <a:t>Ubuntu Server, Kali Linux, Windows 11</a:t>
            </a:r>
            <a:endParaRPr lang="en-US" sz="16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7124" y="5140375"/>
            <a:ext cx="308571" cy="308571"/>
          </a:xfrm>
          <a:prstGeom prst="rect">
            <a:avLst/>
          </a:prstGeom>
        </p:spPr>
      </p:pic>
      <p:sp>
        <p:nvSpPr>
          <p:cNvPr id="13" name="Text 8"/>
          <p:cNvSpPr/>
          <p:nvPr/>
        </p:nvSpPr>
        <p:spPr>
          <a:xfrm>
            <a:off x="1388567" y="5133975"/>
            <a:ext cx="4456509" cy="285751"/>
          </a:xfrm>
          <a:prstGeom prst="rect">
            <a:avLst/>
          </a:prstGeom>
          <a:noFill/>
          <a:ln/>
        </p:spPr>
        <p:txBody>
          <a:bodyPr wrap="none" lIns="0" tIns="0" rIns="0" bIns="0" rtlCol="0" anchor="t"/>
          <a:lstStyle/>
          <a:p>
            <a:pPr>
              <a:lnSpc>
                <a:spcPct val="104000"/>
              </a:lnSpc>
            </a:pPr>
            <a:r>
              <a:rPr lang="en-US" dirty="0">
                <a:solidFill>
                  <a:srgbClr val="E5E0DF"/>
                </a:solidFill>
                <a:latin typeface="+mj-lt"/>
                <a:ea typeface="Barlow Medium" pitchFamily="34" charset="-122"/>
                <a:cs typeface="Barlow Medium" pitchFamily="34" charset="-120"/>
              </a:rPr>
              <a:t>Service Stack</a:t>
            </a:r>
            <a:endParaRPr lang="en-US" dirty="0">
              <a:latin typeface="+mj-lt"/>
            </a:endParaRPr>
          </a:p>
        </p:txBody>
      </p:sp>
      <p:sp>
        <p:nvSpPr>
          <p:cNvPr id="14" name="Text 9"/>
          <p:cNvSpPr/>
          <p:nvPr/>
        </p:nvSpPr>
        <p:spPr>
          <a:xfrm>
            <a:off x="1388567" y="5625405"/>
            <a:ext cx="4456509" cy="329208"/>
          </a:xfrm>
          <a:prstGeom prst="rect">
            <a:avLst/>
          </a:prstGeom>
          <a:noFill/>
          <a:ln/>
        </p:spPr>
        <p:txBody>
          <a:bodyPr wrap="none" lIns="0" tIns="0" rIns="0" bIns="0" rtlCol="0" anchor="t"/>
          <a:lstStyle/>
          <a:p>
            <a:pPr>
              <a:lnSpc>
                <a:spcPct val="133000"/>
              </a:lnSpc>
            </a:pPr>
            <a:r>
              <a:rPr lang="en-US" sz="1600" dirty="0">
                <a:solidFill>
                  <a:srgbClr val="E5E0DF"/>
                </a:solidFill>
                <a:ea typeface="Barlow" pitchFamily="34" charset="-122"/>
                <a:cs typeface="Barlow" pitchFamily="34" charset="-120"/>
              </a:rPr>
              <a:t>Apache, MariaDB, DVWA, OpenSSH</a:t>
            </a:r>
            <a:endParaRPr lang="en-US" sz="1600" dirty="0"/>
          </a:p>
        </p:txBody>
      </p:sp>
      <p:grpSp>
        <p:nvGrpSpPr>
          <p:cNvPr id="20" name="Group 19">
            <a:extLst>
              <a:ext uri="{FF2B5EF4-FFF2-40B4-BE49-F238E27FC236}">
                <a16:creationId xmlns:a16="http://schemas.microsoft.com/office/drawing/2014/main" id="{F2DFFA04-467E-404E-353F-6CFDAF286B3C}"/>
              </a:ext>
            </a:extLst>
          </p:cNvPr>
          <p:cNvGrpSpPr/>
          <p:nvPr/>
        </p:nvGrpSpPr>
        <p:grpSpPr>
          <a:xfrm>
            <a:off x="6127948" y="2946079"/>
            <a:ext cx="5421312" cy="1961306"/>
            <a:chOff x="5999461" y="2004095"/>
            <a:chExt cx="5421312" cy="1961306"/>
          </a:xfrm>
        </p:grpSpPr>
        <p:sp>
          <p:nvSpPr>
            <p:cNvPr id="15" name="Shape 10"/>
            <p:cNvSpPr/>
            <p:nvPr/>
          </p:nvSpPr>
          <p:spPr>
            <a:xfrm>
              <a:off x="5999461" y="2004095"/>
              <a:ext cx="5421312" cy="1961306"/>
            </a:xfrm>
            <a:prstGeom prst="roundRect">
              <a:avLst>
                <a:gd name="adj" fmla="val 3495"/>
              </a:avLst>
            </a:prstGeom>
            <a:solidFill>
              <a:srgbClr val="F65F62">
                <a:alpha val="95000"/>
              </a:srgbClr>
            </a:solidFill>
            <a:ln/>
          </p:spPr>
          <p:txBody>
            <a:bodyPr/>
            <a:lstStyle/>
            <a:p>
              <a:endParaRPr lang="en-US" sz="2400">
                <a:latin typeface="+mj-lt"/>
              </a:endParaRPr>
            </a:p>
          </p:txBody>
        </p:sp>
        <p:sp>
          <p:nvSpPr>
            <p:cNvPr id="16" name="Text 11"/>
            <p:cNvSpPr/>
            <p:nvPr/>
          </p:nvSpPr>
          <p:spPr>
            <a:xfrm>
              <a:off x="6410821" y="2152651"/>
              <a:ext cx="5009952" cy="285751"/>
            </a:xfrm>
            <a:prstGeom prst="rect">
              <a:avLst/>
            </a:prstGeom>
            <a:noFill/>
            <a:ln/>
          </p:spPr>
          <p:txBody>
            <a:bodyPr wrap="none" lIns="0" tIns="0" rIns="0" bIns="0" rtlCol="0" anchor="t"/>
            <a:lstStyle/>
            <a:p>
              <a:pPr>
                <a:lnSpc>
                  <a:spcPct val="104000"/>
                </a:lnSpc>
              </a:pPr>
              <a:r>
                <a:rPr lang="en-US" dirty="0">
                  <a:solidFill>
                    <a:srgbClr val="000000"/>
                  </a:solidFill>
                  <a:latin typeface="+mj-lt"/>
                  <a:ea typeface="Barlow Medium" pitchFamily="34" charset="-122"/>
                  <a:cs typeface="Barlow Medium" pitchFamily="34" charset="-120"/>
                </a:rPr>
                <a:t>Outcome</a:t>
              </a:r>
              <a:endParaRPr lang="en-US" dirty="0">
                <a:latin typeface="+mj-lt"/>
              </a:endParaRPr>
            </a:p>
          </p:txBody>
        </p:sp>
        <p:sp>
          <p:nvSpPr>
            <p:cNvPr id="17" name="Text 12"/>
            <p:cNvSpPr/>
            <p:nvPr/>
          </p:nvSpPr>
          <p:spPr>
            <a:xfrm>
              <a:off x="6410821" y="2644080"/>
              <a:ext cx="5009952" cy="987624"/>
            </a:xfrm>
            <a:prstGeom prst="rect">
              <a:avLst/>
            </a:prstGeom>
            <a:noFill/>
            <a:ln/>
          </p:spPr>
          <p:txBody>
            <a:bodyPr wrap="square" lIns="0" tIns="0" rIns="0" bIns="0" rtlCol="0" anchor="t">
              <a:normAutofit fontScale="92500"/>
            </a:bodyPr>
            <a:lstStyle/>
            <a:p>
              <a:pPr>
                <a:lnSpc>
                  <a:spcPct val="133000"/>
                </a:lnSpc>
              </a:pPr>
              <a:r>
                <a:rPr lang="en-US" sz="1600" dirty="0">
                  <a:solidFill>
                    <a:srgbClr val="000000"/>
                  </a:solidFill>
                  <a:latin typeface="+mj-lt"/>
                  <a:ea typeface="Barlow" pitchFamily="34" charset="-122"/>
                </a:rPr>
                <a:t>A fully operational, enterprise</a:t>
              </a:r>
              <a:r>
                <a:rPr lang="ar-EG" sz="1600" dirty="0">
                  <a:solidFill>
                    <a:srgbClr val="000000"/>
                  </a:solidFill>
                  <a:latin typeface="+mj-lt"/>
                  <a:ea typeface="Barlow" pitchFamily="34" charset="-122"/>
                </a:rPr>
                <a:t> </a:t>
              </a:r>
              <a:r>
                <a:rPr lang="en-US" sz="1600" dirty="0">
                  <a:solidFill>
                    <a:srgbClr val="000000"/>
                  </a:solidFill>
                  <a:latin typeface="+mj-lt"/>
                  <a:ea typeface="Barlow" pitchFamily="34" charset="-122"/>
                </a:rPr>
                <a:t>inspired laboratory ready for security assessment with all VMs configured, networked, and documented.</a:t>
              </a:r>
              <a:endParaRPr lang="en-US" sz="1600" dirty="0">
                <a:latin typeface="+mj-lt"/>
              </a:endParaRPr>
            </a:p>
          </p:txBody>
        </p:sp>
      </p:grpSp>
      <p:sp>
        <p:nvSpPr>
          <p:cNvPr id="21" name="Footer Placeholder 20">
            <a:extLst>
              <a:ext uri="{FF2B5EF4-FFF2-40B4-BE49-F238E27FC236}">
                <a16:creationId xmlns:a16="http://schemas.microsoft.com/office/drawing/2014/main" id="{5C5281E5-F850-3137-A5CD-655D7428EBFC}"/>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22" name="Slide Number Placeholder 21">
            <a:extLst>
              <a:ext uri="{FF2B5EF4-FFF2-40B4-BE49-F238E27FC236}">
                <a16:creationId xmlns:a16="http://schemas.microsoft.com/office/drawing/2014/main" id="{CE270F36-16C7-7554-7F65-BDFA50C357E1}"/>
              </a:ext>
            </a:extLst>
          </p:cNvPr>
          <p:cNvSpPr>
            <a:spLocks noGrp="1"/>
          </p:cNvSpPr>
          <p:nvPr>
            <p:ph type="sldNum" sz="quarter" idx="4"/>
          </p:nvPr>
        </p:nvSpPr>
        <p:spPr/>
        <p:txBody>
          <a:bodyPr/>
          <a:lstStyle/>
          <a:p>
            <a:fld id="{08D6B0A0-5113-456A-82B3-EA8CCD6D43D8}" type="slidenum">
              <a:rPr lang="en-US" smtClean="0">
                <a:latin typeface="+mj-lt"/>
              </a:rPr>
              <a:t>8</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215924" y="614759"/>
            <a:ext cx="1018317" cy="315516"/>
          </a:xfrm>
          <a:prstGeom prst="roundRect">
            <a:avLst>
              <a:gd name="adj" fmla="val 22118"/>
            </a:avLst>
          </a:prstGeom>
          <a:solidFill>
            <a:srgbClr val="480405"/>
          </a:solidFill>
          <a:ln/>
        </p:spPr>
        <p:txBody>
          <a:bodyPr/>
          <a:lstStyle/>
          <a:p>
            <a:endParaRPr lang="en-US" sz="2400">
              <a:latin typeface="+mj-lt"/>
            </a:endParaRPr>
          </a:p>
        </p:txBody>
      </p:sp>
      <p:sp>
        <p:nvSpPr>
          <p:cNvPr id="3" name="Text 1"/>
          <p:cNvSpPr/>
          <p:nvPr/>
        </p:nvSpPr>
        <p:spPr>
          <a:xfrm>
            <a:off x="1314181" y="671612"/>
            <a:ext cx="1263649" cy="174427"/>
          </a:xfrm>
          <a:prstGeom prst="rect">
            <a:avLst/>
          </a:prstGeom>
          <a:noFill/>
          <a:ln/>
        </p:spPr>
        <p:txBody>
          <a:bodyPr wrap="none" lIns="0" tIns="0" rIns="0" bIns="0" rtlCol="0" anchor="t"/>
          <a:lstStyle/>
          <a:p>
            <a:pPr>
              <a:lnSpc>
                <a:spcPct val="96000"/>
              </a:lnSpc>
            </a:pPr>
            <a:r>
              <a:rPr lang="en-US" sz="1133" dirty="0">
                <a:solidFill>
                  <a:srgbClr val="E5E0DF"/>
                </a:solidFill>
                <a:latin typeface="+mj-lt"/>
                <a:ea typeface="Barlow" pitchFamily="34" charset="-122"/>
                <a:cs typeface="Barlow" pitchFamily="34" charset="-120"/>
              </a:rPr>
              <a:t>PHASE : 02</a:t>
            </a:r>
            <a:endParaRPr lang="en-US" sz="1133" dirty="0">
              <a:latin typeface="+mj-lt"/>
            </a:endParaRPr>
          </a:p>
        </p:txBody>
      </p:sp>
      <p:sp>
        <p:nvSpPr>
          <p:cNvPr id="4" name="Text 2"/>
          <p:cNvSpPr/>
          <p:nvPr/>
        </p:nvSpPr>
        <p:spPr>
          <a:xfrm>
            <a:off x="720031" y="972741"/>
            <a:ext cx="10751939" cy="526852"/>
          </a:xfrm>
          <a:prstGeom prst="rect">
            <a:avLst/>
          </a:prstGeom>
          <a:noFill/>
          <a:ln/>
        </p:spPr>
        <p:txBody>
          <a:bodyPr wrap="none" lIns="0" tIns="0" rIns="0" bIns="0" rtlCol="0" anchor="t"/>
          <a:lstStyle/>
          <a:p>
            <a:pPr>
              <a:lnSpc>
                <a:spcPct val="104000"/>
              </a:lnSpc>
            </a:pPr>
            <a:r>
              <a:rPr lang="en-US" sz="3267" dirty="0">
                <a:solidFill>
                  <a:srgbClr val="FFFFFF"/>
                </a:solidFill>
                <a:latin typeface="+mj-lt"/>
                <a:ea typeface="Barlow Medium" pitchFamily="34" charset="-122"/>
                <a:cs typeface="Barlow Medium" pitchFamily="34" charset="-120"/>
              </a:rPr>
              <a:t>Reconnaissance</a:t>
            </a:r>
            <a:endParaRPr lang="en-US" sz="3267" dirty="0">
              <a:latin typeface="+mj-lt"/>
            </a:endParaRPr>
          </a:p>
        </p:txBody>
      </p:sp>
      <p:sp>
        <p:nvSpPr>
          <p:cNvPr id="5" name="Text 3"/>
          <p:cNvSpPr/>
          <p:nvPr/>
        </p:nvSpPr>
        <p:spPr>
          <a:xfrm>
            <a:off x="720031" y="1761828"/>
            <a:ext cx="10751939" cy="583208"/>
          </a:xfrm>
          <a:prstGeom prst="rect">
            <a:avLst/>
          </a:prstGeom>
          <a:noFill/>
          <a:ln/>
        </p:spPr>
        <p:txBody>
          <a:bodyPr wrap="square" lIns="0" tIns="0" rIns="0" bIns="0" rtlCol="0" anchor="t">
            <a:normAutofit/>
          </a:bodyPr>
          <a:lstStyle/>
          <a:p>
            <a:pPr>
              <a:lnSpc>
                <a:spcPct val="128000"/>
              </a:lnSpc>
            </a:pPr>
            <a:r>
              <a:rPr lang="en-US" sz="1467" dirty="0">
                <a:solidFill>
                  <a:srgbClr val="E5E0DF"/>
                </a:solidFill>
                <a:ea typeface="Barlow" pitchFamily="34" charset="-122"/>
                <a:cs typeface="Barlow" pitchFamily="34" charset="-120"/>
              </a:rPr>
              <a:t>The reconnaissance phase identified exposed services, running applications, and hidden resources before any exploitation was attempted.</a:t>
            </a:r>
            <a:endParaRPr lang="en-US" sz="1467" dirty="0"/>
          </a:p>
        </p:txBody>
      </p:sp>
      <p:sp>
        <p:nvSpPr>
          <p:cNvPr id="6" name="Text 4"/>
          <p:cNvSpPr/>
          <p:nvPr/>
        </p:nvSpPr>
        <p:spPr>
          <a:xfrm>
            <a:off x="720031" y="2716512"/>
            <a:ext cx="5144592" cy="263425"/>
          </a:xfrm>
          <a:prstGeom prst="rect">
            <a:avLst/>
          </a:prstGeom>
          <a:noFill/>
          <a:ln/>
        </p:spPr>
        <p:txBody>
          <a:bodyPr wrap="none" lIns="0" tIns="0" rIns="0" bIns="0" rtlCol="0" anchor="t"/>
          <a:lstStyle/>
          <a:p>
            <a:pPr>
              <a:lnSpc>
                <a:spcPct val="104000"/>
              </a:lnSpc>
            </a:pPr>
            <a:r>
              <a:rPr lang="en-US" sz="1600" dirty="0">
                <a:solidFill>
                  <a:srgbClr val="FFFFFF"/>
                </a:solidFill>
                <a:latin typeface="+mj-lt"/>
                <a:ea typeface="Barlow Medium" pitchFamily="34" charset="-122"/>
                <a:cs typeface="Barlow Medium" pitchFamily="34" charset="-120"/>
              </a:rPr>
              <a:t>Assessment Tools</a:t>
            </a:r>
            <a:endParaRPr lang="en-US" sz="1600" dirty="0">
              <a:latin typeface="+mj-lt"/>
            </a:endParaRPr>
          </a:p>
        </p:txBody>
      </p:sp>
      <p:sp>
        <p:nvSpPr>
          <p:cNvPr id="7" name="Shape 5"/>
          <p:cNvSpPr/>
          <p:nvPr/>
        </p:nvSpPr>
        <p:spPr>
          <a:xfrm>
            <a:off x="720031" y="3176589"/>
            <a:ext cx="2484835" cy="655340"/>
          </a:xfrm>
          <a:prstGeom prst="roundRect">
            <a:avLst>
              <a:gd name="adj" fmla="val 12156"/>
            </a:avLst>
          </a:prstGeom>
          <a:solidFill>
            <a:srgbClr val="790709"/>
          </a:solidFill>
          <a:ln w="4763">
            <a:solidFill>
              <a:srgbClr val="922022"/>
            </a:solidFill>
            <a:prstDash val="solid"/>
          </a:ln>
        </p:spPr>
        <p:txBody>
          <a:bodyPr/>
          <a:lstStyle/>
          <a:p>
            <a:endParaRPr lang="en-US" sz="2400">
              <a:latin typeface="+mj-lt"/>
            </a:endParaRPr>
          </a:p>
        </p:txBody>
      </p:sp>
      <p:sp>
        <p:nvSpPr>
          <p:cNvPr id="8" name="Text 6"/>
          <p:cNvSpPr/>
          <p:nvPr/>
        </p:nvSpPr>
        <p:spPr>
          <a:xfrm>
            <a:off x="915988" y="3372545"/>
            <a:ext cx="2092920" cy="263425"/>
          </a:xfrm>
          <a:prstGeom prst="rect">
            <a:avLst/>
          </a:prstGeom>
          <a:noFill/>
          <a:ln/>
        </p:spPr>
        <p:txBody>
          <a:bodyPr wrap="none" lIns="0" tIns="0" rIns="0" bIns="0" rtlCol="0" anchor="t"/>
          <a:lstStyle/>
          <a:p>
            <a:pPr>
              <a:lnSpc>
                <a:spcPct val="104000"/>
              </a:lnSpc>
            </a:pPr>
            <a:r>
              <a:rPr lang="en-US" sz="1600" dirty="0">
                <a:solidFill>
                  <a:srgbClr val="E5E0DF"/>
                </a:solidFill>
                <a:latin typeface="+mj-lt"/>
                <a:ea typeface="Barlow Medium" pitchFamily="34" charset="-122"/>
                <a:cs typeface="Barlow Medium" pitchFamily="34" charset="-120"/>
              </a:rPr>
              <a:t>Nmap</a:t>
            </a:r>
            <a:endParaRPr lang="en-US" sz="1600" dirty="0">
              <a:latin typeface="+mj-lt"/>
            </a:endParaRPr>
          </a:p>
        </p:txBody>
      </p:sp>
      <p:sp>
        <p:nvSpPr>
          <p:cNvPr id="9" name="Shape 7"/>
          <p:cNvSpPr/>
          <p:nvPr/>
        </p:nvSpPr>
        <p:spPr>
          <a:xfrm>
            <a:off x="3379688" y="3176589"/>
            <a:ext cx="2484933" cy="655340"/>
          </a:xfrm>
          <a:prstGeom prst="roundRect">
            <a:avLst>
              <a:gd name="adj" fmla="val 12156"/>
            </a:avLst>
          </a:prstGeom>
          <a:solidFill>
            <a:srgbClr val="790709"/>
          </a:solidFill>
          <a:ln w="4763">
            <a:solidFill>
              <a:srgbClr val="922022"/>
            </a:solidFill>
            <a:prstDash val="solid"/>
          </a:ln>
        </p:spPr>
        <p:txBody>
          <a:bodyPr/>
          <a:lstStyle/>
          <a:p>
            <a:endParaRPr lang="en-US" sz="2400">
              <a:latin typeface="+mj-lt"/>
            </a:endParaRPr>
          </a:p>
        </p:txBody>
      </p:sp>
      <p:sp>
        <p:nvSpPr>
          <p:cNvPr id="10" name="Text 8"/>
          <p:cNvSpPr/>
          <p:nvPr/>
        </p:nvSpPr>
        <p:spPr>
          <a:xfrm>
            <a:off x="3575646" y="3372545"/>
            <a:ext cx="2093020" cy="263425"/>
          </a:xfrm>
          <a:prstGeom prst="rect">
            <a:avLst/>
          </a:prstGeom>
          <a:noFill/>
          <a:ln/>
        </p:spPr>
        <p:txBody>
          <a:bodyPr wrap="none" lIns="0" tIns="0" rIns="0" bIns="0" rtlCol="0" anchor="t"/>
          <a:lstStyle/>
          <a:p>
            <a:pPr>
              <a:lnSpc>
                <a:spcPct val="104000"/>
              </a:lnSpc>
            </a:pPr>
            <a:r>
              <a:rPr lang="en-US" sz="1600" dirty="0">
                <a:solidFill>
                  <a:srgbClr val="E5E0DF"/>
                </a:solidFill>
                <a:latin typeface="+mj-lt"/>
                <a:ea typeface="Barlow Medium" pitchFamily="34" charset="-122"/>
                <a:cs typeface="Barlow Medium" pitchFamily="34" charset="-120"/>
              </a:rPr>
              <a:t>Gobuster</a:t>
            </a:r>
            <a:endParaRPr lang="en-US" sz="1600" dirty="0">
              <a:latin typeface="+mj-lt"/>
            </a:endParaRPr>
          </a:p>
        </p:txBody>
      </p:sp>
      <p:sp>
        <p:nvSpPr>
          <p:cNvPr id="11" name="Shape 9"/>
          <p:cNvSpPr/>
          <p:nvPr/>
        </p:nvSpPr>
        <p:spPr>
          <a:xfrm>
            <a:off x="720031" y="4006751"/>
            <a:ext cx="2484835" cy="655340"/>
          </a:xfrm>
          <a:prstGeom prst="roundRect">
            <a:avLst>
              <a:gd name="adj" fmla="val 12156"/>
            </a:avLst>
          </a:prstGeom>
          <a:solidFill>
            <a:srgbClr val="790709"/>
          </a:solidFill>
          <a:ln w="4763">
            <a:solidFill>
              <a:srgbClr val="922022"/>
            </a:solidFill>
            <a:prstDash val="solid"/>
          </a:ln>
        </p:spPr>
        <p:txBody>
          <a:bodyPr/>
          <a:lstStyle/>
          <a:p>
            <a:endParaRPr lang="en-US" sz="2400">
              <a:latin typeface="+mj-lt"/>
            </a:endParaRPr>
          </a:p>
        </p:txBody>
      </p:sp>
      <p:sp>
        <p:nvSpPr>
          <p:cNvPr id="12" name="Text 10"/>
          <p:cNvSpPr/>
          <p:nvPr/>
        </p:nvSpPr>
        <p:spPr>
          <a:xfrm>
            <a:off x="915988" y="4202709"/>
            <a:ext cx="2092920" cy="263425"/>
          </a:xfrm>
          <a:prstGeom prst="rect">
            <a:avLst/>
          </a:prstGeom>
          <a:noFill/>
          <a:ln/>
        </p:spPr>
        <p:txBody>
          <a:bodyPr wrap="none" lIns="0" tIns="0" rIns="0" bIns="0" rtlCol="0" anchor="t"/>
          <a:lstStyle/>
          <a:p>
            <a:pPr>
              <a:lnSpc>
                <a:spcPct val="104000"/>
              </a:lnSpc>
            </a:pPr>
            <a:r>
              <a:rPr lang="en-US" sz="1600" dirty="0">
                <a:solidFill>
                  <a:srgbClr val="E5E0DF"/>
                </a:solidFill>
                <a:latin typeface="+mj-lt"/>
                <a:ea typeface="Barlow Medium" pitchFamily="34" charset="-122"/>
                <a:cs typeface="Barlow Medium" pitchFamily="34" charset="-120"/>
              </a:rPr>
              <a:t>Nikto</a:t>
            </a:r>
            <a:endParaRPr lang="en-US" sz="1600" dirty="0">
              <a:latin typeface="+mj-lt"/>
            </a:endParaRPr>
          </a:p>
        </p:txBody>
      </p:sp>
      <p:sp>
        <p:nvSpPr>
          <p:cNvPr id="13" name="Shape 11"/>
          <p:cNvSpPr/>
          <p:nvPr/>
        </p:nvSpPr>
        <p:spPr>
          <a:xfrm>
            <a:off x="3379688" y="4006751"/>
            <a:ext cx="2484933" cy="655340"/>
          </a:xfrm>
          <a:prstGeom prst="roundRect">
            <a:avLst>
              <a:gd name="adj" fmla="val 12156"/>
            </a:avLst>
          </a:prstGeom>
          <a:solidFill>
            <a:srgbClr val="790709"/>
          </a:solidFill>
          <a:ln w="4763">
            <a:solidFill>
              <a:srgbClr val="922022"/>
            </a:solidFill>
            <a:prstDash val="solid"/>
          </a:ln>
        </p:spPr>
        <p:txBody>
          <a:bodyPr/>
          <a:lstStyle/>
          <a:p>
            <a:endParaRPr lang="en-US" sz="2400">
              <a:latin typeface="+mj-lt"/>
            </a:endParaRPr>
          </a:p>
        </p:txBody>
      </p:sp>
      <p:sp>
        <p:nvSpPr>
          <p:cNvPr id="14" name="Text 12"/>
          <p:cNvSpPr/>
          <p:nvPr/>
        </p:nvSpPr>
        <p:spPr>
          <a:xfrm>
            <a:off x="3575646" y="4202709"/>
            <a:ext cx="2093020" cy="263425"/>
          </a:xfrm>
          <a:prstGeom prst="rect">
            <a:avLst/>
          </a:prstGeom>
          <a:noFill/>
          <a:ln/>
        </p:spPr>
        <p:txBody>
          <a:bodyPr wrap="none" lIns="0" tIns="0" rIns="0" bIns="0" rtlCol="0" anchor="t"/>
          <a:lstStyle/>
          <a:p>
            <a:pPr>
              <a:lnSpc>
                <a:spcPct val="104000"/>
              </a:lnSpc>
            </a:pPr>
            <a:r>
              <a:rPr lang="en-US" sz="1600" dirty="0">
                <a:solidFill>
                  <a:srgbClr val="E5E0DF"/>
                </a:solidFill>
                <a:latin typeface="+mj-lt"/>
                <a:ea typeface="Barlow Medium" pitchFamily="34" charset="-122"/>
                <a:cs typeface="Barlow Medium" pitchFamily="34" charset="-120"/>
              </a:rPr>
              <a:t>Burp Suite</a:t>
            </a:r>
            <a:endParaRPr lang="en-US" sz="1600" dirty="0">
              <a:latin typeface="+mj-lt"/>
            </a:endParaRPr>
          </a:p>
        </p:txBody>
      </p:sp>
      <p:sp>
        <p:nvSpPr>
          <p:cNvPr id="15" name="Shape 13"/>
          <p:cNvSpPr/>
          <p:nvPr/>
        </p:nvSpPr>
        <p:spPr>
          <a:xfrm>
            <a:off x="720031" y="4836915"/>
            <a:ext cx="5144592" cy="655340"/>
          </a:xfrm>
          <a:prstGeom prst="roundRect">
            <a:avLst>
              <a:gd name="adj" fmla="val 12156"/>
            </a:avLst>
          </a:prstGeom>
          <a:solidFill>
            <a:srgbClr val="790709"/>
          </a:solidFill>
          <a:ln w="4763">
            <a:solidFill>
              <a:srgbClr val="922022"/>
            </a:solidFill>
            <a:prstDash val="solid"/>
          </a:ln>
        </p:spPr>
        <p:txBody>
          <a:bodyPr/>
          <a:lstStyle/>
          <a:p>
            <a:endParaRPr lang="en-US" sz="2400">
              <a:latin typeface="+mj-lt"/>
            </a:endParaRPr>
          </a:p>
        </p:txBody>
      </p:sp>
      <p:sp>
        <p:nvSpPr>
          <p:cNvPr id="16" name="Text 14"/>
          <p:cNvSpPr/>
          <p:nvPr/>
        </p:nvSpPr>
        <p:spPr>
          <a:xfrm>
            <a:off x="915988" y="5032872"/>
            <a:ext cx="4752677" cy="263425"/>
          </a:xfrm>
          <a:prstGeom prst="rect">
            <a:avLst/>
          </a:prstGeom>
          <a:noFill/>
          <a:ln/>
        </p:spPr>
        <p:txBody>
          <a:bodyPr wrap="none" lIns="0" tIns="0" rIns="0" bIns="0" rtlCol="0" anchor="t"/>
          <a:lstStyle/>
          <a:p>
            <a:pPr>
              <a:lnSpc>
                <a:spcPct val="104000"/>
              </a:lnSpc>
            </a:pPr>
            <a:r>
              <a:rPr lang="en-US" sz="1600" dirty="0">
                <a:solidFill>
                  <a:srgbClr val="E5E0DF"/>
                </a:solidFill>
                <a:latin typeface="+mj-lt"/>
                <a:ea typeface="Barlow Medium" pitchFamily="34" charset="-122"/>
                <a:cs typeface="Barlow Medium" pitchFamily="34" charset="-120"/>
              </a:rPr>
              <a:t>Wireshark</a:t>
            </a:r>
            <a:endParaRPr lang="en-US" sz="1600" dirty="0">
              <a:latin typeface="+mj-lt"/>
            </a:endParaRPr>
          </a:p>
        </p:txBody>
      </p:sp>
      <p:sp>
        <p:nvSpPr>
          <p:cNvPr id="17" name="Text 15"/>
          <p:cNvSpPr/>
          <p:nvPr/>
        </p:nvSpPr>
        <p:spPr>
          <a:xfrm>
            <a:off x="6333728" y="2716512"/>
            <a:ext cx="5144592" cy="263425"/>
          </a:xfrm>
          <a:prstGeom prst="rect">
            <a:avLst/>
          </a:prstGeom>
          <a:noFill/>
          <a:ln/>
        </p:spPr>
        <p:txBody>
          <a:bodyPr wrap="none" lIns="0" tIns="0" rIns="0" bIns="0" rtlCol="0" anchor="t"/>
          <a:lstStyle/>
          <a:p>
            <a:pPr>
              <a:lnSpc>
                <a:spcPct val="104000"/>
              </a:lnSpc>
            </a:pPr>
            <a:r>
              <a:rPr lang="en-US" sz="1600" dirty="0">
                <a:solidFill>
                  <a:srgbClr val="FFFFFF"/>
                </a:solidFill>
                <a:latin typeface="+mj-lt"/>
                <a:ea typeface="Barlow Medium" pitchFamily="34" charset="-122"/>
                <a:cs typeface="Barlow Medium" pitchFamily="34" charset="-120"/>
              </a:rPr>
              <a:t>Information Collected</a:t>
            </a:r>
            <a:endParaRPr lang="en-US" sz="1600" dirty="0">
              <a:latin typeface="+mj-lt"/>
            </a:endParaRPr>
          </a:p>
        </p:txBody>
      </p:sp>
      <p:sp>
        <p:nvSpPr>
          <p:cNvPr id="18" name="Text 16"/>
          <p:cNvSpPr/>
          <p:nvPr/>
        </p:nvSpPr>
        <p:spPr>
          <a:xfrm>
            <a:off x="6333728" y="3154761"/>
            <a:ext cx="5144592" cy="1702495"/>
          </a:xfrm>
          <a:prstGeom prst="rect">
            <a:avLst/>
          </a:prstGeom>
          <a:noFill/>
          <a:ln/>
        </p:spPr>
        <p:txBody>
          <a:bodyPr wrap="square" lIns="0" tIns="0" rIns="0" bIns="0" rtlCol="0" anchor="t">
            <a:normAutofit/>
          </a:bodyPr>
          <a:lstStyle/>
          <a:p>
            <a:pPr marL="298019" indent="-298019">
              <a:lnSpc>
                <a:spcPct val="128000"/>
              </a:lnSpc>
              <a:buSzPct val="100000"/>
              <a:buChar char="•"/>
            </a:pPr>
            <a:r>
              <a:rPr lang="en-US" sz="1467" dirty="0">
                <a:solidFill>
                  <a:srgbClr val="E5E0DF"/>
                </a:solidFill>
                <a:latin typeface="+mj-lt"/>
                <a:ea typeface="Barlow" pitchFamily="34" charset="-122"/>
                <a:cs typeface="Barlow" pitchFamily="34" charset="-120"/>
              </a:rPr>
              <a:t>Open ports &amp; running services</a:t>
            </a:r>
            <a:endParaRPr lang="en-US" sz="1467" dirty="0">
              <a:latin typeface="+mj-lt"/>
            </a:endParaRPr>
          </a:p>
          <a:p>
            <a:pPr marL="298019" indent="-298019">
              <a:lnSpc>
                <a:spcPct val="128000"/>
              </a:lnSpc>
              <a:buSzPct val="100000"/>
              <a:buChar char="•"/>
            </a:pPr>
            <a:r>
              <a:rPr lang="en-US" sz="1467" dirty="0">
                <a:solidFill>
                  <a:srgbClr val="E5E0DF"/>
                </a:solidFill>
                <a:latin typeface="+mj-lt"/>
                <a:ea typeface="Barlow" pitchFamily="34" charset="-122"/>
                <a:cs typeface="Barlow" pitchFamily="34" charset="-120"/>
              </a:rPr>
              <a:t>Web technologies &amp; versions</a:t>
            </a:r>
            <a:endParaRPr lang="en-US" sz="1467" dirty="0">
              <a:latin typeface="+mj-lt"/>
            </a:endParaRPr>
          </a:p>
          <a:p>
            <a:pPr marL="298019" indent="-298019">
              <a:lnSpc>
                <a:spcPct val="128000"/>
              </a:lnSpc>
              <a:buSzPct val="100000"/>
              <a:buChar char="•"/>
            </a:pPr>
            <a:r>
              <a:rPr lang="en-US" sz="1467" dirty="0">
                <a:solidFill>
                  <a:srgbClr val="E5E0DF"/>
                </a:solidFill>
                <a:latin typeface="+mj-lt"/>
                <a:ea typeface="Barlow" pitchFamily="34" charset="-122"/>
                <a:cs typeface="Barlow" pitchFamily="34" charset="-120"/>
              </a:rPr>
              <a:t>Hidden directories &amp; endpoints</a:t>
            </a:r>
            <a:endParaRPr lang="en-US" sz="1467" dirty="0">
              <a:latin typeface="+mj-lt"/>
            </a:endParaRPr>
          </a:p>
          <a:p>
            <a:pPr marL="298019" indent="-298019">
              <a:lnSpc>
                <a:spcPct val="128000"/>
              </a:lnSpc>
              <a:buSzPct val="100000"/>
              <a:buChar char="•"/>
            </a:pPr>
            <a:r>
              <a:rPr lang="en-US" sz="1467" dirty="0">
                <a:solidFill>
                  <a:srgbClr val="E5E0DF"/>
                </a:solidFill>
                <a:latin typeface="+mj-lt"/>
                <a:ea typeface="Barlow" pitchFamily="34" charset="-122"/>
                <a:cs typeface="Barlow" pitchFamily="34" charset="-120"/>
              </a:rPr>
              <a:t>HTTP response analysis</a:t>
            </a:r>
            <a:endParaRPr lang="en-US" sz="1467" dirty="0">
              <a:latin typeface="+mj-lt"/>
            </a:endParaRPr>
          </a:p>
          <a:p>
            <a:pPr marL="298019" indent="-298019">
              <a:lnSpc>
                <a:spcPct val="128000"/>
              </a:lnSpc>
              <a:buSzPct val="100000"/>
              <a:buChar char="•"/>
            </a:pPr>
            <a:r>
              <a:rPr lang="en-US" sz="1467" dirty="0">
                <a:solidFill>
                  <a:srgbClr val="E5E0DF"/>
                </a:solidFill>
                <a:latin typeface="+mj-lt"/>
                <a:ea typeface="Barlow" pitchFamily="34" charset="-122"/>
                <a:cs typeface="Barlow" pitchFamily="34" charset="-120"/>
              </a:rPr>
              <a:t>Network traffic patterns</a:t>
            </a:r>
            <a:endParaRPr lang="en-US" sz="1467" dirty="0">
              <a:latin typeface="+mj-lt"/>
            </a:endParaRPr>
          </a:p>
        </p:txBody>
      </p:sp>
      <p:sp>
        <p:nvSpPr>
          <p:cNvPr id="19" name="Shape 17"/>
          <p:cNvSpPr/>
          <p:nvPr/>
        </p:nvSpPr>
        <p:spPr>
          <a:xfrm>
            <a:off x="6333728" y="5053905"/>
            <a:ext cx="5144592" cy="992584"/>
          </a:xfrm>
          <a:prstGeom prst="roundRect">
            <a:avLst>
              <a:gd name="adj" fmla="val 8026"/>
            </a:avLst>
          </a:prstGeom>
          <a:solidFill>
            <a:srgbClr val="790709"/>
          </a:solidFill>
          <a:ln/>
        </p:spPr>
        <p:txBody>
          <a:bodyPr/>
          <a:lstStyle/>
          <a:p>
            <a:endParaRPr lang="en-US" sz="2400">
              <a:latin typeface="+mj-lt"/>
            </a:endParaRPr>
          </a:p>
        </p:txBody>
      </p:sp>
      <p:pic>
        <p:nvPicPr>
          <p:cNvPr id="20" name="Image 0" descr="preencoded.png"/>
          <p:cNvPicPr>
            <a:picLocks noChangeAspect="1"/>
          </p:cNvPicPr>
          <p:nvPr/>
        </p:nvPicPr>
        <p:blipFill>
          <a:blip r:embed="rId3"/>
          <a:stretch>
            <a:fillRect/>
          </a:stretch>
        </p:blipFill>
        <p:spPr>
          <a:xfrm>
            <a:off x="6523336" y="5340747"/>
            <a:ext cx="237033" cy="189607"/>
          </a:xfrm>
          <a:prstGeom prst="rect">
            <a:avLst/>
          </a:prstGeom>
        </p:spPr>
      </p:pic>
      <p:sp>
        <p:nvSpPr>
          <p:cNvPr id="21" name="Text 18"/>
          <p:cNvSpPr/>
          <p:nvPr/>
        </p:nvSpPr>
        <p:spPr>
          <a:xfrm>
            <a:off x="6949977" y="5258593"/>
            <a:ext cx="4338737" cy="583208"/>
          </a:xfrm>
          <a:prstGeom prst="rect">
            <a:avLst/>
          </a:prstGeom>
          <a:noFill/>
          <a:ln/>
        </p:spPr>
        <p:txBody>
          <a:bodyPr wrap="square" lIns="0" tIns="0" rIns="0" bIns="0" rtlCol="0" anchor="t">
            <a:normAutofit/>
          </a:bodyPr>
          <a:lstStyle/>
          <a:p>
            <a:pPr>
              <a:lnSpc>
                <a:spcPct val="128000"/>
              </a:lnSpc>
            </a:pPr>
            <a:r>
              <a:rPr lang="en-US" sz="1467" b="1" dirty="0">
                <a:solidFill>
                  <a:srgbClr val="FFFFFF"/>
                </a:solidFill>
                <a:latin typeface="+mj-lt"/>
                <a:ea typeface="Barlow Bold" pitchFamily="34" charset="-122"/>
                <a:cs typeface="Barlow Bold" pitchFamily="34" charset="-120"/>
              </a:rPr>
              <a:t>Next:</a:t>
            </a:r>
            <a:r>
              <a:rPr lang="en-US" sz="1467" dirty="0">
                <a:solidFill>
                  <a:srgbClr val="FFFFFF"/>
                </a:solidFill>
                <a:latin typeface="+mj-lt"/>
                <a:ea typeface="Barlow" pitchFamily="34" charset="-122"/>
                <a:cs typeface="Barlow" pitchFamily="34" charset="-120"/>
              </a:rPr>
              <a:t> Attack Phase</a:t>
            </a:r>
            <a:r>
              <a:rPr lang="ar-EG" sz="1467" dirty="0">
                <a:solidFill>
                  <a:srgbClr val="FFFFFF"/>
                </a:solidFill>
                <a:latin typeface="+mj-lt"/>
                <a:ea typeface="Barlow" pitchFamily="34" charset="-122"/>
                <a:cs typeface="Barlow" pitchFamily="34" charset="-120"/>
              </a:rPr>
              <a:t> </a:t>
            </a:r>
            <a:r>
              <a:rPr lang="en-US" sz="1467" dirty="0">
                <a:solidFill>
                  <a:srgbClr val="FFFFFF"/>
                </a:solidFill>
                <a:latin typeface="+mj-lt"/>
                <a:ea typeface="Barlow" pitchFamily="34" charset="-122"/>
                <a:cs typeface="Barlow" pitchFamily="34" charset="-120"/>
              </a:rPr>
              <a:t>vulnerability exploitation and privilege escalation.</a:t>
            </a:r>
            <a:endParaRPr lang="en-US" sz="1467" dirty="0">
              <a:latin typeface="+mj-lt"/>
            </a:endParaRPr>
          </a:p>
        </p:txBody>
      </p:sp>
      <p:sp>
        <p:nvSpPr>
          <p:cNvPr id="24" name="Footer Placeholder 23">
            <a:extLst>
              <a:ext uri="{FF2B5EF4-FFF2-40B4-BE49-F238E27FC236}">
                <a16:creationId xmlns:a16="http://schemas.microsoft.com/office/drawing/2014/main" id="{52D77047-CBCD-DF8C-7B83-DA90C4EA3050}"/>
              </a:ext>
            </a:extLst>
          </p:cNvPr>
          <p:cNvSpPr>
            <a:spLocks noGrp="1"/>
          </p:cNvSpPr>
          <p:nvPr>
            <p:ph type="ftr" sz="quarter" idx="3"/>
          </p:nvPr>
        </p:nvSpPr>
        <p:spPr/>
        <p:txBody>
          <a:bodyPr/>
          <a:lstStyle/>
          <a:p>
            <a:r>
              <a:rPr lang="en-US" dirty="0">
                <a:latin typeface="+mj-lt"/>
              </a:rPr>
              <a:t>Zero Trace Imperium</a:t>
            </a:r>
          </a:p>
        </p:txBody>
      </p:sp>
      <p:sp>
        <p:nvSpPr>
          <p:cNvPr id="25" name="Slide Number Placeholder 24">
            <a:extLst>
              <a:ext uri="{FF2B5EF4-FFF2-40B4-BE49-F238E27FC236}">
                <a16:creationId xmlns:a16="http://schemas.microsoft.com/office/drawing/2014/main" id="{46773834-4259-2C8D-FDFA-FE48AA1D5E36}"/>
              </a:ext>
            </a:extLst>
          </p:cNvPr>
          <p:cNvSpPr>
            <a:spLocks noGrp="1"/>
          </p:cNvSpPr>
          <p:nvPr>
            <p:ph type="sldNum" sz="quarter" idx="4"/>
          </p:nvPr>
        </p:nvSpPr>
        <p:spPr/>
        <p:txBody>
          <a:bodyPr/>
          <a:lstStyle/>
          <a:p>
            <a:fld id="{08D6B0A0-5113-456A-82B3-EA8CCD6D43D8}" type="slidenum">
              <a:rPr lang="en-US" smtClean="0">
                <a:latin typeface="+mj-lt"/>
              </a:rPr>
              <a:t>9</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24" y="2390080"/>
            <a:ext cx="1024348" cy="220167"/>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716925" y="2444155"/>
            <a:ext cx="1275357"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PHASE : 03</a:t>
            </a:r>
            <a:endParaRPr lang="en-US" sz="1133" dirty="0">
              <a:latin typeface="+mj-lt"/>
            </a:endParaRPr>
          </a:p>
        </p:txBody>
      </p:sp>
      <p:sp>
        <p:nvSpPr>
          <p:cNvPr id="4" name="Text 2"/>
          <p:cNvSpPr/>
          <p:nvPr/>
        </p:nvSpPr>
        <p:spPr>
          <a:xfrm>
            <a:off x="631924" y="2736454"/>
            <a:ext cx="10928152"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Attack Phase</a:t>
            </a:r>
            <a:endParaRPr lang="en-US" sz="3733" dirty="0">
              <a:latin typeface="+mj-lt"/>
            </a:endParaRPr>
          </a:p>
        </p:txBody>
      </p:sp>
      <p:sp>
        <p:nvSpPr>
          <p:cNvPr id="5" name="Text 3"/>
          <p:cNvSpPr/>
          <p:nvPr/>
        </p:nvSpPr>
        <p:spPr>
          <a:xfrm>
            <a:off x="631924" y="3601145"/>
            <a:ext cx="10928152" cy="866775"/>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Following reconnaissance, controlled attacks were performed to validate identified vulnerabilities inside an isolated laboratory environment. The objective was to demonstrate realistic attack scenarios while collecting technical evidence without impacting production systems.</a:t>
            </a:r>
            <a:endParaRPr lang="en-US" sz="1400" dirty="0">
              <a:latin typeface="+mj-lt"/>
            </a:endParaRPr>
          </a:p>
        </p:txBody>
      </p:sp>
      <p:sp>
        <p:nvSpPr>
          <p:cNvPr id="8" name="Footer Placeholder 7">
            <a:extLst>
              <a:ext uri="{FF2B5EF4-FFF2-40B4-BE49-F238E27FC236}">
                <a16:creationId xmlns:a16="http://schemas.microsoft.com/office/drawing/2014/main" id="{AF23EF99-EA7C-C8BA-C1AA-FDB95DCFE73A}"/>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9" name="Slide Number Placeholder 8">
            <a:extLst>
              <a:ext uri="{FF2B5EF4-FFF2-40B4-BE49-F238E27FC236}">
                <a16:creationId xmlns:a16="http://schemas.microsoft.com/office/drawing/2014/main" id="{CFF03670-F3FA-1AE5-532E-BCC6D04D6F4E}"/>
              </a:ext>
            </a:extLst>
          </p:cNvPr>
          <p:cNvSpPr>
            <a:spLocks noGrp="1"/>
          </p:cNvSpPr>
          <p:nvPr>
            <p:ph type="sldNum" sz="quarter" idx="4"/>
          </p:nvPr>
        </p:nvSpPr>
        <p:spPr/>
        <p:txBody>
          <a:bodyPr/>
          <a:lstStyle/>
          <a:p>
            <a:fld id="{08D6B0A0-5113-456A-82B3-EA8CCD6D43D8}" type="slidenum">
              <a:rPr lang="en-US" smtClean="0">
                <a:latin typeface="+mj-lt"/>
              </a:rPr>
              <a:t>10</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41147" y="496491"/>
            <a:ext cx="4761486" cy="566043"/>
          </a:xfrm>
          <a:prstGeom prst="rect">
            <a:avLst/>
          </a:prstGeom>
          <a:noFill/>
          <a:ln/>
        </p:spPr>
        <p:txBody>
          <a:bodyPr wrap="none" lIns="0" tIns="0" rIns="0" bIns="0" rtlCol="0" anchor="t"/>
          <a:lstStyle/>
          <a:p>
            <a:pPr>
              <a:lnSpc>
                <a:spcPct val="104000"/>
              </a:lnSpc>
            </a:pPr>
            <a:r>
              <a:rPr lang="en-US" sz="3533" dirty="0">
                <a:solidFill>
                  <a:srgbClr val="FAEBEB"/>
                </a:solidFill>
                <a:latin typeface="+mj-lt"/>
                <a:ea typeface="Dela Gothic One" pitchFamily="34" charset="-122"/>
                <a:cs typeface="Dela Gothic One" pitchFamily="34" charset="-120"/>
              </a:rPr>
              <a:t>Assessment Categories</a:t>
            </a:r>
            <a:endParaRPr lang="en-US" sz="3533" dirty="0">
              <a:latin typeface="+mj-lt"/>
            </a:endParaRPr>
          </a:p>
        </p:txBody>
      </p:sp>
      <p:sp>
        <p:nvSpPr>
          <p:cNvPr id="3" name="Text 1"/>
          <p:cNvSpPr/>
          <p:nvPr/>
        </p:nvSpPr>
        <p:spPr>
          <a:xfrm>
            <a:off x="631924" y="1390551"/>
            <a:ext cx="11537752" cy="268784"/>
          </a:xfrm>
          <a:prstGeom prst="rect">
            <a:avLst/>
          </a:prstGeom>
          <a:noFill/>
          <a:ln/>
        </p:spPr>
        <p:txBody>
          <a:bodyPr wrap="none" lIns="0" tIns="0" rIns="0" bIns="0" rtlCol="0" anchor="t"/>
          <a:lstStyle/>
          <a:p>
            <a:pPr>
              <a:lnSpc>
                <a:spcPct val="130000"/>
              </a:lnSpc>
            </a:pPr>
            <a:r>
              <a:rPr lang="en-US" sz="1333" dirty="0">
                <a:solidFill>
                  <a:srgbClr val="FFE5E5"/>
                </a:solidFill>
                <a:latin typeface="+mj-lt"/>
                <a:ea typeface="DM Sans" pitchFamily="34" charset="-122"/>
                <a:cs typeface="DM Sans" pitchFamily="34" charset="-120"/>
              </a:rPr>
              <a:t>Eight attack categories were tested in the isolated lab to validate identified vulnerabilities.</a:t>
            </a:r>
            <a:endParaRPr lang="en-US" sz="1333" dirty="0">
              <a:latin typeface="+mj-lt"/>
            </a:endParaRPr>
          </a:p>
        </p:txBody>
      </p:sp>
      <p:sp>
        <p:nvSpPr>
          <p:cNvPr id="4" name="Shape 2"/>
          <p:cNvSpPr/>
          <p:nvPr/>
        </p:nvSpPr>
        <p:spPr>
          <a:xfrm>
            <a:off x="631924" y="1843783"/>
            <a:ext cx="5382021" cy="1006872"/>
          </a:xfrm>
          <a:prstGeom prst="roundRect">
            <a:avLst>
              <a:gd name="adj" fmla="val 7178"/>
            </a:avLst>
          </a:prstGeom>
          <a:solidFill>
            <a:srgbClr val="740B0B"/>
          </a:solidFill>
          <a:ln w="4763">
            <a:solidFill>
              <a:srgbClr val="8D2424"/>
            </a:solidFill>
            <a:prstDash val="solid"/>
          </a:ln>
        </p:spPr>
        <p:txBody>
          <a:bodyPr/>
          <a:lstStyle/>
          <a:p>
            <a:endParaRPr lang="en-US" sz="2400">
              <a:latin typeface="+mj-lt"/>
            </a:endParaRPr>
          </a:p>
        </p:txBody>
      </p:sp>
      <p:sp>
        <p:nvSpPr>
          <p:cNvPr id="5" name="Text 3"/>
          <p:cNvSpPr/>
          <p:nvPr/>
        </p:nvSpPr>
        <p:spPr>
          <a:xfrm>
            <a:off x="810321" y="2022178"/>
            <a:ext cx="2793035" cy="282972"/>
          </a:xfrm>
          <a:prstGeom prst="rect">
            <a:avLst/>
          </a:prstGeom>
          <a:noFill/>
          <a:ln/>
        </p:spPr>
        <p:txBody>
          <a:bodyPr wrap="none" lIns="0" tIns="0" rIns="0" bIns="0" rtlCol="0" anchor="t"/>
          <a:lstStyle/>
          <a:p>
            <a:pPr>
              <a:lnSpc>
                <a:spcPct val="104000"/>
              </a:lnSpc>
            </a:pPr>
            <a:r>
              <a:rPr lang="en-US" sz="1733" dirty="0">
                <a:solidFill>
                  <a:srgbClr val="FFE5E5"/>
                </a:solidFill>
                <a:latin typeface="+mj-lt"/>
                <a:ea typeface="Dela Gothic One" pitchFamily="34" charset="-122"/>
                <a:cs typeface="Dela Gothic One" pitchFamily="34" charset="-120"/>
              </a:rPr>
              <a:t>Authentication Security</a:t>
            </a:r>
            <a:endParaRPr lang="en-US" sz="1733" dirty="0">
              <a:latin typeface="+mj-lt"/>
            </a:endParaRPr>
          </a:p>
        </p:txBody>
      </p:sp>
      <p:sp>
        <p:nvSpPr>
          <p:cNvPr id="6" name="Text 4"/>
          <p:cNvSpPr/>
          <p:nvPr/>
        </p:nvSpPr>
        <p:spPr>
          <a:xfrm>
            <a:off x="810321" y="2403475"/>
            <a:ext cx="5025231" cy="268784"/>
          </a:xfrm>
          <a:prstGeom prst="rect">
            <a:avLst/>
          </a:prstGeom>
          <a:noFill/>
          <a:ln/>
        </p:spPr>
        <p:txBody>
          <a:bodyPr wrap="none" lIns="0" tIns="0" rIns="0" bIns="0" rtlCol="0" anchor="t"/>
          <a:lstStyle/>
          <a:p>
            <a:pPr>
              <a:lnSpc>
                <a:spcPct val="130000"/>
              </a:lnSpc>
            </a:pPr>
            <a:r>
              <a:rPr lang="en-US" sz="1333" dirty="0">
                <a:solidFill>
                  <a:srgbClr val="FFE5E5"/>
                </a:solidFill>
                <a:latin typeface="+mj-lt"/>
                <a:ea typeface="DM Sans" pitchFamily="34" charset="-122"/>
                <a:cs typeface="DM Sans" pitchFamily="34" charset="-120"/>
              </a:rPr>
              <a:t>Password strength and login controls</a:t>
            </a:r>
            <a:endParaRPr lang="en-US" sz="1333" dirty="0">
              <a:latin typeface="+mj-lt"/>
            </a:endParaRPr>
          </a:p>
        </p:txBody>
      </p:sp>
      <p:sp>
        <p:nvSpPr>
          <p:cNvPr id="7" name="Shape 5"/>
          <p:cNvSpPr/>
          <p:nvPr/>
        </p:nvSpPr>
        <p:spPr>
          <a:xfrm>
            <a:off x="6177956" y="1843783"/>
            <a:ext cx="5382121" cy="1006872"/>
          </a:xfrm>
          <a:prstGeom prst="roundRect">
            <a:avLst>
              <a:gd name="adj" fmla="val 7178"/>
            </a:avLst>
          </a:prstGeom>
          <a:solidFill>
            <a:srgbClr val="740B0B"/>
          </a:solidFill>
          <a:ln w="4763">
            <a:solidFill>
              <a:srgbClr val="8D2424"/>
            </a:solidFill>
            <a:prstDash val="solid"/>
          </a:ln>
        </p:spPr>
        <p:txBody>
          <a:bodyPr/>
          <a:lstStyle/>
          <a:p>
            <a:endParaRPr lang="en-US" sz="2400">
              <a:latin typeface="+mj-lt"/>
            </a:endParaRPr>
          </a:p>
        </p:txBody>
      </p:sp>
      <p:sp>
        <p:nvSpPr>
          <p:cNvPr id="8" name="Text 6"/>
          <p:cNvSpPr/>
          <p:nvPr/>
        </p:nvSpPr>
        <p:spPr>
          <a:xfrm>
            <a:off x="6356352" y="2022178"/>
            <a:ext cx="1354056" cy="282972"/>
          </a:xfrm>
          <a:prstGeom prst="rect">
            <a:avLst/>
          </a:prstGeom>
          <a:noFill/>
          <a:ln/>
        </p:spPr>
        <p:txBody>
          <a:bodyPr wrap="none" lIns="0" tIns="0" rIns="0" bIns="0" rtlCol="0" anchor="t"/>
          <a:lstStyle/>
          <a:p>
            <a:pPr>
              <a:lnSpc>
                <a:spcPct val="104000"/>
              </a:lnSpc>
            </a:pPr>
            <a:r>
              <a:rPr lang="en-US" sz="1733" dirty="0">
                <a:solidFill>
                  <a:srgbClr val="FFE5E5"/>
                </a:solidFill>
                <a:latin typeface="+mj-lt"/>
                <a:ea typeface="Dela Gothic One" pitchFamily="34" charset="-122"/>
                <a:cs typeface="Dela Gothic One" pitchFamily="34" charset="-120"/>
              </a:rPr>
              <a:t>SQL Injection</a:t>
            </a:r>
            <a:endParaRPr lang="en-US" sz="1733" dirty="0">
              <a:latin typeface="+mj-lt"/>
            </a:endParaRPr>
          </a:p>
        </p:txBody>
      </p:sp>
      <p:sp>
        <p:nvSpPr>
          <p:cNvPr id="9" name="Text 7"/>
          <p:cNvSpPr/>
          <p:nvPr/>
        </p:nvSpPr>
        <p:spPr>
          <a:xfrm>
            <a:off x="6356351" y="2403475"/>
            <a:ext cx="2345947" cy="268784"/>
          </a:xfrm>
          <a:prstGeom prst="rect">
            <a:avLst/>
          </a:prstGeom>
          <a:noFill/>
          <a:ln/>
        </p:spPr>
        <p:txBody>
          <a:bodyPr wrap="none" lIns="0" tIns="0" rIns="0" bIns="0" rtlCol="0" anchor="t"/>
          <a:lstStyle/>
          <a:p>
            <a:pPr>
              <a:lnSpc>
                <a:spcPct val="130000"/>
              </a:lnSpc>
            </a:pPr>
            <a:r>
              <a:rPr lang="en-US" sz="1333" dirty="0">
                <a:solidFill>
                  <a:srgbClr val="FFE5E5"/>
                </a:solidFill>
                <a:latin typeface="+mj-lt"/>
                <a:ea typeface="DM Sans" pitchFamily="34" charset="-122"/>
                <a:cs typeface="DM Sans" pitchFamily="34" charset="-120"/>
              </a:rPr>
              <a:t>Database query manipulation</a:t>
            </a:r>
            <a:endParaRPr lang="en-US" sz="1333" dirty="0">
              <a:latin typeface="+mj-lt"/>
            </a:endParaRPr>
          </a:p>
        </p:txBody>
      </p:sp>
      <p:sp>
        <p:nvSpPr>
          <p:cNvPr id="10" name="Shape 8"/>
          <p:cNvSpPr/>
          <p:nvPr/>
        </p:nvSpPr>
        <p:spPr>
          <a:xfrm>
            <a:off x="631924" y="3014663"/>
            <a:ext cx="5382021" cy="1006872"/>
          </a:xfrm>
          <a:prstGeom prst="roundRect">
            <a:avLst>
              <a:gd name="adj" fmla="val 7178"/>
            </a:avLst>
          </a:prstGeom>
          <a:solidFill>
            <a:srgbClr val="740B0B"/>
          </a:solidFill>
          <a:ln w="4763">
            <a:solidFill>
              <a:srgbClr val="8D2424"/>
            </a:solidFill>
            <a:prstDash val="solid"/>
          </a:ln>
        </p:spPr>
        <p:txBody>
          <a:bodyPr/>
          <a:lstStyle/>
          <a:p>
            <a:endParaRPr lang="en-US" sz="2400">
              <a:latin typeface="+mj-lt"/>
            </a:endParaRPr>
          </a:p>
        </p:txBody>
      </p:sp>
      <p:sp>
        <p:nvSpPr>
          <p:cNvPr id="11" name="Text 9"/>
          <p:cNvSpPr/>
          <p:nvPr/>
        </p:nvSpPr>
        <p:spPr>
          <a:xfrm>
            <a:off x="810322" y="3193058"/>
            <a:ext cx="1940628" cy="282972"/>
          </a:xfrm>
          <a:prstGeom prst="rect">
            <a:avLst/>
          </a:prstGeom>
          <a:noFill/>
          <a:ln/>
        </p:spPr>
        <p:txBody>
          <a:bodyPr wrap="none" lIns="0" tIns="0" rIns="0" bIns="0" rtlCol="0" anchor="t"/>
          <a:lstStyle/>
          <a:p>
            <a:pPr>
              <a:lnSpc>
                <a:spcPct val="104000"/>
              </a:lnSpc>
            </a:pPr>
            <a:r>
              <a:rPr lang="en-US" sz="1733" dirty="0">
                <a:solidFill>
                  <a:srgbClr val="FFE5E5"/>
                </a:solidFill>
                <a:latin typeface="+mj-lt"/>
                <a:ea typeface="Dela Gothic One" pitchFamily="34" charset="-122"/>
                <a:cs typeface="Dela Gothic One" pitchFamily="34" charset="-120"/>
              </a:rPr>
              <a:t>Cross</a:t>
            </a:r>
            <a:r>
              <a:rPr lang="ar-EG" sz="1733" dirty="0">
                <a:solidFill>
                  <a:srgbClr val="FFE5E5"/>
                </a:solidFill>
                <a:latin typeface="+mj-lt"/>
                <a:ea typeface="Dela Gothic One" pitchFamily="34" charset="-122"/>
                <a:cs typeface="Dela Gothic One" pitchFamily="34" charset="-120"/>
              </a:rPr>
              <a:t> </a:t>
            </a:r>
            <a:r>
              <a:rPr lang="en-US" sz="1733" dirty="0">
                <a:solidFill>
                  <a:srgbClr val="FFE5E5"/>
                </a:solidFill>
                <a:latin typeface="+mj-lt"/>
                <a:ea typeface="Dela Gothic One" pitchFamily="34" charset="-122"/>
                <a:cs typeface="Dela Gothic One" pitchFamily="34" charset="-120"/>
              </a:rPr>
              <a:t>Site Scripting</a:t>
            </a:r>
            <a:endParaRPr lang="en-US" sz="1733" dirty="0">
              <a:latin typeface="+mj-lt"/>
            </a:endParaRPr>
          </a:p>
        </p:txBody>
      </p:sp>
      <p:sp>
        <p:nvSpPr>
          <p:cNvPr id="12" name="Text 10"/>
          <p:cNvSpPr/>
          <p:nvPr/>
        </p:nvSpPr>
        <p:spPr>
          <a:xfrm>
            <a:off x="810321" y="3574356"/>
            <a:ext cx="5025231" cy="268784"/>
          </a:xfrm>
          <a:prstGeom prst="rect">
            <a:avLst/>
          </a:prstGeom>
          <a:noFill/>
          <a:ln/>
        </p:spPr>
        <p:txBody>
          <a:bodyPr wrap="none" lIns="0" tIns="0" rIns="0" bIns="0" rtlCol="0" anchor="t"/>
          <a:lstStyle/>
          <a:p>
            <a:pPr>
              <a:lnSpc>
                <a:spcPct val="130000"/>
              </a:lnSpc>
            </a:pPr>
            <a:r>
              <a:rPr lang="en-US" sz="1333" dirty="0">
                <a:solidFill>
                  <a:srgbClr val="FFE5E5"/>
                </a:solidFill>
                <a:latin typeface="+mj-lt"/>
                <a:ea typeface="DM Sans" pitchFamily="34" charset="-122"/>
                <a:cs typeface="DM Sans" pitchFamily="34" charset="-120"/>
              </a:rPr>
              <a:t>Client-side script injection</a:t>
            </a:r>
            <a:endParaRPr lang="en-US" sz="1333" dirty="0">
              <a:latin typeface="+mj-lt"/>
            </a:endParaRPr>
          </a:p>
        </p:txBody>
      </p:sp>
      <p:sp>
        <p:nvSpPr>
          <p:cNvPr id="13" name="Shape 11"/>
          <p:cNvSpPr/>
          <p:nvPr/>
        </p:nvSpPr>
        <p:spPr>
          <a:xfrm>
            <a:off x="6177956" y="3014663"/>
            <a:ext cx="5382121" cy="1006872"/>
          </a:xfrm>
          <a:prstGeom prst="roundRect">
            <a:avLst>
              <a:gd name="adj" fmla="val 7178"/>
            </a:avLst>
          </a:prstGeom>
          <a:solidFill>
            <a:srgbClr val="740B0B"/>
          </a:solidFill>
          <a:ln w="4763">
            <a:solidFill>
              <a:srgbClr val="8D2424"/>
            </a:solidFill>
            <a:prstDash val="solid"/>
          </a:ln>
        </p:spPr>
        <p:txBody>
          <a:bodyPr/>
          <a:lstStyle/>
          <a:p>
            <a:endParaRPr lang="en-US" sz="2400">
              <a:latin typeface="+mj-lt"/>
            </a:endParaRPr>
          </a:p>
        </p:txBody>
      </p:sp>
      <p:sp>
        <p:nvSpPr>
          <p:cNvPr id="14" name="Text 12"/>
          <p:cNvSpPr/>
          <p:nvPr/>
        </p:nvSpPr>
        <p:spPr>
          <a:xfrm>
            <a:off x="6356351" y="3193058"/>
            <a:ext cx="2345947" cy="282972"/>
          </a:xfrm>
          <a:prstGeom prst="rect">
            <a:avLst/>
          </a:prstGeom>
          <a:noFill/>
          <a:ln/>
        </p:spPr>
        <p:txBody>
          <a:bodyPr wrap="none" lIns="0" tIns="0" rIns="0" bIns="0" rtlCol="0" anchor="t"/>
          <a:lstStyle/>
          <a:p>
            <a:pPr>
              <a:lnSpc>
                <a:spcPct val="104000"/>
              </a:lnSpc>
            </a:pPr>
            <a:r>
              <a:rPr lang="en-US" sz="1733" dirty="0">
                <a:solidFill>
                  <a:srgbClr val="FFE5E5"/>
                </a:solidFill>
                <a:latin typeface="+mj-lt"/>
                <a:ea typeface="Dela Gothic One" pitchFamily="34" charset="-122"/>
                <a:cs typeface="Dela Gothic One" pitchFamily="34" charset="-120"/>
              </a:rPr>
              <a:t>Command Injection</a:t>
            </a:r>
            <a:endParaRPr lang="en-US" sz="1733" dirty="0">
              <a:latin typeface="+mj-lt"/>
            </a:endParaRPr>
          </a:p>
        </p:txBody>
      </p:sp>
      <p:sp>
        <p:nvSpPr>
          <p:cNvPr id="15" name="Text 13"/>
          <p:cNvSpPr/>
          <p:nvPr/>
        </p:nvSpPr>
        <p:spPr>
          <a:xfrm>
            <a:off x="6356351" y="3574356"/>
            <a:ext cx="5025331" cy="268784"/>
          </a:xfrm>
          <a:prstGeom prst="rect">
            <a:avLst/>
          </a:prstGeom>
          <a:noFill/>
          <a:ln/>
        </p:spPr>
        <p:txBody>
          <a:bodyPr wrap="none" lIns="0" tIns="0" rIns="0" bIns="0" rtlCol="0" anchor="t"/>
          <a:lstStyle/>
          <a:p>
            <a:pPr>
              <a:lnSpc>
                <a:spcPct val="130000"/>
              </a:lnSpc>
            </a:pPr>
            <a:r>
              <a:rPr lang="en-US" sz="1333" dirty="0">
                <a:solidFill>
                  <a:srgbClr val="FFE5E5"/>
                </a:solidFill>
                <a:latin typeface="+mj-lt"/>
                <a:ea typeface="DM Sans" pitchFamily="34" charset="-122"/>
                <a:cs typeface="DM Sans" pitchFamily="34" charset="-120"/>
              </a:rPr>
              <a:t>OS command execution</a:t>
            </a:r>
            <a:endParaRPr lang="en-US" sz="1333" dirty="0">
              <a:latin typeface="+mj-lt"/>
            </a:endParaRPr>
          </a:p>
        </p:txBody>
      </p:sp>
      <p:sp>
        <p:nvSpPr>
          <p:cNvPr id="16" name="Shape 14"/>
          <p:cNvSpPr/>
          <p:nvPr/>
        </p:nvSpPr>
        <p:spPr>
          <a:xfrm>
            <a:off x="631924" y="4185543"/>
            <a:ext cx="5382021" cy="1006872"/>
          </a:xfrm>
          <a:prstGeom prst="roundRect">
            <a:avLst>
              <a:gd name="adj" fmla="val 7178"/>
            </a:avLst>
          </a:prstGeom>
          <a:solidFill>
            <a:srgbClr val="740B0B"/>
          </a:solidFill>
          <a:ln w="4763">
            <a:solidFill>
              <a:srgbClr val="8D2424"/>
            </a:solidFill>
            <a:prstDash val="solid"/>
          </a:ln>
        </p:spPr>
        <p:txBody>
          <a:bodyPr/>
          <a:lstStyle/>
          <a:p>
            <a:endParaRPr lang="en-US" sz="2400">
              <a:latin typeface="+mj-lt"/>
            </a:endParaRPr>
          </a:p>
        </p:txBody>
      </p:sp>
      <p:sp>
        <p:nvSpPr>
          <p:cNvPr id="17" name="Text 15"/>
          <p:cNvSpPr/>
          <p:nvPr/>
        </p:nvSpPr>
        <p:spPr>
          <a:xfrm>
            <a:off x="810322" y="4363939"/>
            <a:ext cx="1336194" cy="282972"/>
          </a:xfrm>
          <a:prstGeom prst="rect">
            <a:avLst/>
          </a:prstGeom>
          <a:noFill/>
          <a:ln/>
        </p:spPr>
        <p:txBody>
          <a:bodyPr wrap="none" lIns="0" tIns="0" rIns="0" bIns="0" rtlCol="0" anchor="t"/>
          <a:lstStyle/>
          <a:p>
            <a:pPr>
              <a:lnSpc>
                <a:spcPct val="104000"/>
              </a:lnSpc>
            </a:pPr>
            <a:r>
              <a:rPr lang="en-US" sz="1733" dirty="0">
                <a:solidFill>
                  <a:srgbClr val="FFE5E5"/>
                </a:solidFill>
                <a:latin typeface="+mj-lt"/>
                <a:ea typeface="Dela Gothic One" pitchFamily="34" charset="-122"/>
                <a:cs typeface="Dela Gothic One" pitchFamily="34" charset="-120"/>
              </a:rPr>
              <a:t>File Upload</a:t>
            </a:r>
            <a:endParaRPr lang="en-US" sz="1733" dirty="0">
              <a:latin typeface="+mj-lt"/>
            </a:endParaRPr>
          </a:p>
        </p:txBody>
      </p:sp>
      <p:sp>
        <p:nvSpPr>
          <p:cNvPr id="18" name="Text 16"/>
          <p:cNvSpPr/>
          <p:nvPr/>
        </p:nvSpPr>
        <p:spPr>
          <a:xfrm>
            <a:off x="810321" y="4745236"/>
            <a:ext cx="5025231" cy="268784"/>
          </a:xfrm>
          <a:prstGeom prst="rect">
            <a:avLst/>
          </a:prstGeom>
          <a:noFill/>
          <a:ln/>
        </p:spPr>
        <p:txBody>
          <a:bodyPr wrap="none" lIns="0" tIns="0" rIns="0" bIns="0" rtlCol="0" anchor="t"/>
          <a:lstStyle/>
          <a:p>
            <a:pPr>
              <a:lnSpc>
                <a:spcPct val="130000"/>
              </a:lnSpc>
            </a:pPr>
            <a:r>
              <a:rPr lang="en-US" sz="1333" dirty="0">
                <a:solidFill>
                  <a:srgbClr val="FFE5E5"/>
                </a:solidFill>
                <a:latin typeface="+mj-lt"/>
                <a:ea typeface="DM Sans" pitchFamily="34" charset="-122"/>
                <a:cs typeface="DM Sans" pitchFamily="34" charset="-120"/>
              </a:rPr>
              <a:t>Upload validation bypass</a:t>
            </a:r>
            <a:endParaRPr lang="en-US" sz="1333" dirty="0">
              <a:latin typeface="+mj-lt"/>
            </a:endParaRPr>
          </a:p>
        </p:txBody>
      </p:sp>
      <p:sp>
        <p:nvSpPr>
          <p:cNvPr id="19" name="Shape 17"/>
          <p:cNvSpPr/>
          <p:nvPr/>
        </p:nvSpPr>
        <p:spPr>
          <a:xfrm>
            <a:off x="6177956" y="4185543"/>
            <a:ext cx="5382121" cy="1006872"/>
          </a:xfrm>
          <a:prstGeom prst="roundRect">
            <a:avLst>
              <a:gd name="adj" fmla="val 7178"/>
            </a:avLst>
          </a:prstGeom>
          <a:solidFill>
            <a:srgbClr val="740B0B"/>
          </a:solidFill>
          <a:ln w="4763">
            <a:solidFill>
              <a:srgbClr val="8D2424"/>
            </a:solidFill>
            <a:prstDash val="solid"/>
          </a:ln>
        </p:spPr>
        <p:txBody>
          <a:bodyPr/>
          <a:lstStyle/>
          <a:p>
            <a:endParaRPr lang="en-US" sz="2400">
              <a:latin typeface="+mj-lt"/>
            </a:endParaRPr>
          </a:p>
        </p:txBody>
      </p:sp>
      <p:sp>
        <p:nvSpPr>
          <p:cNvPr id="20" name="Text 18"/>
          <p:cNvSpPr/>
          <p:nvPr/>
        </p:nvSpPr>
        <p:spPr>
          <a:xfrm>
            <a:off x="6356351" y="4363939"/>
            <a:ext cx="1927493" cy="282972"/>
          </a:xfrm>
          <a:prstGeom prst="rect">
            <a:avLst/>
          </a:prstGeom>
          <a:noFill/>
          <a:ln/>
        </p:spPr>
        <p:txBody>
          <a:bodyPr wrap="none" lIns="0" tIns="0" rIns="0" bIns="0" rtlCol="0" anchor="t"/>
          <a:lstStyle/>
          <a:p>
            <a:pPr>
              <a:lnSpc>
                <a:spcPct val="104000"/>
              </a:lnSpc>
            </a:pPr>
            <a:r>
              <a:rPr lang="en-US" sz="1733" dirty="0">
                <a:solidFill>
                  <a:srgbClr val="FFE5E5"/>
                </a:solidFill>
                <a:latin typeface="+mj-lt"/>
                <a:ea typeface="Dela Gothic One" pitchFamily="34" charset="-122"/>
                <a:cs typeface="Dela Gothic One" pitchFamily="34" charset="-120"/>
              </a:rPr>
              <a:t>Local File Inclusion</a:t>
            </a:r>
            <a:endParaRPr lang="en-US" sz="1733" dirty="0">
              <a:latin typeface="+mj-lt"/>
            </a:endParaRPr>
          </a:p>
        </p:txBody>
      </p:sp>
      <p:sp>
        <p:nvSpPr>
          <p:cNvPr id="21" name="Text 19"/>
          <p:cNvSpPr/>
          <p:nvPr/>
        </p:nvSpPr>
        <p:spPr>
          <a:xfrm>
            <a:off x="6356351" y="4745236"/>
            <a:ext cx="5025331" cy="268784"/>
          </a:xfrm>
          <a:prstGeom prst="rect">
            <a:avLst/>
          </a:prstGeom>
          <a:noFill/>
          <a:ln/>
        </p:spPr>
        <p:txBody>
          <a:bodyPr wrap="none" lIns="0" tIns="0" rIns="0" bIns="0" rtlCol="0" anchor="t"/>
          <a:lstStyle/>
          <a:p>
            <a:pPr>
              <a:lnSpc>
                <a:spcPct val="130000"/>
              </a:lnSpc>
            </a:pPr>
            <a:r>
              <a:rPr lang="en-US" sz="1333" dirty="0">
                <a:solidFill>
                  <a:srgbClr val="FFE5E5"/>
                </a:solidFill>
                <a:latin typeface="+mj-lt"/>
                <a:ea typeface="DM Sans" pitchFamily="34" charset="-122"/>
                <a:cs typeface="DM Sans" pitchFamily="34" charset="-120"/>
              </a:rPr>
              <a:t>Server file access</a:t>
            </a:r>
            <a:endParaRPr lang="en-US" sz="1333" dirty="0">
              <a:latin typeface="+mj-lt"/>
            </a:endParaRPr>
          </a:p>
        </p:txBody>
      </p:sp>
      <p:sp>
        <p:nvSpPr>
          <p:cNvPr id="22" name="Shape 20"/>
          <p:cNvSpPr/>
          <p:nvPr/>
        </p:nvSpPr>
        <p:spPr>
          <a:xfrm>
            <a:off x="631924" y="5356424"/>
            <a:ext cx="5382021" cy="1006872"/>
          </a:xfrm>
          <a:prstGeom prst="roundRect">
            <a:avLst>
              <a:gd name="adj" fmla="val 7178"/>
            </a:avLst>
          </a:prstGeom>
          <a:solidFill>
            <a:srgbClr val="740B0B"/>
          </a:solidFill>
          <a:ln w="4763">
            <a:solidFill>
              <a:srgbClr val="8D2424"/>
            </a:solidFill>
            <a:prstDash val="solid"/>
          </a:ln>
        </p:spPr>
        <p:txBody>
          <a:bodyPr/>
          <a:lstStyle/>
          <a:p>
            <a:endParaRPr lang="en-US" sz="2400">
              <a:latin typeface="+mj-lt"/>
            </a:endParaRPr>
          </a:p>
        </p:txBody>
      </p:sp>
      <p:sp>
        <p:nvSpPr>
          <p:cNvPr id="23" name="Text 21"/>
          <p:cNvSpPr/>
          <p:nvPr/>
        </p:nvSpPr>
        <p:spPr>
          <a:xfrm>
            <a:off x="810321" y="5534819"/>
            <a:ext cx="2793035" cy="282972"/>
          </a:xfrm>
          <a:prstGeom prst="rect">
            <a:avLst/>
          </a:prstGeom>
          <a:noFill/>
          <a:ln/>
        </p:spPr>
        <p:txBody>
          <a:bodyPr wrap="none" lIns="0" tIns="0" rIns="0" bIns="0" rtlCol="0" anchor="t"/>
          <a:lstStyle/>
          <a:p>
            <a:pPr>
              <a:lnSpc>
                <a:spcPct val="104000"/>
              </a:lnSpc>
            </a:pPr>
            <a:r>
              <a:rPr lang="en-US" sz="1733" dirty="0">
                <a:solidFill>
                  <a:srgbClr val="FFE5E5"/>
                </a:solidFill>
                <a:latin typeface="+mj-lt"/>
                <a:ea typeface="Dela Gothic One" pitchFamily="34" charset="-122"/>
                <a:cs typeface="Dela Gothic One" pitchFamily="34" charset="-120"/>
              </a:rPr>
              <a:t>Cross-Site Request Forgery</a:t>
            </a:r>
            <a:endParaRPr lang="en-US" sz="1733" dirty="0">
              <a:latin typeface="+mj-lt"/>
            </a:endParaRPr>
          </a:p>
        </p:txBody>
      </p:sp>
      <p:sp>
        <p:nvSpPr>
          <p:cNvPr id="24" name="Text 22"/>
          <p:cNvSpPr/>
          <p:nvPr/>
        </p:nvSpPr>
        <p:spPr>
          <a:xfrm>
            <a:off x="810321" y="5916116"/>
            <a:ext cx="5025231" cy="268784"/>
          </a:xfrm>
          <a:prstGeom prst="rect">
            <a:avLst/>
          </a:prstGeom>
          <a:noFill/>
          <a:ln/>
        </p:spPr>
        <p:txBody>
          <a:bodyPr wrap="none" lIns="0" tIns="0" rIns="0" bIns="0" rtlCol="0" anchor="t"/>
          <a:lstStyle/>
          <a:p>
            <a:pPr>
              <a:lnSpc>
                <a:spcPct val="130000"/>
              </a:lnSpc>
            </a:pPr>
            <a:r>
              <a:rPr lang="en-US" sz="1333" dirty="0">
                <a:solidFill>
                  <a:srgbClr val="FFE5E5"/>
                </a:solidFill>
                <a:latin typeface="+mj-lt"/>
                <a:ea typeface="DM Sans" pitchFamily="34" charset="-122"/>
                <a:cs typeface="DM Sans" pitchFamily="34" charset="-120"/>
              </a:rPr>
              <a:t>Authenticated request abuse</a:t>
            </a:r>
            <a:endParaRPr lang="en-US" sz="1333" dirty="0">
              <a:latin typeface="+mj-lt"/>
            </a:endParaRPr>
          </a:p>
        </p:txBody>
      </p:sp>
      <p:sp>
        <p:nvSpPr>
          <p:cNvPr id="25" name="Shape 23"/>
          <p:cNvSpPr/>
          <p:nvPr/>
        </p:nvSpPr>
        <p:spPr>
          <a:xfrm>
            <a:off x="6125816" y="5356424"/>
            <a:ext cx="5382121" cy="1006872"/>
          </a:xfrm>
          <a:prstGeom prst="roundRect">
            <a:avLst>
              <a:gd name="adj" fmla="val 7178"/>
            </a:avLst>
          </a:prstGeom>
          <a:solidFill>
            <a:srgbClr val="740B0B"/>
          </a:solidFill>
          <a:ln w="4763">
            <a:solidFill>
              <a:srgbClr val="8D2424"/>
            </a:solidFill>
            <a:prstDash val="solid"/>
          </a:ln>
        </p:spPr>
        <p:txBody>
          <a:bodyPr/>
          <a:lstStyle/>
          <a:p>
            <a:endParaRPr lang="en-US" sz="2400">
              <a:latin typeface="+mj-lt"/>
            </a:endParaRPr>
          </a:p>
        </p:txBody>
      </p:sp>
      <p:sp>
        <p:nvSpPr>
          <p:cNvPr id="26" name="Text 24"/>
          <p:cNvSpPr/>
          <p:nvPr/>
        </p:nvSpPr>
        <p:spPr>
          <a:xfrm>
            <a:off x="6356352" y="5534819"/>
            <a:ext cx="2539676" cy="282972"/>
          </a:xfrm>
          <a:prstGeom prst="rect">
            <a:avLst/>
          </a:prstGeom>
          <a:noFill/>
          <a:ln/>
        </p:spPr>
        <p:txBody>
          <a:bodyPr wrap="none" lIns="0" tIns="0" rIns="0" bIns="0" rtlCol="0" anchor="t"/>
          <a:lstStyle/>
          <a:p>
            <a:pPr>
              <a:lnSpc>
                <a:spcPct val="104000"/>
              </a:lnSpc>
            </a:pPr>
            <a:r>
              <a:rPr lang="en-US" sz="1733" dirty="0">
                <a:solidFill>
                  <a:srgbClr val="FFE5E5"/>
                </a:solidFill>
                <a:latin typeface="+mj-lt"/>
                <a:ea typeface="Dela Gothic One" pitchFamily="34" charset="-122"/>
                <a:cs typeface="Dela Gothic One" pitchFamily="34" charset="-120"/>
              </a:rPr>
              <a:t>Session Management</a:t>
            </a:r>
            <a:endParaRPr lang="en-US" sz="1733" dirty="0">
              <a:latin typeface="+mj-lt"/>
            </a:endParaRPr>
          </a:p>
        </p:txBody>
      </p:sp>
      <p:sp>
        <p:nvSpPr>
          <p:cNvPr id="27" name="Text 25"/>
          <p:cNvSpPr/>
          <p:nvPr/>
        </p:nvSpPr>
        <p:spPr>
          <a:xfrm>
            <a:off x="6356351" y="5916116"/>
            <a:ext cx="5025331" cy="268784"/>
          </a:xfrm>
          <a:prstGeom prst="rect">
            <a:avLst/>
          </a:prstGeom>
          <a:noFill/>
          <a:ln/>
        </p:spPr>
        <p:txBody>
          <a:bodyPr wrap="none" lIns="0" tIns="0" rIns="0" bIns="0" rtlCol="0" anchor="t"/>
          <a:lstStyle/>
          <a:p>
            <a:pPr>
              <a:lnSpc>
                <a:spcPct val="130000"/>
              </a:lnSpc>
            </a:pPr>
            <a:r>
              <a:rPr lang="en-US" sz="1333" dirty="0">
                <a:solidFill>
                  <a:srgbClr val="FFE5E5"/>
                </a:solidFill>
                <a:latin typeface="+mj-lt"/>
                <a:ea typeface="DM Sans" pitchFamily="34" charset="-122"/>
                <a:cs typeface="DM Sans" pitchFamily="34" charset="-120"/>
              </a:rPr>
              <a:t>Token and cookie security</a:t>
            </a:r>
            <a:endParaRPr lang="en-US" sz="1333" dirty="0">
              <a:latin typeface="+mj-lt"/>
            </a:endParaRPr>
          </a:p>
        </p:txBody>
      </p:sp>
      <p:sp>
        <p:nvSpPr>
          <p:cNvPr id="30" name="Footer Placeholder 29">
            <a:extLst>
              <a:ext uri="{FF2B5EF4-FFF2-40B4-BE49-F238E27FC236}">
                <a16:creationId xmlns:a16="http://schemas.microsoft.com/office/drawing/2014/main" id="{EFBCED4B-112D-73CB-5CD0-5B3F20443244}"/>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31" name="Slide Number Placeholder 30">
            <a:extLst>
              <a:ext uri="{FF2B5EF4-FFF2-40B4-BE49-F238E27FC236}">
                <a16:creationId xmlns:a16="http://schemas.microsoft.com/office/drawing/2014/main" id="{1257FACD-4296-1903-B8CC-DD7EE785F356}"/>
              </a:ext>
            </a:extLst>
          </p:cNvPr>
          <p:cNvSpPr>
            <a:spLocks noGrp="1"/>
          </p:cNvSpPr>
          <p:nvPr>
            <p:ph type="sldNum" sz="quarter" idx="4"/>
          </p:nvPr>
        </p:nvSpPr>
        <p:spPr/>
        <p:txBody>
          <a:bodyPr/>
          <a:lstStyle/>
          <a:p>
            <a:fld id="{08D6B0A0-5113-456A-82B3-EA8CCD6D43D8}" type="slidenum">
              <a:rPr lang="en-US" smtClean="0">
                <a:latin typeface="+mj-lt"/>
              </a:rPr>
              <a:t>11</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24" y="804267"/>
            <a:ext cx="2646113" cy="327522"/>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740172" y="858342"/>
            <a:ext cx="2717304"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AUTHENTICATION ASSESSMENT</a:t>
            </a:r>
            <a:endParaRPr lang="en-US" sz="1133" dirty="0">
              <a:latin typeface="+mj-lt"/>
            </a:endParaRPr>
          </a:p>
        </p:txBody>
      </p:sp>
      <p:sp>
        <p:nvSpPr>
          <p:cNvPr id="4" name="Text 2"/>
          <p:cNvSpPr/>
          <p:nvPr/>
        </p:nvSpPr>
        <p:spPr>
          <a:xfrm>
            <a:off x="631924" y="1150641"/>
            <a:ext cx="3568117"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Brute Force Attack</a:t>
            </a:r>
            <a:endParaRPr lang="en-US" sz="3733" dirty="0">
              <a:latin typeface="+mj-lt"/>
            </a:endParaRPr>
          </a:p>
        </p:txBody>
      </p:sp>
      <p:sp>
        <p:nvSpPr>
          <p:cNvPr id="5" name="Text 3"/>
          <p:cNvSpPr/>
          <p:nvPr/>
        </p:nvSpPr>
        <p:spPr>
          <a:xfrm>
            <a:off x="631924" y="2015331"/>
            <a:ext cx="10928152"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Weak authentication mechanisms were evaluated using controlled password guessing to identify accounts susceptible to credential based attacks.</a:t>
            </a:r>
            <a:endParaRPr lang="en-US" sz="1400" dirty="0"/>
          </a:p>
        </p:txBody>
      </p:sp>
      <p:sp>
        <p:nvSpPr>
          <p:cNvPr id="6" name="Text 4"/>
          <p:cNvSpPr/>
          <p:nvPr/>
        </p:nvSpPr>
        <p:spPr>
          <a:xfrm>
            <a:off x="631924" y="2976762"/>
            <a:ext cx="5243811" cy="296863"/>
          </a:xfrm>
          <a:prstGeom prst="rect">
            <a:avLst/>
          </a:prstGeom>
          <a:noFill/>
          <a:ln/>
        </p:spPr>
        <p:txBody>
          <a:bodyPr wrap="none" lIns="0" tIns="0" rIns="0" bIns="0" rtlCol="0" anchor="t"/>
          <a:lstStyle/>
          <a:p>
            <a:pPr>
              <a:lnSpc>
                <a:spcPct val="104000"/>
              </a:lnSpc>
            </a:pPr>
            <a:r>
              <a:rPr lang="en-US" sz="1867" dirty="0">
                <a:solidFill>
                  <a:srgbClr val="FAEBEB"/>
                </a:solidFill>
                <a:latin typeface="+mj-lt"/>
                <a:ea typeface="Dela Gothic One" pitchFamily="34" charset="-122"/>
                <a:cs typeface="Dela Gothic One" pitchFamily="34" charset="-120"/>
              </a:rPr>
              <a:t>Tool: Hydra</a:t>
            </a:r>
            <a:endParaRPr lang="en-US" sz="1867" dirty="0">
              <a:latin typeface="+mj-lt"/>
            </a:endParaRPr>
          </a:p>
        </p:txBody>
      </p:sp>
      <p:sp>
        <p:nvSpPr>
          <p:cNvPr id="7" name="Text 5"/>
          <p:cNvSpPr/>
          <p:nvPr/>
        </p:nvSpPr>
        <p:spPr>
          <a:xfrm>
            <a:off x="631924" y="3454103"/>
            <a:ext cx="5243811" cy="866775"/>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Hydra is a parallelized login cracker supporting numerous protocols. It was used to automate credential testing against the target login interface.</a:t>
            </a:r>
            <a:endParaRPr lang="en-US" sz="1400" dirty="0">
              <a:latin typeface="+mj-lt"/>
            </a:endParaRPr>
          </a:p>
        </p:txBody>
      </p:sp>
      <p:sp>
        <p:nvSpPr>
          <p:cNvPr id="8" name="Text 6"/>
          <p:cNvSpPr/>
          <p:nvPr/>
        </p:nvSpPr>
        <p:spPr>
          <a:xfrm>
            <a:off x="6322617" y="2976762"/>
            <a:ext cx="1085574" cy="296863"/>
          </a:xfrm>
          <a:prstGeom prst="rect">
            <a:avLst/>
          </a:prstGeom>
          <a:noFill/>
          <a:ln/>
        </p:spPr>
        <p:txBody>
          <a:bodyPr wrap="none" lIns="0" tIns="0" rIns="0" bIns="0" rtlCol="0" anchor="t"/>
          <a:lstStyle/>
          <a:p>
            <a:pPr>
              <a:lnSpc>
                <a:spcPct val="104000"/>
              </a:lnSpc>
            </a:pPr>
            <a:r>
              <a:rPr lang="en-US" sz="1867" dirty="0">
                <a:solidFill>
                  <a:srgbClr val="FAEBEB"/>
                </a:solidFill>
                <a:latin typeface="+mj-lt"/>
                <a:ea typeface="Dela Gothic One" pitchFamily="34" charset="-122"/>
                <a:cs typeface="Dela Gothic One" pitchFamily="34" charset="-120"/>
              </a:rPr>
              <a:t>Objectives</a:t>
            </a:r>
            <a:endParaRPr lang="en-US" sz="1867" dirty="0">
              <a:latin typeface="+mj-lt"/>
            </a:endParaRPr>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90283" y="3485653"/>
            <a:ext cx="270768" cy="270768"/>
          </a:xfrm>
          <a:prstGeom prst="rect">
            <a:avLst/>
          </a:prstGeom>
        </p:spPr>
      </p:pic>
      <p:sp>
        <p:nvSpPr>
          <p:cNvPr id="10" name="Text 7"/>
          <p:cNvSpPr/>
          <p:nvPr/>
        </p:nvSpPr>
        <p:spPr>
          <a:xfrm>
            <a:off x="6909297" y="3476724"/>
            <a:ext cx="4657129" cy="288925"/>
          </a:xfrm>
          <a:prstGeom prst="rect">
            <a:avLst/>
          </a:prstGeom>
          <a:noFill/>
          <a:ln/>
        </p:spPr>
        <p:txBody>
          <a:bodyPr wrap="none" lIns="0" tIns="0" rIns="0" bIns="0" rtlCol="0" anchor="t"/>
          <a:lstStyle/>
          <a:p>
            <a:pPr>
              <a:lnSpc>
                <a:spcPct val="133000"/>
              </a:lnSpc>
            </a:pPr>
            <a:r>
              <a:rPr lang="en-US" sz="1400" dirty="0">
                <a:solidFill>
                  <a:srgbClr val="FFE5E5"/>
                </a:solidFill>
                <a:latin typeface="+mj-lt"/>
                <a:ea typeface="DM Sans" pitchFamily="34" charset="-122"/>
                <a:cs typeface="DM Sans" pitchFamily="34" charset="-120"/>
              </a:rPr>
              <a:t>Test password strength across user accounts</a:t>
            </a:r>
            <a:endParaRPr lang="en-US" sz="1400" dirty="0">
              <a:latin typeface="+mj-lt"/>
            </a:endParaRPr>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90283" y="4397276"/>
            <a:ext cx="270768" cy="270768"/>
          </a:xfrm>
          <a:prstGeom prst="rect">
            <a:avLst/>
          </a:prstGeom>
        </p:spPr>
      </p:pic>
      <p:sp>
        <p:nvSpPr>
          <p:cNvPr id="12" name="Text 8"/>
          <p:cNvSpPr/>
          <p:nvPr/>
        </p:nvSpPr>
        <p:spPr>
          <a:xfrm>
            <a:off x="6909297" y="4388347"/>
            <a:ext cx="4657129" cy="288925"/>
          </a:xfrm>
          <a:prstGeom prst="rect">
            <a:avLst/>
          </a:prstGeom>
          <a:noFill/>
          <a:ln/>
        </p:spPr>
        <p:txBody>
          <a:bodyPr wrap="none" lIns="0" tIns="0" rIns="0" bIns="0" rtlCol="0" anchor="t"/>
          <a:lstStyle/>
          <a:p>
            <a:pPr>
              <a:lnSpc>
                <a:spcPct val="133000"/>
              </a:lnSpc>
            </a:pPr>
            <a:r>
              <a:rPr lang="en-US" sz="1400" dirty="0">
                <a:solidFill>
                  <a:srgbClr val="FFE5E5"/>
                </a:solidFill>
                <a:latin typeface="+mj-lt"/>
                <a:ea typeface="DM Sans" pitchFamily="34" charset="-122"/>
                <a:cs typeface="DM Sans" pitchFamily="34" charset="-120"/>
              </a:rPr>
              <a:t>Validate authentication rate-limiting controls</a:t>
            </a:r>
            <a:endParaRPr lang="en-US" sz="1400" dirty="0">
              <a:latin typeface="+mj-lt"/>
            </a:endParaRPr>
          </a:p>
        </p:txBody>
      </p:sp>
      <p:pic>
        <p:nvPicPr>
          <p:cNvPr id="13"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90283" y="5308897"/>
            <a:ext cx="270768" cy="270768"/>
          </a:xfrm>
          <a:prstGeom prst="rect">
            <a:avLst/>
          </a:prstGeom>
        </p:spPr>
      </p:pic>
      <p:sp>
        <p:nvSpPr>
          <p:cNvPr id="14" name="Text 9"/>
          <p:cNvSpPr/>
          <p:nvPr/>
        </p:nvSpPr>
        <p:spPr>
          <a:xfrm>
            <a:off x="6909297" y="5299968"/>
            <a:ext cx="4657129" cy="288925"/>
          </a:xfrm>
          <a:prstGeom prst="rect">
            <a:avLst/>
          </a:prstGeom>
          <a:noFill/>
          <a:ln/>
        </p:spPr>
        <p:txBody>
          <a:bodyPr wrap="none" lIns="0" tIns="0" rIns="0" bIns="0" rtlCol="0" anchor="t"/>
          <a:lstStyle/>
          <a:p>
            <a:pPr>
              <a:lnSpc>
                <a:spcPct val="133000"/>
              </a:lnSpc>
            </a:pPr>
            <a:r>
              <a:rPr lang="en-US" sz="1400" dirty="0">
                <a:solidFill>
                  <a:srgbClr val="FFE5E5"/>
                </a:solidFill>
                <a:latin typeface="+mj-lt"/>
                <a:ea typeface="DM Sans" pitchFamily="34" charset="-122"/>
                <a:cs typeface="DM Sans" pitchFamily="34" charset="-120"/>
              </a:rPr>
              <a:t>Demonstrate login weaknesses with evidence</a:t>
            </a:r>
            <a:endParaRPr lang="en-US" sz="1400" dirty="0">
              <a:latin typeface="+mj-lt"/>
            </a:endParaRPr>
          </a:p>
        </p:txBody>
      </p:sp>
      <p:sp>
        <p:nvSpPr>
          <p:cNvPr id="17" name="Footer Placeholder 16">
            <a:extLst>
              <a:ext uri="{FF2B5EF4-FFF2-40B4-BE49-F238E27FC236}">
                <a16:creationId xmlns:a16="http://schemas.microsoft.com/office/drawing/2014/main" id="{70ECDF8C-5D4C-EBFE-6010-66461602F933}"/>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8" name="Slide Number Placeholder 17">
            <a:extLst>
              <a:ext uri="{FF2B5EF4-FFF2-40B4-BE49-F238E27FC236}">
                <a16:creationId xmlns:a16="http://schemas.microsoft.com/office/drawing/2014/main" id="{F9615FA1-5AF7-7E60-A7C0-DF09412A289E}"/>
              </a:ext>
            </a:extLst>
          </p:cNvPr>
          <p:cNvSpPr>
            <a:spLocks noGrp="1"/>
          </p:cNvSpPr>
          <p:nvPr>
            <p:ph type="sldNum" sz="quarter" idx="4"/>
          </p:nvPr>
        </p:nvSpPr>
        <p:spPr/>
        <p:txBody>
          <a:bodyPr/>
          <a:lstStyle/>
          <a:p>
            <a:fld id="{08D6B0A0-5113-456A-82B3-EA8CCD6D43D8}" type="slidenum">
              <a:rPr lang="en-US" smtClean="0">
                <a:latin typeface="+mj-lt"/>
              </a:rPr>
              <a:t>12</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24" y="1645573"/>
            <a:ext cx="3488135" cy="346374"/>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740173" y="1742778"/>
            <a:ext cx="3488135"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AUTHENTICATION ASSESSMENT </a:t>
            </a:r>
            <a:r>
              <a:rPr lang="ar-EG" sz="1133" dirty="0">
                <a:solidFill>
                  <a:srgbClr val="FFE5E5"/>
                </a:solidFill>
                <a:latin typeface="+mj-lt"/>
                <a:ea typeface="DM Sans" pitchFamily="34" charset="-122"/>
                <a:cs typeface="DM Sans" pitchFamily="34" charset="-120"/>
              </a:rPr>
              <a:t>:</a:t>
            </a:r>
            <a:r>
              <a:rPr lang="en-US" sz="1133" dirty="0">
                <a:solidFill>
                  <a:srgbClr val="FFE5E5"/>
                </a:solidFill>
                <a:latin typeface="+mj-lt"/>
                <a:ea typeface="DM Sans" pitchFamily="34" charset="-122"/>
                <a:cs typeface="DM Sans" pitchFamily="34" charset="-120"/>
              </a:rPr>
              <a:t> RESULTS</a:t>
            </a:r>
            <a:endParaRPr lang="en-US" sz="1133" dirty="0">
              <a:latin typeface="+mj-lt"/>
            </a:endParaRPr>
          </a:p>
        </p:txBody>
      </p:sp>
      <p:sp>
        <p:nvSpPr>
          <p:cNvPr id="4" name="Text 2"/>
          <p:cNvSpPr/>
          <p:nvPr/>
        </p:nvSpPr>
        <p:spPr>
          <a:xfrm>
            <a:off x="631924" y="2035077"/>
            <a:ext cx="5303927"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Brute Force Findings</a:t>
            </a:r>
            <a:endParaRPr lang="en-US" sz="3733" dirty="0">
              <a:latin typeface="+mj-lt"/>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4" y="2899767"/>
            <a:ext cx="3522365" cy="2269431"/>
          </a:xfrm>
          <a:prstGeom prst="rect">
            <a:avLst/>
          </a:prstGeom>
        </p:spPr>
      </p:pic>
      <p:sp>
        <p:nvSpPr>
          <p:cNvPr id="6" name="Text 3"/>
          <p:cNvSpPr/>
          <p:nvPr/>
        </p:nvSpPr>
        <p:spPr>
          <a:xfrm>
            <a:off x="939403" y="3105647"/>
            <a:ext cx="3009007" cy="593725"/>
          </a:xfrm>
          <a:prstGeom prst="rect">
            <a:avLst/>
          </a:prstGeom>
          <a:noFill/>
          <a:ln/>
        </p:spPr>
        <p:txBody>
          <a:bodyPr wrap="square" lIns="0" tIns="0" rIns="0" bIns="0" rtlCol="0" anchor="t">
            <a:normAutofit/>
          </a:bodyPr>
          <a:lstStyle/>
          <a:p>
            <a:pPr>
              <a:lnSpc>
                <a:spcPct val="104000"/>
              </a:lnSpc>
            </a:pPr>
            <a:r>
              <a:rPr lang="en-US" sz="1867" dirty="0">
                <a:solidFill>
                  <a:srgbClr val="FFE5E5"/>
                </a:solidFill>
                <a:ea typeface="Dela Gothic One" pitchFamily="34" charset="-122"/>
                <a:cs typeface="Dela Gothic One" pitchFamily="34" charset="-120"/>
              </a:rPr>
              <a:t>Weak Credentials Identified</a:t>
            </a:r>
            <a:endParaRPr lang="en-US" sz="1867" dirty="0"/>
          </a:p>
        </p:txBody>
      </p:sp>
      <p:sp>
        <p:nvSpPr>
          <p:cNvPr id="7" name="Text 4"/>
          <p:cNvSpPr/>
          <p:nvPr/>
        </p:nvSpPr>
        <p:spPr>
          <a:xfrm>
            <a:off x="939403" y="3807619"/>
            <a:ext cx="3009007" cy="1155700"/>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Multiple accounts used predictable or default passwords, enabling unauthorized access without elevated privileges.</a:t>
            </a:r>
            <a:endParaRPr lang="en-US" sz="14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4768" y="2899767"/>
            <a:ext cx="3522365" cy="2269431"/>
          </a:xfrm>
          <a:prstGeom prst="rect">
            <a:avLst/>
          </a:prstGeom>
        </p:spPr>
      </p:pic>
      <p:sp>
        <p:nvSpPr>
          <p:cNvPr id="9" name="Text 5"/>
          <p:cNvSpPr/>
          <p:nvPr/>
        </p:nvSpPr>
        <p:spPr>
          <a:xfrm>
            <a:off x="4642247" y="3105647"/>
            <a:ext cx="3009007" cy="593725"/>
          </a:xfrm>
          <a:prstGeom prst="rect">
            <a:avLst/>
          </a:prstGeom>
          <a:noFill/>
          <a:ln/>
        </p:spPr>
        <p:txBody>
          <a:bodyPr wrap="square" lIns="0" tIns="0" rIns="0" bIns="0" rtlCol="0" anchor="t">
            <a:normAutofit/>
          </a:bodyPr>
          <a:lstStyle/>
          <a:p>
            <a:pPr>
              <a:lnSpc>
                <a:spcPct val="104000"/>
              </a:lnSpc>
            </a:pPr>
            <a:r>
              <a:rPr lang="en-US" sz="1867" dirty="0">
                <a:solidFill>
                  <a:srgbClr val="FFE5E5"/>
                </a:solidFill>
                <a:ea typeface="Dela Gothic One" pitchFamily="34" charset="-122"/>
                <a:cs typeface="Dela Gothic One" pitchFamily="34" charset="-120"/>
              </a:rPr>
              <a:t>Successful Authentication</a:t>
            </a:r>
            <a:endParaRPr lang="en-US" sz="1867" dirty="0"/>
          </a:p>
        </p:txBody>
      </p:sp>
      <p:sp>
        <p:nvSpPr>
          <p:cNvPr id="10" name="Text 6"/>
          <p:cNvSpPr/>
          <p:nvPr/>
        </p:nvSpPr>
        <p:spPr>
          <a:xfrm>
            <a:off x="4642247" y="3807619"/>
            <a:ext cx="3009007" cy="1155700"/>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Hydra successfully authenticated to the target system, confirming that brute force attacks are a viable threat vector.</a:t>
            </a:r>
            <a:endParaRPr lang="en-US" sz="14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37612" y="2899767"/>
            <a:ext cx="3522464" cy="2269431"/>
          </a:xfrm>
          <a:prstGeom prst="rect">
            <a:avLst/>
          </a:prstGeom>
        </p:spPr>
      </p:pic>
      <p:sp>
        <p:nvSpPr>
          <p:cNvPr id="12" name="Text 7"/>
          <p:cNvSpPr/>
          <p:nvPr/>
        </p:nvSpPr>
        <p:spPr>
          <a:xfrm>
            <a:off x="8345091" y="3105647"/>
            <a:ext cx="3009107" cy="593725"/>
          </a:xfrm>
          <a:prstGeom prst="rect">
            <a:avLst/>
          </a:prstGeom>
          <a:noFill/>
          <a:ln/>
        </p:spPr>
        <p:txBody>
          <a:bodyPr wrap="square" lIns="0" tIns="0" rIns="0" bIns="0" rtlCol="0" anchor="t">
            <a:normAutofit/>
          </a:bodyPr>
          <a:lstStyle/>
          <a:p>
            <a:pPr>
              <a:lnSpc>
                <a:spcPct val="104000"/>
              </a:lnSpc>
            </a:pPr>
            <a:r>
              <a:rPr lang="en-US" sz="1867" dirty="0">
                <a:solidFill>
                  <a:srgbClr val="FFE5E5"/>
                </a:solidFill>
                <a:ea typeface="Dela Gothic One" pitchFamily="34" charset="-122"/>
                <a:cs typeface="Dela Gothic One" pitchFamily="34" charset="-120"/>
              </a:rPr>
              <a:t>Authentication Policy Gaps</a:t>
            </a:r>
            <a:endParaRPr lang="en-US" sz="1867" dirty="0"/>
          </a:p>
        </p:txBody>
      </p:sp>
      <p:sp>
        <p:nvSpPr>
          <p:cNvPr id="13" name="Text 8"/>
          <p:cNvSpPr/>
          <p:nvPr/>
        </p:nvSpPr>
        <p:spPr>
          <a:xfrm>
            <a:off x="8345091" y="3807619"/>
            <a:ext cx="3009107" cy="1155700"/>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No account lockout, rate limiting, or CAPTCHA mechanisms were observed</a:t>
            </a:r>
            <a:r>
              <a:rPr lang="ar-EG" sz="1400" dirty="0">
                <a:solidFill>
                  <a:srgbClr val="FFE5E5"/>
                </a:solidFill>
                <a:ea typeface="DM Sans" pitchFamily="34" charset="-122"/>
                <a:cs typeface="DM Sans" pitchFamily="34" charset="-120"/>
              </a:rPr>
              <a:t> </a:t>
            </a:r>
            <a:r>
              <a:rPr lang="en-US" sz="1400" dirty="0">
                <a:solidFill>
                  <a:srgbClr val="FFE5E5"/>
                </a:solidFill>
                <a:ea typeface="DM Sans" pitchFamily="34" charset="-122"/>
                <a:cs typeface="DM Sans" pitchFamily="34" charset="-120"/>
              </a:rPr>
              <a:t>allowing unrestricted password attempts.</a:t>
            </a:r>
            <a:endParaRPr lang="en-US" sz="1400" dirty="0"/>
          </a:p>
        </p:txBody>
      </p:sp>
      <p:sp>
        <p:nvSpPr>
          <p:cNvPr id="16" name="Footer Placeholder 15">
            <a:extLst>
              <a:ext uri="{FF2B5EF4-FFF2-40B4-BE49-F238E27FC236}">
                <a16:creationId xmlns:a16="http://schemas.microsoft.com/office/drawing/2014/main" id="{013C82A4-E437-9BCC-11B7-AD2D78B38112}"/>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7" name="Slide Number Placeholder 16">
            <a:extLst>
              <a:ext uri="{FF2B5EF4-FFF2-40B4-BE49-F238E27FC236}">
                <a16:creationId xmlns:a16="http://schemas.microsoft.com/office/drawing/2014/main" id="{39F13911-B831-C404-F0B4-328BD459EAF8}"/>
              </a:ext>
            </a:extLst>
          </p:cNvPr>
          <p:cNvSpPr>
            <a:spLocks noGrp="1"/>
          </p:cNvSpPr>
          <p:nvPr>
            <p:ph type="sldNum" sz="quarter" idx="4"/>
          </p:nvPr>
        </p:nvSpPr>
        <p:spPr/>
        <p:txBody>
          <a:bodyPr/>
          <a:lstStyle/>
          <a:p>
            <a:fld id="{08D6B0A0-5113-456A-82B3-EA8CCD6D43D8}" type="slidenum">
              <a:rPr lang="en-US" smtClean="0">
                <a:latin typeface="+mj-lt"/>
              </a:rPr>
              <a:t>13</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50379" y="500657"/>
            <a:ext cx="1132104" cy="231379"/>
          </a:xfrm>
          <a:prstGeom prst="roundRect">
            <a:avLst>
              <a:gd name="adj" fmla="val 22122"/>
            </a:avLst>
          </a:prstGeom>
          <a:solidFill>
            <a:srgbClr val="460707"/>
          </a:solidFill>
          <a:ln/>
        </p:spPr>
        <p:txBody>
          <a:bodyPr/>
          <a:lstStyle/>
          <a:p>
            <a:endParaRPr lang="en-US" sz="2400">
              <a:latin typeface="+mj-lt"/>
            </a:endParaRPr>
          </a:p>
        </p:txBody>
      </p:sp>
      <p:sp>
        <p:nvSpPr>
          <p:cNvPr id="3" name="Text 1"/>
          <p:cNvSpPr/>
          <p:nvPr/>
        </p:nvSpPr>
        <p:spPr>
          <a:xfrm>
            <a:off x="1149507" y="559366"/>
            <a:ext cx="1474489" cy="140097"/>
          </a:xfrm>
          <a:prstGeom prst="rect">
            <a:avLst/>
          </a:prstGeom>
          <a:noFill/>
          <a:ln/>
        </p:spPr>
        <p:txBody>
          <a:bodyPr wrap="none" lIns="0" tIns="0" rIns="0" bIns="0" rtlCol="0" anchor="t"/>
          <a:lstStyle/>
          <a:p>
            <a:pPr>
              <a:lnSpc>
                <a:spcPct val="96000"/>
              </a:lnSpc>
            </a:pPr>
            <a:r>
              <a:rPr lang="en-US" sz="933" dirty="0">
                <a:solidFill>
                  <a:srgbClr val="FFE5E5"/>
                </a:solidFill>
                <a:latin typeface="+mj-lt"/>
                <a:ea typeface="DM Sans" pitchFamily="34" charset="-122"/>
                <a:cs typeface="DM Sans" pitchFamily="34" charset="-120"/>
              </a:rPr>
              <a:t>SQL INJECTION</a:t>
            </a:r>
            <a:endParaRPr lang="en-US" sz="933" dirty="0">
              <a:latin typeface="+mj-lt"/>
            </a:endParaRPr>
          </a:p>
        </p:txBody>
      </p:sp>
      <p:sp>
        <p:nvSpPr>
          <p:cNvPr id="4" name="Text 2"/>
          <p:cNvSpPr/>
          <p:nvPr/>
        </p:nvSpPr>
        <p:spPr>
          <a:xfrm>
            <a:off x="631924" y="819746"/>
            <a:ext cx="4676245" cy="501153"/>
          </a:xfrm>
          <a:prstGeom prst="rect">
            <a:avLst/>
          </a:prstGeom>
          <a:noFill/>
          <a:ln/>
        </p:spPr>
        <p:txBody>
          <a:bodyPr wrap="none" lIns="0" tIns="0" rIns="0" bIns="0" rtlCol="0" anchor="t"/>
          <a:lstStyle/>
          <a:p>
            <a:pPr>
              <a:lnSpc>
                <a:spcPct val="104000"/>
              </a:lnSpc>
            </a:pPr>
            <a:r>
              <a:rPr lang="en-US" sz="3133" dirty="0">
                <a:solidFill>
                  <a:srgbClr val="FAEBEB"/>
                </a:solidFill>
                <a:latin typeface="+mj-lt"/>
                <a:ea typeface="Dela Gothic One" pitchFamily="34" charset="-122"/>
                <a:cs typeface="Dela Gothic One" pitchFamily="34" charset="-120"/>
              </a:rPr>
              <a:t>Database Assessment</a:t>
            </a:r>
            <a:endParaRPr lang="en-US" sz="3133" dirty="0">
              <a:latin typeface="+mj-lt"/>
            </a:endParaRPr>
          </a:p>
        </p:txBody>
      </p:sp>
      <p:sp>
        <p:nvSpPr>
          <p:cNvPr id="5" name="Text 3"/>
          <p:cNvSpPr/>
          <p:nvPr/>
        </p:nvSpPr>
        <p:spPr>
          <a:xfrm>
            <a:off x="631924" y="1513682"/>
            <a:ext cx="10928152" cy="449263"/>
          </a:xfrm>
          <a:prstGeom prst="rect">
            <a:avLst/>
          </a:prstGeom>
          <a:noFill/>
          <a:ln/>
        </p:spPr>
        <p:txBody>
          <a:bodyPr wrap="square" lIns="0" tIns="0" rIns="0" bIns="0" rtlCol="0" anchor="t">
            <a:noAutofit/>
          </a:bodyPr>
          <a:lstStyle/>
          <a:p>
            <a:pPr>
              <a:lnSpc>
                <a:spcPct val="123000"/>
              </a:lnSpc>
            </a:pPr>
            <a:r>
              <a:rPr lang="en-US" sz="1400" dirty="0">
                <a:solidFill>
                  <a:srgbClr val="FFE5E5"/>
                </a:solidFill>
                <a:latin typeface="+mj-lt"/>
                <a:ea typeface="DM Sans" pitchFamily="34" charset="-122"/>
                <a:cs typeface="DM Sans" pitchFamily="34" charset="-120"/>
              </a:rPr>
              <a:t>SQL Injection testing evaluated how user</a:t>
            </a:r>
            <a:r>
              <a:rPr lang="ar-EG" sz="1400" dirty="0">
                <a:solidFill>
                  <a:srgbClr val="FFE5E5"/>
                </a:solidFill>
                <a:latin typeface="+mj-lt"/>
                <a:ea typeface="DM Sans" pitchFamily="34" charset="-122"/>
                <a:cs typeface="DM Sans" pitchFamily="34" charset="-120"/>
              </a:rPr>
              <a:t> </a:t>
            </a:r>
            <a:r>
              <a:rPr lang="en-US" sz="1400" dirty="0">
                <a:solidFill>
                  <a:srgbClr val="FFE5E5"/>
                </a:solidFill>
                <a:latin typeface="+mj-lt"/>
                <a:ea typeface="DM Sans" pitchFamily="34" charset="-122"/>
                <a:cs typeface="DM Sans" pitchFamily="34" charset="-120"/>
              </a:rPr>
              <a:t>supplied input interacted with backend database queries assessing whether the application properly sanitizes data before execution.</a:t>
            </a:r>
            <a:endParaRPr lang="en-US" sz="1400" dirty="0">
              <a:latin typeface="+mj-lt"/>
            </a:endParaRPr>
          </a:p>
        </p:txBody>
      </p:sp>
      <p:sp>
        <p:nvSpPr>
          <p:cNvPr id="6" name="Text 4"/>
          <p:cNvSpPr/>
          <p:nvPr/>
        </p:nvSpPr>
        <p:spPr>
          <a:xfrm>
            <a:off x="631925" y="2235993"/>
            <a:ext cx="5278239" cy="250528"/>
          </a:xfrm>
          <a:prstGeom prst="rect">
            <a:avLst/>
          </a:prstGeom>
          <a:noFill/>
          <a:ln/>
        </p:spPr>
        <p:txBody>
          <a:bodyPr wrap="none" lIns="0" tIns="0" rIns="0" bIns="0" rtlCol="0" anchor="t"/>
          <a:lstStyle/>
          <a:p>
            <a:pPr>
              <a:lnSpc>
                <a:spcPct val="104000"/>
              </a:lnSpc>
            </a:pPr>
            <a:r>
              <a:rPr lang="en-US" sz="1533" dirty="0">
                <a:solidFill>
                  <a:srgbClr val="FAEBEB"/>
                </a:solidFill>
                <a:latin typeface="+mj-lt"/>
                <a:ea typeface="Dela Gothic One" pitchFamily="34" charset="-122"/>
                <a:cs typeface="Dela Gothic One" pitchFamily="34" charset="-120"/>
              </a:rPr>
              <a:t>Objectives</a:t>
            </a:r>
            <a:endParaRPr lang="en-US" sz="1533" dirty="0">
              <a:latin typeface="+mj-lt"/>
            </a:endParaRPr>
          </a:p>
        </p:txBody>
      </p:sp>
      <p:sp>
        <p:nvSpPr>
          <p:cNvPr id="7" name="Text 5"/>
          <p:cNvSpPr/>
          <p:nvPr/>
        </p:nvSpPr>
        <p:spPr>
          <a:xfrm>
            <a:off x="631925" y="2631084"/>
            <a:ext cx="304601" cy="190401"/>
          </a:xfrm>
          <a:prstGeom prst="rect">
            <a:avLst/>
          </a:prstGeom>
          <a:noFill/>
          <a:ln/>
        </p:spPr>
        <p:txBody>
          <a:bodyPr wrap="none" lIns="0" tIns="0" rIns="0" bIns="0" rtlCol="0" anchor="ctr"/>
          <a:lstStyle/>
          <a:p>
            <a:r>
              <a:rPr lang="en-US" sz="1133" dirty="0">
                <a:solidFill>
                  <a:srgbClr val="FFE5E5"/>
                </a:solidFill>
                <a:ea typeface="Dela Gothic One Light" pitchFamily="34" charset="-122"/>
                <a:cs typeface="Dela Gothic One Light" pitchFamily="34" charset="-120"/>
              </a:rPr>
              <a:t>01</a:t>
            </a:r>
            <a:endParaRPr lang="en-US" sz="1133" dirty="0"/>
          </a:p>
        </p:txBody>
      </p:sp>
      <p:sp>
        <p:nvSpPr>
          <p:cNvPr id="8" name="Shape 6"/>
          <p:cNvSpPr/>
          <p:nvPr/>
        </p:nvSpPr>
        <p:spPr>
          <a:xfrm>
            <a:off x="631925" y="2870895"/>
            <a:ext cx="5278239" cy="19051"/>
          </a:xfrm>
          <a:prstGeom prst="rect">
            <a:avLst/>
          </a:prstGeom>
          <a:solidFill>
            <a:srgbClr val="C91313"/>
          </a:solidFill>
          <a:ln/>
        </p:spPr>
        <p:txBody>
          <a:bodyPr/>
          <a:lstStyle/>
          <a:p>
            <a:endParaRPr lang="en-US" sz="2400"/>
          </a:p>
        </p:txBody>
      </p:sp>
      <p:sp>
        <p:nvSpPr>
          <p:cNvPr id="9" name="Text 7"/>
          <p:cNvSpPr/>
          <p:nvPr/>
        </p:nvSpPr>
        <p:spPr>
          <a:xfrm>
            <a:off x="631925" y="2985095"/>
            <a:ext cx="5278239" cy="224631"/>
          </a:xfrm>
          <a:prstGeom prst="rect">
            <a:avLst/>
          </a:prstGeom>
          <a:noFill/>
          <a:ln/>
        </p:spPr>
        <p:txBody>
          <a:bodyPr wrap="none" lIns="0" tIns="0" rIns="0" bIns="0" rtlCol="0" anchor="t"/>
          <a:lstStyle/>
          <a:p>
            <a:pPr>
              <a:lnSpc>
                <a:spcPct val="123000"/>
              </a:lnSpc>
            </a:pPr>
            <a:r>
              <a:rPr lang="en-US" sz="1400" dirty="0">
                <a:solidFill>
                  <a:srgbClr val="FFE5E5"/>
                </a:solidFill>
                <a:ea typeface="DM Sans" pitchFamily="34" charset="-122"/>
                <a:cs typeface="DM Sans" pitchFamily="34" charset="-120"/>
              </a:rPr>
              <a:t>Validate input handling across all user controllable fields</a:t>
            </a:r>
            <a:endParaRPr lang="en-US" sz="1400" dirty="0"/>
          </a:p>
        </p:txBody>
      </p:sp>
      <p:sp>
        <p:nvSpPr>
          <p:cNvPr id="10" name="Text 8"/>
          <p:cNvSpPr/>
          <p:nvPr/>
        </p:nvSpPr>
        <p:spPr>
          <a:xfrm>
            <a:off x="631925" y="3452417"/>
            <a:ext cx="304601" cy="190401"/>
          </a:xfrm>
          <a:prstGeom prst="rect">
            <a:avLst/>
          </a:prstGeom>
          <a:noFill/>
          <a:ln/>
        </p:spPr>
        <p:txBody>
          <a:bodyPr wrap="none" lIns="0" tIns="0" rIns="0" bIns="0" rtlCol="0" anchor="ctr"/>
          <a:lstStyle/>
          <a:p>
            <a:r>
              <a:rPr lang="en-US" sz="1133" dirty="0">
                <a:solidFill>
                  <a:srgbClr val="FFE5E5"/>
                </a:solidFill>
                <a:ea typeface="Dela Gothic One Light" pitchFamily="34" charset="-122"/>
                <a:cs typeface="Dela Gothic One Light" pitchFamily="34" charset="-120"/>
              </a:rPr>
              <a:t>02</a:t>
            </a:r>
            <a:endParaRPr lang="en-US" sz="1133" dirty="0"/>
          </a:p>
        </p:txBody>
      </p:sp>
      <p:sp>
        <p:nvSpPr>
          <p:cNvPr id="11" name="Shape 9"/>
          <p:cNvSpPr/>
          <p:nvPr/>
        </p:nvSpPr>
        <p:spPr>
          <a:xfrm>
            <a:off x="631925" y="3692228"/>
            <a:ext cx="5278239" cy="19051"/>
          </a:xfrm>
          <a:prstGeom prst="rect">
            <a:avLst/>
          </a:prstGeom>
          <a:solidFill>
            <a:srgbClr val="C91313"/>
          </a:solidFill>
          <a:ln/>
        </p:spPr>
        <p:txBody>
          <a:bodyPr/>
          <a:lstStyle/>
          <a:p>
            <a:endParaRPr lang="en-US" sz="2400"/>
          </a:p>
        </p:txBody>
      </p:sp>
      <p:sp>
        <p:nvSpPr>
          <p:cNvPr id="12" name="Text 10"/>
          <p:cNvSpPr/>
          <p:nvPr/>
        </p:nvSpPr>
        <p:spPr>
          <a:xfrm>
            <a:off x="631925" y="3806429"/>
            <a:ext cx="5278239" cy="224631"/>
          </a:xfrm>
          <a:prstGeom prst="rect">
            <a:avLst/>
          </a:prstGeom>
          <a:noFill/>
          <a:ln/>
        </p:spPr>
        <p:txBody>
          <a:bodyPr wrap="none" lIns="0" tIns="0" rIns="0" bIns="0" rtlCol="0" anchor="t"/>
          <a:lstStyle/>
          <a:p>
            <a:pPr>
              <a:lnSpc>
                <a:spcPct val="123000"/>
              </a:lnSpc>
            </a:pPr>
            <a:r>
              <a:rPr lang="en-US" sz="1400" dirty="0">
                <a:solidFill>
                  <a:srgbClr val="FFE5E5"/>
                </a:solidFill>
                <a:ea typeface="DM Sans" pitchFamily="34" charset="-122"/>
                <a:cs typeface="DM Sans" pitchFamily="34" charset="-120"/>
              </a:rPr>
              <a:t>Demonstrate potential data exposure through query manipulation</a:t>
            </a:r>
            <a:endParaRPr lang="en-US" sz="1400" dirty="0"/>
          </a:p>
        </p:txBody>
      </p:sp>
      <p:sp>
        <p:nvSpPr>
          <p:cNvPr id="13" name="Text 11"/>
          <p:cNvSpPr/>
          <p:nvPr/>
        </p:nvSpPr>
        <p:spPr>
          <a:xfrm>
            <a:off x="631925" y="4273749"/>
            <a:ext cx="304601" cy="190401"/>
          </a:xfrm>
          <a:prstGeom prst="rect">
            <a:avLst/>
          </a:prstGeom>
          <a:noFill/>
          <a:ln/>
        </p:spPr>
        <p:txBody>
          <a:bodyPr wrap="none" lIns="0" tIns="0" rIns="0" bIns="0" rtlCol="0" anchor="ctr"/>
          <a:lstStyle/>
          <a:p>
            <a:r>
              <a:rPr lang="en-US" sz="1133" dirty="0">
                <a:solidFill>
                  <a:srgbClr val="FFE5E5"/>
                </a:solidFill>
                <a:ea typeface="Dela Gothic One Light" pitchFamily="34" charset="-122"/>
                <a:cs typeface="Dela Gothic One Light" pitchFamily="34" charset="-120"/>
              </a:rPr>
              <a:t>03</a:t>
            </a:r>
            <a:endParaRPr lang="en-US" sz="1133" dirty="0"/>
          </a:p>
        </p:txBody>
      </p:sp>
      <p:sp>
        <p:nvSpPr>
          <p:cNvPr id="14" name="Shape 12"/>
          <p:cNvSpPr/>
          <p:nvPr/>
        </p:nvSpPr>
        <p:spPr>
          <a:xfrm>
            <a:off x="631925" y="4513560"/>
            <a:ext cx="5278239" cy="19051"/>
          </a:xfrm>
          <a:prstGeom prst="rect">
            <a:avLst/>
          </a:prstGeom>
          <a:solidFill>
            <a:srgbClr val="C91313"/>
          </a:solidFill>
          <a:ln/>
        </p:spPr>
        <p:txBody>
          <a:bodyPr/>
          <a:lstStyle/>
          <a:p>
            <a:endParaRPr lang="en-US" sz="2400"/>
          </a:p>
        </p:txBody>
      </p:sp>
      <p:sp>
        <p:nvSpPr>
          <p:cNvPr id="15" name="Text 13"/>
          <p:cNvSpPr/>
          <p:nvPr/>
        </p:nvSpPr>
        <p:spPr>
          <a:xfrm>
            <a:off x="631925" y="4627762"/>
            <a:ext cx="5278239" cy="224631"/>
          </a:xfrm>
          <a:prstGeom prst="rect">
            <a:avLst/>
          </a:prstGeom>
          <a:noFill/>
          <a:ln/>
        </p:spPr>
        <p:txBody>
          <a:bodyPr wrap="none" lIns="0" tIns="0" rIns="0" bIns="0" rtlCol="0" anchor="t"/>
          <a:lstStyle/>
          <a:p>
            <a:pPr>
              <a:lnSpc>
                <a:spcPct val="123000"/>
              </a:lnSpc>
            </a:pPr>
            <a:r>
              <a:rPr lang="en-US" sz="1400" dirty="0">
                <a:solidFill>
                  <a:srgbClr val="FFE5E5"/>
                </a:solidFill>
                <a:ea typeface="DM Sans" pitchFamily="34" charset="-122"/>
                <a:cs typeface="DM Sans" pitchFamily="34" charset="-120"/>
              </a:rPr>
              <a:t>Assess database security posture and access controls</a:t>
            </a:r>
            <a:endParaRPr lang="en-US" sz="1400" dirty="0"/>
          </a:p>
        </p:txBody>
      </p:sp>
      <p:sp>
        <p:nvSpPr>
          <p:cNvPr id="16" name="Text 14"/>
          <p:cNvSpPr/>
          <p:nvPr/>
        </p:nvSpPr>
        <p:spPr>
          <a:xfrm>
            <a:off x="6288187" y="2235993"/>
            <a:ext cx="5278239" cy="250528"/>
          </a:xfrm>
          <a:prstGeom prst="rect">
            <a:avLst/>
          </a:prstGeom>
          <a:noFill/>
          <a:ln/>
        </p:spPr>
        <p:txBody>
          <a:bodyPr wrap="none" lIns="0" tIns="0" rIns="0" bIns="0" rtlCol="0" anchor="t"/>
          <a:lstStyle/>
          <a:p>
            <a:pPr>
              <a:lnSpc>
                <a:spcPct val="104000"/>
              </a:lnSpc>
            </a:pPr>
            <a:r>
              <a:rPr lang="en-US" sz="1533" dirty="0">
                <a:solidFill>
                  <a:srgbClr val="FAEBEB"/>
                </a:solidFill>
                <a:latin typeface="+mj-lt"/>
                <a:ea typeface="Dela Gothic One" pitchFamily="34" charset="-122"/>
                <a:cs typeface="Dela Gothic One" pitchFamily="34" charset="-120"/>
              </a:rPr>
              <a:t>Findings</a:t>
            </a:r>
            <a:endParaRPr lang="en-US" sz="1533" dirty="0">
              <a:latin typeface="+mj-lt"/>
            </a:endParaRPr>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88187" y="2631083"/>
            <a:ext cx="5278239" cy="1170980"/>
          </a:xfrm>
          <a:prstGeom prst="rect">
            <a:avLst/>
          </a:prstGeom>
        </p:spPr>
      </p:pic>
      <p:sp>
        <p:nvSpPr>
          <p:cNvPr id="18" name="Text 15"/>
          <p:cNvSpPr/>
          <p:nvPr/>
        </p:nvSpPr>
        <p:spPr>
          <a:xfrm>
            <a:off x="6535738" y="2802433"/>
            <a:ext cx="4859337" cy="250528"/>
          </a:xfrm>
          <a:prstGeom prst="rect">
            <a:avLst/>
          </a:prstGeom>
          <a:noFill/>
          <a:ln/>
        </p:spPr>
        <p:txBody>
          <a:bodyPr wrap="none" lIns="0" tIns="0" rIns="0" bIns="0" rtlCol="0" anchor="t"/>
          <a:lstStyle/>
          <a:p>
            <a:pPr>
              <a:lnSpc>
                <a:spcPct val="104000"/>
              </a:lnSpc>
            </a:pPr>
            <a:r>
              <a:rPr lang="en-US" sz="1533" dirty="0">
                <a:solidFill>
                  <a:srgbClr val="FFE5E5"/>
                </a:solidFill>
                <a:latin typeface="+mj-lt"/>
                <a:ea typeface="Dela Gothic One" pitchFamily="34" charset="-122"/>
                <a:cs typeface="Dela Gothic One" pitchFamily="34" charset="-120"/>
              </a:rPr>
              <a:t>Unsanitized Input</a:t>
            </a:r>
            <a:endParaRPr lang="en-US" sz="1533" dirty="0">
              <a:latin typeface="+mj-lt"/>
            </a:endParaRPr>
          </a:p>
        </p:txBody>
      </p:sp>
      <p:sp>
        <p:nvSpPr>
          <p:cNvPr id="19" name="Text 16"/>
          <p:cNvSpPr/>
          <p:nvPr/>
        </p:nvSpPr>
        <p:spPr>
          <a:xfrm>
            <a:off x="6535738" y="3181450"/>
            <a:ext cx="4859337" cy="449263"/>
          </a:xfrm>
          <a:prstGeom prst="rect">
            <a:avLst/>
          </a:prstGeom>
          <a:noFill/>
          <a:ln/>
        </p:spPr>
        <p:txBody>
          <a:bodyPr wrap="square" lIns="0" tIns="0" rIns="0" bIns="0" rtlCol="0" anchor="t">
            <a:normAutofit/>
          </a:bodyPr>
          <a:lstStyle/>
          <a:p>
            <a:pPr>
              <a:lnSpc>
                <a:spcPct val="123000"/>
              </a:lnSpc>
            </a:pPr>
            <a:r>
              <a:rPr lang="en-US" sz="1133" dirty="0">
                <a:solidFill>
                  <a:srgbClr val="FFE5E5"/>
                </a:solidFill>
                <a:latin typeface="+mj-lt"/>
                <a:ea typeface="DM Sans" pitchFamily="34" charset="-122"/>
                <a:cs typeface="DM Sans" pitchFamily="34" charset="-120"/>
              </a:rPr>
              <a:t>User input was passed directly to SQL queries without parameterization.</a:t>
            </a:r>
            <a:endParaRPr lang="en-US" sz="1133" dirty="0">
              <a:latin typeface="+mj-lt"/>
            </a:endParaRPr>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88187" y="3930551"/>
            <a:ext cx="5278239" cy="946348"/>
          </a:xfrm>
          <a:prstGeom prst="rect">
            <a:avLst/>
          </a:prstGeom>
        </p:spPr>
      </p:pic>
      <p:sp>
        <p:nvSpPr>
          <p:cNvPr id="21" name="Text 17"/>
          <p:cNvSpPr/>
          <p:nvPr/>
        </p:nvSpPr>
        <p:spPr>
          <a:xfrm>
            <a:off x="6535738" y="4101901"/>
            <a:ext cx="4859337" cy="250528"/>
          </a:xfrm>
          <a:prstGeom prst="rect">
            <a:avLst/>
          </a:prstGeom>
          <a:noFill/>
          <a:ln/>
        </p:spPr>
        <p:txBody>
          <a:bodyPr wrap="none" lIns="0" tIns="0" rIns="0" bIns="0" rtlCol="0" anchor="t"/>
          <a:lstStyle/>
          <a:p>
            <a:pPr>
              <a:lnSpc>
                <a:spcPct val="104000"/>
              </a:lnSpc>
            </a:pPr>
            <a:r>
              <a:rPr lang="en-US" sz="1533" dirty="0">
                <a:solidFill>
                  <a:srgbClr val="FFE5E5"/>
                </a:solidFill>
                <a:latin typeface="+mj-lt"/>
                <a:ea typeface="Dela Gothic One" pitchFamily="34" charset="-122"/>
                <a:cs typeface="Dela Gothic One" pitchFamily="34" charset="-120"/>
              </a:rPr>
              <a:t>Database Interaction</a:t>
            </a:r>
            <a:endParaRPr lang="en-US" sz="1533" dirty="0">
              <a:latin typeface="+mj-lt"/>
            </a:endParaRPr>
          </a:p>
        </p:txBody>
      </p:sp>
      <p:sp>
        <p:nvSpPr>
          <p:cNvPr id="22" name="Text 18"/>
          <p:cNvSpPr/>
          <p:nvPr/>
        </p:nvSpPr>
        <p:spPr>
          <a:xfrm>
            <a:off x="6535738" y="4480918"/>
            <a:ext cx="4859337" cy="224631"/>
          </a:xfrm>
          <a:prstGeom prst="rect">
            <a:avLst/>
          </a:prstGeom>
          <a:noFill/>
          <a:ln/>
        </p:spPr>
        <p:txBody>
          <a:bodyPr wrap="none" lIns="0" tIns="0" rIns="0" bIns="0" rtlCol="0" anchor="t"/>
          <a:lstStyle/>
          <a:p>
            <a:pPr>
              <a:lnSpc>
                <a:spcPct val="123000"/>
              </a:lnSpc>
            </a:pPr>
            <a:r>
              <a:rPr lang="en-US" sz="1133" dirty="0">
                <a:solidFill>
                  <a:srgbClr val="FFE5E5"/>
                </a:solidFill>
                <a:latin typeface="+mj-lt"/>
                <a:ea typeface="DM Sans" pitchFamily="34" charset="-122"/>
                <a:cs typeface="DM Sans" pitchFamily="34" charset="-120"/>
              </a:rPr>
              <a:t>Injection payloads returned database errors and query results.</a:t>
            </a:r>
            <a:endParaRPr lang="en-US" sz="1133" dirty="0">
              <a:latin typeface="+mj-lt"/>
            </a:endParaRPr>
          </a:p>
        </p:txBody>
      </p:sp>
      <p:pic>
        <p:nvPicPr>
          <p:cNvPr id="2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88187" y="5005389"/>
            <a:ext cx="5278239" cy="1170980"/>
          </a:xfrm>
          <a:prstGeom prst="rect">
            <a:avLst/>
          </a:prstGeom>
        </p:spPr>
      </p:pic>
      <p:sp>
        <p:nvSpPr>
          <p:cNvPr id="24" name="Text 19"/>
          <p:cNvSpPr/>
          <p:nvPr/>
        </p:nvSpPr>
        <p:spPr>
          <a:xfrm>
            <a:off x="6535738" y="5176739"/>
            <a:ext cx="4859337" cy="250528"/>
          </a:xfrm>
          <a:prstGeom prst="rect">
            <a:avLst/>
          </a:prstGeom>
          <a:noFill/>
          <a:ln/>
        </p:spPr>
        <p:txBody>
          <a:bodyPr wrap="none" lIns="0" tIns="0" rIns="0" bIns="0" rtlCol="0" anchor="t"/>
          <a:lstStyle/>
          <a:p>
            <a:pPr>
              <a:lnSpc>
                <a:spcPct val="104000"/>
              </a:lnSpc>
            </a:pPr>
            <a:r>
              <a:rPr lang="en-US" sz="1533" dirty="0">
                <a:solidFill>
                  <a:srgbClr val="FFE5E5"/>
                </a:solidFill>
                <a:latin typeface="+mj-lt"/>
                <a:ea typeface="Dela Gothic One" pitchFamily="34" charset="-122"/>
                <a:cs typeface="Dela Gothic One" pitchFamily="34" charset="-120"/>
              </a:rPr>
              <a:t>Sensitive Data Exposure</a:t>
            </a:r>
            <a:endParaRPr lang="en-US" sz="1533" dirty="0">
              <a:latin typeface="+mj-lt"/>
            </a:endParaRPr>
          </a:p>
        </p:txBody>
      </p:sp>
      <p:sp>
        <p:nvSpPr>
          <p:cNvPr id="25" name="Text 20"/>
          <p:cNvSpPr/>
          <p:nvPr/>
        </p:nvSpPr>
        <p:spPr>
          <a:xfrm>
            <a:off x="6535738" y="5555754"/>
            <a:ext cx="4859337" cy="449263"/>
          </a:xfrm>
          <a:prstGeom prst="rect">
            <a:avLst/>
          </a:prstGeom>
          <a:noFill/>
          <a:ln/>
        </p:spPr>
        <p:txBody>
          <a:bodyPr wrap="square" lIns="0" tIns="0" rIns="0" bIns="0" rtlCol="0" anchor="t">
            <a:normAutofit/>
          </a:bodyPr>
          <a:lstStyle/>
          <a:p>
            <a:pPr>
              <a:lnSpc>
                <a:spcPct val="123000"/>
              </a:lnSpc>
            </a:pPr>
            <a:r>
              <a:rPr lang="en-US" sz="1133" dirty="0">
                <a:solidFill>
                  <a:srgbClr val="FFE5E5"/>
                </a:solidFill>
                <a:latin typeface="+mj-lt"/>
                <a:ea typeface="DM Sans" pitchFamily="34" charset="-122"/>
                <a:cs typeface="DM Sans" pitchFamily="34" charset="-120"/>
              </a:rPr>
              <a:t>Table structures and credentials were extractable via UNION-based injection.</a:t>
            </a:r>
            <a:endParaRPr lang="en-US" sz="1133" dirty="0">
              <a:latin typeface="+mj-lt"/>
            </a:endParaRPr>
          </a:p>
        </p:txBody>
      </p:sp>
      <p:sp>
        <p:nvSpPr>
          <p:cNvPr id="28" name="Footer Placeholder 27">
            <a:extLst>
              <a:ext uri="{FF2B5EF4-FFF2-40B4-BE49-F238E27FC236}">
                <a16:creationId xmlns:a16="http://schemas.microsoft.com/office/drawing/2014/main" id="{C9477CB7-FCDA-C0B5-045E-064DB5772C5A}"/>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29" name="Slide Number Placeholder 28">
            <a:extLst>
              <a:ext uri="{FF2B5EF4-FFF2-40B4-BE49-F238E27FC236}">
                <a16:creationId xmlns:a16="http://schemas.microsoft.com/office/drawing/2014/main" id="{B70E3298-2F06-FF6D-6EA8-117EDB8503F9}"/>
              </a:ext>
            </a:extLst>
          </p:cNvPr>
          <p:cNvSpPr>
            <a:spLocks noGrp="1"/>
          </p:cNvSpPr>
          <p:nvPr>
            <p:ph type="sldNum" sz="quarter" idx="4"/>
          </p:nvPr>
        </p:nvSpPr>
        <p:spPr/>
        <p:txBody>
          <a:bodyPr/>
          <a:lstStyle/>
          <a:p>
            <a:fld id="{08D6B0A0-5113-456A-82B3-EA8CCD6D43D8}" type="slidenum">
              <a:rPr lang="en-US" smtClean="0">
                <a:latin typeface="+mj-lt"/>
              </a:rPr>
              <a:t>14</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58867" y="590363"/>
            <a:ext cx="1756861" cy="314643"/>
          </a:xfrm>
          <a:prstGeom prst="roundRect">
            <a:avLst>
              <a:gd name="adj" fmla="val 22129"/>
            </a:avLst>
          </a:prstGeom>
          <a:solidFill>
            <a:srgbClr val="460707"/>
          </a:solidFill>
          <a:ln/>
        </p:spPr>
        <p:txBody>
          <a:bodyPr/>
          <a:lstStyle/>
          <a:p>
            <a:endParaRPr lang="en-US" sz="2400">
              <a:latin typeface="+mj-lt"/>
            </a:endParaRPr>
          </a:p>
        </p:txBody>
      </p:sp>
      <p:sp>
        <p:nvSpPr>
          <p:cNvPr id="3" name="Text 1"/>
          <p:cNvSpPr/>
          <p:nvPr/>
        </p:nvSpPr>
        <p:spPr>
          <a:xfrm>
            <a:off x="1260485" y="664720"/>
            <a:ext cx="2041525" cy="150416"/>
          </a:xfrm>
          <a:prstGeom prst="rect">
            <a:avLst/>
          </a:prstGeom>
          <a:noFill/>
          <a:ln/>
        </p:spPr>
        <p:txBody>
          <a:bodyPr wrap="none" lIns="0" tIns="0" rIns="0" bIns="0" rtlCol="0" anchor="t"/>
          <a:lstStyle/>
          <a:p>
            <a:pPr>
              <a:lnSpc>
                <a:spcPct val="96000"/>
              </a:lnSpc>
            </a:pPr>
            <a:r>
              <a:rPr lang="en-US" sz="1000" dirty="0">
                <a:solidFill>
                  <a:srgbClr val="FFE5E5"/>
                </a:solidFill>
                <a:latin typeface="+mj-lt"/>
                <a:ea typeface="DM Sans" pitchFamily="34" charset="-122"/>
                <a:cs typeface="DM Sans" pitchFamily="34" charset="-120"/>
              </a:rPr>
              <a:t>CROSS SITE SCRIPTING</a:t>
            </a:r>
            <a:endParaRPr lang="en-US" sz="1000" dirty="0">
              <a:latin typeface="+mj-lt"/>
            </a:endParaRPr>
          </a:p>
        </p:txBody>
      </p:sp>
      <p:sp>
        <p:nvSpPr>
          <p:cNvPr id="4" name="Text 2"/>
          <p:cNvSpPr/>
          <p:nvPr/>
        </p:nvSpPr>
        <p:spPr>
          <a:xfrm>
            <a:off x="631924" y="922259"/>
            <a:ext cx="3406676" cy="538261"/>
          </a:xfrm>
          <a:prstGeom prst="rect">
            <a:avLst/>
          </a:prstGeom>
          <a:noFill/>
          <a:ln/>
        </p:spPr>
        <p:txBody>
          <a:bodyPr wrap="none" lIns="0" tIns="0" rIns="0" bIns="0" rtlCol="0" anchor="t"/>
          <a:lstStyle/>
          <a:p>
            <a:pPr>
              <a:lnSpc>
                <a:spcPct val="104000"/>
              </a:lnSpc>
            </a:pPr>
            <a:r>
              <a:rPr lang="en-US" sz="3333" dirty="0">
                <a:solidFill>
                  <a:srgbClr val="FAEBEB"/>
                </a:solidFill>
                <a:latin typeface="+mj-lt"/>
                <a:ea typeface="Dela Gothic One" pitchFamily="34" charset="-122"/>
                <a:cs typeface="Dela Gothic One" pitchFamily="34" charset="-120"/>
              </a:rPr>
              <a:t>XSS Assessment</a:t>
            </a:r>
            <a:endParaRPr lang="en-US" sz="3333" dirty="0">
              <a:latin typeface="+mj-lt"/>
            </a:endParaRPr>
          </a:p>
        </p:txBody>
      </p:sp>
      <p:sp>
        <p:nvSpPr>
          <p:cNvPr id="5" name="Text 3"/>
          <p:cNvSpPr/>
          <p:nvPr/>
        </p:nvSpPr>
        <p:spPr>
          <a:xfrm>
            <a:off x="631924" y="1683247"/>
            <a:ext cx="11537752" cy="249436"/>
          </a:xfrm>
          <a:prstGeom prst="rect">
            <a:avLst/>
          </a:prstGeom>
          <a:noFill/>
          <a:ln/>
        </p:spPr>
        <p:txBody>
          <a:bodyPr wrap="none" lIns="0" tIns="0" rIns="0" bIns="0" rtlCol="0" anchor="t"/>
          <a:lstStyle/>
          <a:p>
            <a:pPr>
              <a:lnSpc>
                <a:spcPct val="127000"/>
              </a:lnSpc>
            </a:pPr>
            <a:r>
              <a:rPr lang="en-US" sz="1267" dirty="0">
                <a:solidFill>
                  <a:srgbClr val="FFE5E5"/>
                </a:solidFill>
                <a:ea typeface="DM Sans" pitchFamily="34" charset="-122"/>
                <a:cs typeface="DM Sans" pitchFamily="34" charset="-120"/>
              </a:rPr>
              <a:t>Cross Site Scripting testing evaluated whether malicious scripts could be injected and executed in the context of other users' browser sessions.</a:t>
            </a:r>
            <a:endParaRPr lang="en-US" sz="1267" dirty="0"/>
          </a:p>
        </p:txBody>
      </p:sp>
      <p:sp>
        <p:nvSpPr>
          <p:cNvPr id="6" name="Text 4"/>
          <p:cNvSpPr/>
          <p:nvPr/>
        </p:nvSpPr>
        <p:spPr>
          <a:xfrm>
            <a:off x="631924" y="2247702"/>
            <a:ext cx="5264547" cy="269081"/>
          </a:xfrm>
          <a:prstGeom prst="rect">
            <a:avLst/>
          </a:prstGeom>
          <a:noFill/>
          <a:ln/>
        </p:spPr>
        <p:txBody>
          <a:bodyPr wrap="none" lIns="0" tIns="0" rIns="0" bIns="0" rtlCol="0" anchor="t"/>
          <a:lstStyle/>
          <a:p>
            <a:pPr>
              <a:lnSpc>
                <a:spcPct val="104000"/>
              </a:lnSpc>
            </a:pPr>
            <a:r>
              <a:rPr lang="en-US" sz="1667" dirty="0">
                <a:solidFill>
                  <a:srgbClr val="FAEBEB"/>
                </a:solidFill>
                <a:ea typeface="Dela Gothic One" pitchFamily="34" charset="-122"/>
                <a:cs typeface="Dela Gothic One" pitchFamily="34" charset="-120"/>
              </a:rPr>
              <a:t>Objectives</a:t>
            </a:r>
            <a:endParaRPr lang="en-US" sz="1667" dirty="0"/>
          </a:p>
        </p:txBody>
      </p:sp>
      <p:sp>
        <p:nvSpPr>
          <p:cNvPr id="7" name="Text 5"/>
          <p:cNvSpPr/>
          <p:nvPr/>
        </p:nvSpPr>
        <p:spPr>
          <a:xfrm>
            <a:off x="631924" y="2683570"/>
            <a:ext cx="327224" cy="204489"/>
          </a:xfrm>
          <a:prstGeom prst="rect">
            <a:avLst/>
          </a:prstGeom>
          <a:noFill/>
          <a:ln/>
        </p:spPr>
        <p:txBody>
          <a:bodyPr wrap="none" lIns="0" tIns="0" rIns="0" bIns="0" rtlCol="0" anchor="ctr"/>
          <a:lstStyle/>
          <a:p>
            <a:r>
              <a:rPr lang="en-US" sz="1267" dirty="0">
                <a:solidFill>
                  <a:srgbClr val="FFE5E5"/>
                </a:solidFill>
                <a:ea typeface="Dela Gothic One Light" pitchFamily="34" charset="-122"/>
                <a:cs typeface="Dela Gothic One Light" pitchFamily="34" charset="-120"/>
              </a:rPr>
              <a:t>01</a:t>
            </a:r>
            <a:endParaRPr lang="en-US" sz="1267" dirty="0"/>
          </a:p>
        </p:txBody>
      </p:sp>
      <p:sp>
        <p:nvSpPr>
          <p:cNvPr id="8" name="Shape 6"/>
          <p:cNvSpPr/>
          <p:nvPr/>
        </p:nvSpPr>
        <p:spPr>
          <a:xfrm>
            <a:off x="631924" y="2942531"/>
            <a:ext cx="5264547" cy="19051"/>
          </a:xfrm>
          <a:prstGeom prst="rect">
            <a:avLst/>
          </a:prstGeom>
          <a:solidFill>
            <a:srgbClr val="C91313"/>
          </a:solidFill>
          <a:ln/>
        </p:spPr>
        <p:txBody>
          <a:bodyPr/>
          <a:lstStyle/>
          <a:p>
            <a:endParaRPr lang="en-US" sz="2400"/>
          </a:p>
        </p:txBody>
      </p:sp>
      <p:sp>
        <p:nvSpPr>
          <p:cNvPr id="9" name="Text 7"/>
          <p:cNvSpPr/>
          <p:nvPr/>
        </p:nvSpPr>
        <p:spPr>
          <a:xfrm>
            <a:off x="631924" y="3062387"/>
            <a:ext cx="5264547" cy="249436"/>
          </a:xfrm>
          <a:prstGeom prst="rect">
            <a:avLst/>
          </a:prstGeom>
          <a:noFill/>
          <a:ln/>
        </p:spPr>
        <p:txBody>
          <a:bodyPr wrap="none" lIns="0" tIns="0" rIns="0" bIns="0" rtlCol="0" anchor="t"/>
          <a:lstStyle/>
          <a:p>
            <a:pPr>
              <a:lnSpc>
                <a:spcPct val="127000"/>
              </a:lnSpc>
            </a:pPr>
            <a:r>
              <a:rPr lang="en-US" sz="1400" dirty="0">
                <a:solidFill>
                  <a:srgbClr val="FFE5E5"/>
                </a:solidFill>
                <a:ea typeface="DM Sans" pitchFamily="34" charset="-122"/>
                <a:cs typeface="DM Sans" pitchFamily="34" charset="-120"/>
              </a:rPr>
              <a:t>Test input and output encoding mechanisms</a:t>
            </a:r>
            <a:endParaRPr lang="en-US" sz="1400" dirty="0"/>
          </a:p>
        </p:txBody>
      </p:sp>
      <p:sp>
        <p:nvSpPr>
          <p:cNvPr id="10" name="Text 8"/>
          <p:cNvSpPr/>
          <p:nvPr/>
        </p:nvSpPr>
        <p:spPr>
          <a:xfrm>
            <a:off x="631924" y="3582690"/>
            <a:ext cx="327224" cy="204489"/>
          </a:xfrm>
          <a:prstGeom prst="rect">
            <a:avLst/>
          </a:prstGeom>
          <a:noFill/>
          <a:ln/>
        </p:spPr>
        <p:txBody>
          <a:bodyPr wrap="none" lIns="0" tIns="0" rIns="0" bIns="0" rtlCol="0" anchor="ctr"/>
          <a:lstStyle/>
          <a:p>
            <a:r>
              <a:rPr lang="en-US" sz="1267" dirty="0">
                <a:solidFill>
                  <a:srgbClr val="FFE5E5"/>
                </a:solidFill>
                <a:ea typeface="Dela Gothic One Light" pitchFamily="34" charset="-122"/>
                <a:cs typeface="Dela Gothic One Light" pitchFamily="34" charset="-120"/>
              </a:rPr>
              <a:t>02</a:t>
            </a:r>
            <a:endParaRPr lang="en-US" sz="1267" dirty="0"/>
          </a:p>
        </p:txBody>
      </p:sp>
      <p:sp>
        <p:nvSpPr>
          <p:cNvPr id="11" name="Shape 9"/>
          <p:cNvSpPr/>
          <p:nvPr/>
        </p:nvSpPr>
        <p:spPr>
          <a:xfrm>
            <a:off x="631924" y="3841651"/>
            <a:ext cx="5264547" cy="19051"/>
          </a:xfrm>
          <a:prstGeom prst="rect">
            <a:avLst/>
          </a:prstGeom>
          <a:solidFill>
            <a:srgbClr val="C91313"/>
          </a:solidFill>
          <a:ln/>
        </p:spPr>
        <p:txBody>
          <a:bodyPr/>
          <a:lstStyle/>
          <a:p>
            <a:endParaRPr lang="en-US" sz="2400"/>
          </a:p>
        </p:txBody>
      </p:sp>
      <p:sp>
        <p:nvSpPr>
          <p:cNvPr id="12" name="Text 10"/>
          <p:cNvSpPr/>
          <p:nvPr/>
        </p:nvSpPr>
        <p:spPr>
          <a:xfrm>
            <a:off x="631924" y="3961507"/>
            <a:ext cx="5264547" cy="249436"/>
          </a:xfrm>
          <a:prstGeom prst="rect">
            <a:avLst/>
          </a:prstGeom>
          <a:noFill/>
          <a:ln/>
        </p:spPr>
        <p:txBody>
          <a:bodyPr wrap="none" lIns="0" tIns="0" rIns="0" bIns="0" rtlCol="0" anchor="t"/>
          <a:lstStyle/>
          <a:p>
            <a:pPr>
              <a:lnSpc>
                <a:spcPct val="127000"/>
              </a:lnSpc>
            </a:pPr>
            <a:r>
              <a:rPr lang="en-US" sz="1400" dirty="0">
                <a:solidFill>
                  <a:srgbClr val="FFE5E5"/>
                </a:solidFill>
                <a:ea typeface="DM Sans" pitchFamily="34" charset="-122"/>
                <a:cs typeface="DM Sans" pitchFamily="34" charset="-120"/>
              </a:rPr>
              <a:t>Demonstrate script execution in the browser</a:t>
            </a:r>
            <a:endParaRPr lang="en-US" sz="1400" dirty="0"/>
          </a:p>
        </p:txBody>
      </p:sp>
      <p:sp>
        <p:nvSpPr>
          <p:cNvPr id="13" name="Text 11"/>
          <p:cNvSpPr/>
          <p:nvPr/>
        </p:nvSpPr>
        <p:spPr>
          <a:xfrm>
            <a:off x="631924" y="4481812"/>
            <a:ext cx="327224" cy="204489"/>
          </a:xfrm>
          <a:prstGeom prst="rect">
            <a:avLst/>
          </a:prstGeom>
          <a:noFill/>
          <a:ln/>
        </p:spPr>
        <p:txBody>
          <a:bodyPr wrap="none" lIns="0" tIns="0" rIns="0" bIns="0" rtlCol="0" anchor="ctr"/>
          <a:lstStyle/>
          <a:p>
            <a:r>
              <a:rPr lang="en-US" sz="1267" dirty="0">
                <a:solidFill>
                  <a:srgbClr val="FFE5E5"/>
                </a:solidFill>
                <a:ea typeface="Dela Gothic One Light" pitchFamily="34" charset="-122"/>
                <a:cs typeface="Dela Gothic One Light" pitchFamily="34" charset="-120"/>
              </a:rPr>
              <a:t>03</a:t>
            </a:r>
            <a:endParaRPr lang="en-US" sz="1267" dirty="0"/>
          </a:p>
        </p:txBody>
      </p:sp>
      <p:sp>
        <p:nvSpPr>
          <p:cNvPr id="14" name="Shape 12"/>
          <p:cNvSpPr/>
          <p:nvPr/>
        </p:nvSpPr>
        <p:spPr>
          <a:xfrm>
            <a:off x="631924" y="4740771"/>
            <a:ext cx="5264547" cy="19051"/>
          </a:xfrm>
          <a:prstGeom prst="rect">
            <a:avLst/>
          </a:prstGeom>
          <a:solidFill>
            <a:srgbClr val="C91313"/>
          </a:solidFill>
          <a:ln/>
        </p:spPr>
        <p:txBody>
          <a:bodyPr/>
          <a:lstStyle/>
          <a:p>
            <a:endParaRPr lang="en-US" sz="2400"/>
          </a:p>
        </p:txBody>
      </p:sp>
      <p:sp>
        <p:nvSpPr>
          <p:cNvPr id="15" name="Text 13"/>
          <p:cNvSpPr/>
          <p:nvPr/>
        </p:nvSpPr>
        <p:spPr>
          <a:xfrm>
            <a:off x="631924" y="4860629"/>
            <a:ext cx="5264547" cy="249436"/>
          </a:xfrm>
          <a:prstGeom prst="rect">
            <a:avLst/>
          </a:prstGeom>
          <a:noFill/>
          <a:ln/>
        </p:spPr>
        <p:txBody>
          <a:bodyPr wrap="none" lIns="0" tIns="0" rIns="0" bIns="0" rtlCol="0" anchor="t"/>
          <a:lstStyle/>
          <a:p>
            <a:pPr>
              <a:lnSpc>
                <a:spcPct val="127000"/>
              </a:lnSpc>
            </a:pPr>
            <a:r>
              <a:rPr lang="en-US" sz="1400" dirty="0">
                <a:solidFill>
                  <a:srgbClr val="FFE5E5"/>
                </a:solidFill>
                <a:ea typeface="DM Sans" pitchFamily="34" charset="-122"/>
                <a:cs typeface="DM Sans" pitchFamily="34" charset="-120"/>
              </a:rPr>
              <a:t>Assess session hijacking potential</a:t>
            </a:r>
            <a:endParaRPr lang="en-US" sz="1400" dirty="0"/>
          </a:p>
        </p:txBody>
      </p:sp>
      <p:sp>
        <p:nvSpPr>
          <p:cNvPr id="16" name="Text 14"/>
          <p:cNvSpPr/>
          <p:nvPr/>
        </p:nvSpPr>
        <p:spPr>
          <a:xfrm>
            <a:off x="6301879" y="2247702"/>
            <a:ext cx="5264547" cy="269081"/>
          </a:xfrm>
          <a:prstGeom prst="rect">
            <a:avLst/>
          </a:prstGeom>
          <a:noFill/>
          <a:ln/>
        </p:spPr>
        <p:txBody>
          <a:bodyPr wrap="none" lIns="0" tIns="0" rIns="0" bIns="0" rtlCol="0" anchor="t"/>
          <a:lstStyle/>
          <a:p>
            <a:pPr>
              <a:lnSpc>
                <a:spcPct val="104000"/>
              </a:lnSpc>
            </a:pPr>
            <a:r>
              <a:rPr lang="en-US" sz="1667" dirty="0">
                <a:solidFill>
                  <a:srgbClr val="FAEBEB"/>
                </a:solidFill>
                <a:ea typeface="Dela Gothic One" pitchFamily="34" charset="-122"/>
                <a:cs typeface="Dela Gothic One" pitchFamily="34" charset="-120"/>
              </a:rPr>
              <a:t>Findings</a:t>
            </a:r>
            <a:endParaRPr lang="en-US" sz="1667" dirty="0"/>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01879" y="2683570"/>
            <a:ext cx="5264547" cy="1032073"/>
          </a:xfrm>
          <a:prstGeom prst="rect">
            <a:avLst/>
          </a:prstGeom>
        </p:spPr>
      </p:pic>
      <p:sp>
        <p:nvSpPr>
          <p:cNvPr id="18" name="Text 15"/>
          <p:cNvSpPr/>
          <p:nvPr/>
        </p:nvSpPr>
        <p:spPr>
          <a:xfrm>
            <a:off x="6560740" y="2866232"/>
            <a:ext cx="4823024" cy="269081"/>
          </a:xfrm>
          <a:prstGeom prst="rect">
            <a:avLst/>
          </a:prstGeom>
          <a:noFill/>
          <a:ln/>
        </p:spPr>
        <p:txBody>
          <a:bodyPr wrap="none" lIns="0" tIns="0" rIns="0" bIns="0" rtlCol="0" anchor="t"/>
          <a:lstStyle/>
          <a:p>
            <a:pPr>
              <a:lnSpc>
                <a:spcPct val="104000"/>
              </a:lnSpc>
            </a:pPr>
            <a:r>
              <a:rPr lang="en-US" sz="1667" dirty="0">
                <a:solidFill>
                  <a:srgbClr val="FFE5E5"/>
                </a:solidFill>
                <a:ea typeface="Dela Gothic One" pitchFamily="34" charset="-122"/>
                <a:cs typeface="Dela Gothic One" pitchFamily="34" charset="-120"/>
              </a:rPr>
              <a:t>Script Injection Successful</a:t>
            </a:r>
            <a:endParaRPr lang="en-US" sz="1667" dirty="0"/>
          </a:p>
        </p:txBody>
      </p:sp>
      <p:sp>
        <p:nvSpPr>
          <p:cNvPr id="19" name="Text 16"/>
          <p:cNvSpPr/>
          <p:nvPr/>
        </p:nvSpPr>
        <p:spPr>
          <a:xfrm>
            <a:off x="6560740" y="3283546"/>
            <a:ext cx="4823024" cy="249436"/>
          </a:xfrm>
          <a:prstGeom prst="rect">
            <a:avLst/>
          </a:prstGeom>
          <a:noFill/>
          <a:ln/>
        </p:spPr>
        <p:txBody>
          <a:bodyPr wrap="none" lIns="0" tIns="0" rIns="0" bIns="0" rtlCol="0" anchor="t"/>
          <a:lstStyle/>
          <a:p>
            <a:pPr>
              <a:lnSpc>
                <a:spcPct val="127000"/>
              </a:lnSpc>
            </a:pPr>
            <a:r>
              <a:rPr lang="en-US" sz="1267" dirty="0">
                <a:solidFill>
                  <a:srgbClr val="FFE5E5"/>
                </a:solidFill>
                <a:ea typeface="DM Sans" pitchFamily="34" charset="-122"/>
                <a:cs typeface="DM Sans" pitchFamily="34" charset="-120"/>
              </a:rPr>
              <a:t>Malicious payloads executed within the application context.</a:t>
            </a:r>
            <a:endParaRPr lang="en-US" sz="1267" dirty="0"/>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1879" y="3863877"/>
            <a:ext cx="5264547" cy="1032073"/>
          </a:xfrm>
          <a:prstGeom prst="rect">
            <a:avLst/>
          </a:prstGeom>
        </p:spPr>
      </p:pic>
      <p:sp>
        <p:nvSpPr>
          <p:cNvPr id="21" name="Text 17"/>
          <p:cNvSpPr/>
          <p:nvPr/>
        </p:nvSpPr>
        <p:spPr>
          <a:xfrm>
            <a:off x="6560740" y="4046538"/>
            <a:ext cx="4823024" cy="269081"/>
          </a:xfrm>
          <a:prstGeom prst="rect">
            <a:avLst/>
          </a:prstGeom>
          <a:noFill/>
          <a:ln/>
        </p:spPr>
        <p:txBody>
          <a:bodyPr wrap="none" lIns="0" tIns="0" rIns="0" bIns="0" rtlCol="0" anchor="t"/>
          <a:lstStyle/>
          <a:p>
            <a:pPr>
              <a:lnSpc>
                <a:spcPct val="104000"/>
              </a:lnSpc>
            </a:pPr>
            <a:r>
              <a:rPr lang="en-US" sz="1667" dirty="0">
                <a:solidFill>
                  <a:srgbClr val="FFE5E5"/>
                </a:solidFill>
                <a:ea typeface="Dela Gothic One" pitchFamily="34" charset="-122"/>
                <a:cs typeface="Dela Gothic One" pitchFamily="34" charset="-120"/>
              </a:rPr>
              <a:t>Cookie Theft Demonstrated</a:t>
            </a:r>
            <a:endParaRPr lang="en-US" sz="1667" dirty="0"/>
          </a:p>
        </p:txBody>
      </p:sp>
      <p:sp>
        <p:nvSpPr>
          <p:cNvPr id="22" name="Text 18"/>
          <p:cNvSpPr/>
          <p:nvPr/>
        </p:nvSpPr>
        <p:spPr>
          <a:xfrm>
            <a:off x="6560740" y="4463853"/>
            <a:ext cx="4823024" cy="249436"/>
          </a:xfrm>
          <a:prstGeom prst="rect">
            <a:avLst/>
          </a:prstGeom>
          <a:noFill/>
          <a:ln/>
        </p:spPr>
        <p:txBody>
          <a:bodyPr wrap="none" lIns="0" tIns="0" rIns="0" bIns="0" rtlCol="0" anchor="t"/>
          <a:lstStyle/>
          <a:p>
            <a:pPr>
              <a:lnSpc>
                <a:spcPct val="127000"/>
              </a:lnSpc>
            </a:pPr>
            <a:r>
              <a:rPr lang="en-US" sz="1267" dirty="0">
                <a:solidFill>
                  <a:srgbClr val="FFE5E5"/>
                </a:solidFill>
                <a:ea typeface="DM Sans" pitchFamily="34" charset="-122"/>
                <a:cs typeface="DM Sans" pitchFamily="34" charset="-120"/>
              </a:rPr>
              <a:t>Session cookies were exfiltrated via injected scripts.</a:t>
            </a:r>
            <a:endParaRPr lang="en-US" sz="1267" dirty="0"/>
          </a:p>
        </p:txBody>
      </p:sp>
      <p:pic>
        <p:nvPicPr>
          <p:cNvPr id="23"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1879" y="5044184"/>
            <a:ext cx="5264547" cy="1032073"/>
          </a:xfrm>
          <a:prstGeom prst="rect">
            <a:avLst/>
          </a:prstGeom>
        </p:spPr>
      </p:pic>
      <p:sp>
        <p:nvSpPr>
          <p:cNvPr id="24" name="Text 19"/>
          <p:cNvSpPr/>
          <p:nvPr/>
        </p:nvSpPr>
        <p:spPr>
          <a:xfrm>
            <a:off x="6560740" y="5226845"/>
            <a:ext cx="4823024" cy="269081"/>
          </a:xfrm>
          <a:prstGeom prst="rect">
            <a:avLst/>
          </a:prstGeom>
          <a:noFill/>
          <a:ln/>
        </p:spPr>
        <p:txBody>
          <a:bodyPr wrap="none" lIns="0" tIns="0" rIns="0" bIns="0" rtlCol="0" anchor="t"/>
          <a:lstStyle/>
          <a:p>
            <a:pPr>
              <a:lnSpc>
                <a:spcPct val="104000"/>
              </a:lnSpc>
            </a:pPr>
            <a:r>
              <a:rPr lang="en-US" sz="1667" dirty="0">
                <a:solidFill>
                  <a:srgbClr val="FFE5E5"/>
                </a:solidFill>
                <a:ea typeface="Dela Gothic One" pitchFamily="34" charset="-122"/>
                <a:cs typeface="Dela Gothic One" pitchFamily="34" charset="-120"/>
              </a:rPr>
              <a:t>Missing Output Encoding</a:t>
            </a:r>
            <a:endParaRPr lang="en-US" sz="1667" dirty="0"/>
          </a:p>
        </p:txBody>
      </p:sp>
      <p:sp>
        <p:nvSpPr>
          <p:cNvPr id="25" name="Text 20"/>
          <p:cNvSpPr/>
          <p:nvPr/>
        </p:nvSpPr>
        <p:spPr>
          <a:xfrm>
            <a:off x="6560740" y="5644158"/>
            <a:ext cx="4823024" cy="249436"/>
          </a:xfrm>
          <a:prstGeom prst="rect">
            <a:avLst/>
          </a:prstGeom>
          <a:noFill/>
          <a:ln/>
        </p:spPr>
        <p:txBody>
          <a:bodyPr wrap="none" lIns="0" tIns="0" rIns="0" bIns="0" rtlCol="0" anchor="t"/>
          <a:lstStyle/>
          <a:p>
            <a:pPr>
              <a:lnSpc>
                <a:spcPct val="127000"/>
              </a:lnSpc>
            </a:pPr>
            <a:r>
              <a:rPr lang="en-US" sz="1267" dirty="0">
                <a:solidFill>
                  <a:srgbClr val="FFE5E5"/>
                </a:solidFill>
                <a:ea typeface="DM Sans" pitchFamily="34" charset="-122"/>
                <a:cs typeface="DM Sans" pitchFamily="34" charset="-120"/>
              </a:rPr>
              <a:t>User input rendered without proper HTML entity encoding.</a:t>
            </a:r>
            <a:endParaRPr lang="en-US" sz="1267" dirty="0"/>
          </a:p>
        </p:txBody>
      </p:sp>
      <p:sp>
        <p:nvSpPr>
          <p:cNvPr id="28" name="Footer Placeholder 27">
            <a:extLst>
              <a:ext uri="{FF2B5EF4-FFF2-40B4-BE49-F238E27FC236}">
                <a16:creationId xmlns:a16="http://schemas.microsoft.com/office/drawing/2014/main" id="{4B1CD2F0-CE4F-6D7C-BC71-821579A3897F}"/>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29" name="Slide Number Placeholder 28">
            <a:extLst>
              <a:ext uri="{FF2B5EF4-FFF2-40B4-BE49-F238E27FC236}">
                <a16:creationId xmlns:a16="http://schemas.microsoft.com/office/drawing/2014/main" id="{BBAE6342-1097-C0ED-020B-0DD91C99BFEE}"/>
              </a:ext>
            </a:extLst>
          </p:cNvPr>
          <p:cNvSpPr>
            <a:spLocks noGrp="1"/>
          </p:cNvSpPr>
          <p:nvPr>
            <p:ph type="sldNum" sz="quarter" idx="4"/>
          </p:nvPr>
        </p:nvSpPr>
        <p:spPr/>
        <p:txBody>
          <a:bodyPr/>
          <a:lstStyle/>
          <a:p>
            <a:fld id="{08D6B0A0-5113-456A-82B3-EA8CCD6D43D8}" type="slidenum">
              <a:rPr lang="en-US" smtClean="0">
                <a:latin typeface="+mj-lt"/>
              </a:rPr>
              <a:t>15</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33402" y="810594"/>
            <a:ext cx="3039858" cy="262957"/>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888305" y="864641"/>
            <a:ext cx="3150295"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COMMAND INJECTION &amp; FILE UPLOAD</a:t>
            </a:r>
            <a:endParaRPr lang="en-US" sz="1133" dirty="0">
              <a:latin typeface="+mj-lt"/>
            </a:endParaRPr>
          </a:p>
        </p:txBody>
      </p:sp>
      <p:sp>
        <p:nvSpPr>
          <p:cNvPr id="4" name="Text 2"/>
          <p:cNvSpPr/>
          <p:nvPr/>
        </p:nvSpPr>
        <p:spPr>
          <a:xfrm>
            <a:off x="631923" y="1413174"/>
            <a:ext cx="8488829" cy="577852"/>
          </a:xfrm>
          <a:prstGeom prst="rect">
            <a:avLst/>
          </a:prstGeom>
          <a:noFill/>
          <a:ln/>
        </p:spPr>
        <p:txBody>
          <a:bodyPr wrap="square" lIns="0" tIns="0" rIns="0" bIns="0" rtlCol="0" anchor="t">
            <a:normAutofit fontScale="85000" lnSpcReduction="10000"/>
          </a:bodyPr>
          <a:lstStyle/>
          <a:p>
            <a:pPr>
              <a:lnSpc>
                <a:spcPct val="104000"/>
              </a:lnSpc>
            </a:pPr>
            <a:r>
              <a:rPr lang="en-US" sz="3733" dirty="0">
                <a:solidFill>
                  <a:srgbClr val="FAEBEB"/>
                </a:solidFill>
                <a:latin typeface="+mj-lt"/>
                <a:ea typeface="Dela Gothic One" pitchFamily="34" charset="-122"/>
                <a:cs typeface="Dela Gothic One" pitchFamily="34" charset="-120"/>
              </a:rPr>
              <a:t>Server Side Execution &amp; Upload Testing</a:t>
            </a:r>
            <a:endParaRPr lang="en-US" sz="3733" dirty="0">
              <a:latin typeface="+mj-lt"/>
            </a:endParaRPr>
          </a:p>
        </p:txBody>
      </p:sp>
      <p:sp>
        <p:nvSpPr>
          <p:cNvPr id="5" name="Text 3"/>
          <p:cNvSpPr/>
          <p:nvPr/>
        </p:nvSpPr>
        <p:spPr>
          <a:xfrm>
            <a:off x="541734" y="2330649"/>
            <a:ext cx="10928152" cy="577851"/>
          </a:xfrm>
          <a:prstGeom prst="rect">
            <a:avLst/>
          </a:prstGeom>
          <a:noFill/>
          <a:ln/>
        </p:spPr>
        <p:txBody>
          <a:bodyPr wrap="square" lIns="0" tIns="0" rIns="0" bIns="0" rtlCol="0" anchor="t">
            <a:noAutofit/>
          </a:bodyPr>
          <a:lstStyle/>
          <a:p>
            <a:pPr>
              <a:lnSpc>
                <a:spcPct val="133000"/>
              </a:lnSpc>
            </a:pPr>
            <a:r>
              <a:rPr lang="en-US" dirty="0">
                <a:solidFill>
                  <a:srgbClr val="FFE5E5"/>
                </a:solidFill>
                <a:latin typeface="+mj-lt"/>
                <a:ea typeface="DM Sans" pitchFamily="34" charset="-122"/>
                <a:cs typeface="DM Sans" pitchFamily="34" charset="-120"/>
              </a:rPr>
              <a:t>Command Injection and File Upload testing evaluated whether the application properly restricts system-level access and file type validation.</a:t>
            </a:r>
            <a:endParaRPr lang="en-US" dirty="0">
              <a:latin typeface="+mj-lt"/>
            </a:endParaRPr>
          </a:p>
        </p:txBody>
      </p:sp>
      <p:sp>
        <p:nvSpPr>
          <p:cNvPr id="6" name="Shape 4"/>
          <p:cNvSpPr/>
          <p:nvPr/>
        </p:nvSpPr>
        <p:spPr>
          <a:xfrm>
            <a:off x="501849" y="3652739"/>
            <a:ext cx="5503961" cy="2138363"/>
          </a:xfrm>
          <a:prstGeom prst="roundRect">
            <a:avLst>
              <a:gd name="adj" fmla="val 6079"/>
            </a:avLst>
          </a:prstGeom>
          <a:solidFill>
            <a:srgbClr val="510C04">
              <a:alpha val="95000"/>
            </a:srgbClr>
          </a:solidFill>
          <a:ln/>
        </p:spPr>
        <p:txBody>
          <a:bodyPr/>
          <a:lstStyle/>
          <a:p>
            <a:endParaRPr lang="en-US" sz="2400"/>
          </a:p>
        </p:txBody>
      </p:sp>
      <p:sp>
        <p:nvSpPr>
          <p:cNvPr id="7" name="Text 5"/>
          <p:cNvSpPr/>
          <p:nvPr/>
        </p:nvSpPr>
        <p:spPr>
          <a:xfrm>
            <a:off x="682329" y="3833218"/>
            <a:ext cx="5143004" cy="296863"/>
          </a:xfrm>
          <a:prstGeom prst="rect">
            <a:avLst/>
          </a:prstGeom>
          <a:noFill/>
          <a:ln/>
        </p:spPr>
        <p:txBody>
          <a:bodyPr wrap="none" lIns="0" tIns="0" rIns="0" bIns="0" rtlCol="0" anchor="t"/>
          <a:lstStyle/>
          <a:p>
            <a:pPr>
              <a:lnSpc>
                <a:spcPct val="104000"/>
              </a:lnSpc>
            </a:pPr>
            <a:r>
              <a:rPr lang="en-US" sz="1867" dirty="0">
                <a:solidFill>
                  <a:srgbClr val="FAEBEB"/>
                </a:solidFill>
                <a:ea typeface="Dela Gothic One" pitchFamily="34" charset="-122"/>
                <a:cs typeface="Dela Gothic One" pitchFamily="34" charset="-120"/>
              </a:rPr>
              <a:t>Command Injection</a:t>
            </a:r>
            <a:endParaRPr lang="en-US" sz="1867" dirty="0"/>
          </a:p>
        </p:txBody>
      </p:sp>
      <p:sp>
        <p:nvSpPr>
          <p:cNvPr id="8" name="Text 6"/>
          <p:cNvSpPr/>
          <p:nvPr/>
        </p:nvSpPr>
        <p:spPr>
          <a:xfrm>
            <a:off x="682329" y="4310560"/>
            <a:ext cx="5143004" cy="1318121"/>
          </a:xfrm>
          <a:prstGeom prst="rect">
            <a:avLst/>
          </a:prstGeom>
          <a:noFill/>
          <a:ln/>
        </p:spPr>
        <p:txBody>
          <a:bodyPr wrap="square" lIns="0" tIns="0" rIns="0" bIns="0" rtlCol="0" anchor="t">
            <a:normAutofit/>
          </a:bodyPr>
          <a:lstStyle/>
          <a:p>
            <a:pPr>
              <a:lnSpc>
                <a:spcPct val="133000"/>
              </a:lnSpc>
            </a:pPr>
            <a:r>
              <a:rPr lang="en-US" sz="1400" b="1" dirty="0">
                <a:solidFill>
                  <a:srgbClr val="FFE5E5"/>
                </a:solidFill>
                <a:ea typeface="DM Sans Bold" pitchFamily="34" charset="-122"/>
                <a:cs typeface="DM Sans Bold" pitchFamily="34" charset="-120"/>
              </a:rPr>
              <a:t>Objectives:</a:t>
            </a:r>
            <a:r>
              <a:rPr lang="en-US" sz="1400" dirty="0">
                <a:solidFill>
                  <a:srgbClr val="FFE5E5"/>
                </a:solidFill>
                <a:ea typeface="DM Sans" pitchFamily="34" charset="-122"/>
                <a:cs typeface="DM Sans" pitchFamily="34" charset="-120"/>
              </a:rPr>
              <a:t> Test system command execution, demonstrate server compromise, assess input validation.</a:t>
            </a:r>
            <a:endParaRPr lang="en-US" sz="1400" dirty="0"/>
          </a:p>
          <a:p>
            <a:pPr>
              <a:lnSpc>
                <a:spcPct val="133000"/>
              </a:lnSpc>
            </a:pPr>
            <a:r>
              <a:rPr lang="en-US" sz="1400" b="1" dirty="0">
                <a:solidFill>
                  <a:srgbClr val="FFE5E5"/>
                </a:solidFill>
                <a:ea typeface="DM Sans Bold" pitchFamily="34" charset="-122"/>
                <a:cs typeface="DM Sans Bold" pitchFamily="34" charset="-120"/>
              </a:rPr>
              <a:t>Findings:</a:t>
            </a:r>
            <a:r>
              <a:rPr lang="en-US" sz="1400" dirty="0">
                <a:solidFill>
                  <a:srgbClr val="FFE5E5"/>
                </a:solidFill>
                <a:ea typeface="DM Sans" pitchFamily="34" charset="-122"/>
                <a:cs typeface="DM Sans" pitchFamily="34" charset="-120"/>
              </a:rPr>
              <a:t> Command execution confirmed, system information disclosed, input filtering insufficient.</a:t>
            </a:r>
            <a:endParaRPr lang="en-US" sz="1400" dirty="0"/>
          </a:p>
        </p:txBody>
      </p:sp>
      <p:sp>
        <p:nvSpPr>
          <p:cNvPr id="9" name="Text 7"/>
          <p:cNvSpPr/>
          <p:nvPr/>
        </p:nvSpPr>
        <p:spPr>
          <a:xfrm>
            <a:off x="6322616" y="3833218"/>
            <a:ext cx="5243811" cy="296863"/>
          </a:xfrm>
          <a:prstGeom prst="rect">
            <a:avLst/>
          </a:prstGeom>
          <a:noFill/>
          <a:ln/>
        </p:spPr>
        <p:txBody>
          <a:bodyPr wrap="none" lIns="0" tIns="0" rIns="0" bIns="0" rtlCol="0" anchor="t"/>
          <a:lstStyle/>
          <a:p>
            <a:pPr>
              <a:lnSpc>
                <a:spcPct val="104000"/>
              </a:lnSpc>
            </a:pPr>
            <a:r>
              <a:rPr lang="en-US" sz="1867" dirty="0">
                <a:solidFill>
                  <a:srgbClr val="FAEBEB"/>
                </a:solidFill>
                <a:ea typeface="Dela Gothic One" pitchFamily="34" charset="-122"/>
                <a:cs typeface="Dela Gothic One" pitchFamily="34" charset="-120"/>
              </a:rPr>
              <a:t>File Upload</a:t>
            </a:r>
            <a:endParaRPr lang="en-US" sz="1867" dirty="0"/>
          </a:p>
        </p:txBody>
      </p:sp>
      <p:sp>
        <p:nvSpPr>
          <p:cNvPr id="10" name="Text 8"/>
          <p:cNvSpPr/>
          <p:nvPr/>
        </p:nvSpPr>
        <p:spPr>
          <a:xfrm>
            <a:off x="6322616" y="4310560"/>
            <a:ext cx="5243811" cy="1318121"/>
          </a:xfrm>
          <a:prstGeom prst="rect">
            <a:avLst/>
          </a:prstGeom>
          <a:noFill/>
          <a:ln/>
        </p:spPr>
        <p:txBody>
          <a:bodyPr wrap="square" lIns="0" tIns="0" rIns="0" bIns="0" rtlCol="0" anchor="t">
            <a:normAutofit/>
          </a:bodyPr>
          <a:lstStyle/>
          <a:p>
            <a:pPr>
              <a:lnSpc>
                <a:spcPct val="133000"/>
              </a:lnSpc>
            </a:pPr>
            <a:r>
              <a:rPr lang="en-US" sz="1400" b="1" dirty="0">
                <a:solidFill>
                  <a:srgbClr val="FFE5E5"/>
                </a:solidFill>
                <a:ea typeface="DM Sans Bold" pitchFamily="34" charset="-122"/>
                <a:cs typeface="DM Sans Bold" pitchFamily="34" charset="-120"/>
              </a:rPr>
              <a:t>Objectives:</a:t>
            </a:r>
            <a:r>
              <a:rPr lang="en-US" sz="1400" dirty="0">
                <a:solidFill>
                  <a:srgbClr val="FFE5E5"/>
                </a:solidFill>
                <a:ea typeface="DM Sans" pitchFamily="34" charset="-122"/>
                <a:cs typeface="DM Sans" pitchFamily="34" charset="-120"/>
              </a:rPr>
              <a:t> Test file type validation, demonstrate malicious upload, assess server execution risk.</a:t>
            </a:r>
            <a:endParaRPr lang="en-US" sz="1400" dirty="0"/>
          </a:p>
          <a:p>
            <a:pPr>
              <a:lnSpc>
                <a:spcPct val="133000"/>
              </a:lnSpc>
            </a:pPr>
            <a:r>
              <a:rPr lang="en-US" sz="1400" b="1" dirty="0">
                <a:solidFill>
                  <a:srgbClr val="FFE5E5"/>
                </a:solidFill>
                <a:ea typeface="DM Sans Bold" pitchFamily="34" charset="-122"/>
                <a:cs typeface="DM Sans Bold" pitchFamily="34" charset="-120"/>
              </a:rPr>
              <a:t>Findings:</a:t>
            </a:r>
            <a:r>
              <a:rPr lang="en-US" sz="1400" dirty="0">
                <a:solidFill>
                  <a:srgbClr val="FFE5E5"/>
                </a:solidFill>
                <a:ea typeface="DM Sans" pitchFamily="34" charset="-122"/>
                <a:cs typeface="DM Sans" pitchFamily="34" charset="-120"/>
              </a:rPr>
              <a:t> Restrictive file types bypassed, malicious files uploaded, server side execution possible.</a:t>
            </a:r>
            <a:endParaRPr lang="en-US" sz="1400" dirty="0"/>
          </a:p>
        </p:txBody>
      </p:sp>
      <p:sp>
        <p:nvSpPr>
          <p:cNvPr id="13" name="Footer Placeholder 12">
            <a:extLst>
              <a:ext uri="{FF2B5EF4-FFF2-40B4-BE49-F238E27FC236}">
                <a16:creationId xmlns:a16="http://schemas.microsoft.com/office/drawing/2014/main" id="{E9786429-B56A-5153-FB07-BCE1F2DFD439}"/>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4" name="Slide Number Placeholder 13">
            <a:extLst>
              <a:ext uri="{FF2B5EF4-FFF2-40B4-BE49-F238E27FC236}">
                <a16:creationId xmlns:a16="http://schemas.microsoft.com/office/drawing/2014/main" id="{D73A2153-88CC-A0F2-2D7A-0DEB09053CDC}"/>
              </a:ext>
            </a:extLst>
          </p:cNvPr>
          <p:cNvSpPr>
            <a:spLocks noGrp="1"/>
          </p:cNvSpPr>
          <p:nvPr>
            <p:ph type="sldNum" sz="quarter" idx="4"/>
          </p:nvPr>
        </p:nvSpPr>
        <p:spPr/>
        <p:txBody>
          <a:bodyPr/>
          <a:lstStyle/>
          <a:p>
            <a:fld id="{08D6B0A0-5113-456A-82B3-EA8CCD6D43D8}" type="slidenum">
              <a:rPr lang="en-US" smtClean="0">
                <a:latin typeface="+mj-lt"/>
              </a:rPr>
              <a:t>16</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24" y="1228515"/>
            <a:ext cx="1990506" cy="220167"/>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740172" y="1265338"/>
            <a:ext cx="2182019"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FILE INCLUSION &amp; CSRF</a:t>
            </a:r>
            <a:endParaRPr lang="en-US" sz="1133" dirty="0">
              <a:latin typeface="+mj-lt"/>
            </a:endParaRPr>
          </a:p>
        </p:txBody>
      </p:sp>
      <p:sp>
        <p:nvSpPr>
          <p:cNvPr id="4" name="Text 2"/>
          <p:cNvSpPr/>
          <p:nvPr/>
        </p:nvSpPr>
        <p:spPr>
          <a:xfrm>
            <a:off x="631924" y="1557635"/>
            <a:ext cx="10557852" cy="637579"/>
          </a:xfrm>
          <a:prstGeom prst="rect">
            <a:avLst/>
          </a:prstGeom>
          <a:noFill/>
          <a:ln/>
        </p:spPr>
        <p:txBody>
          <a:bodyPr wrap="square" lIns="0" tIns="0" rIns="0" bIns="0" rtlCol="0" anchor="t">
            <a:normAutofit fontScale="85000" lnSpcReduction="10000"/>
          </a:bodyPr>
          <a:lstStyle/>
          <a:p>
            <a:pPr>
              <a:lnSpc>
                <a:spcPct val="104000"/>
              </a:lnSpc>
            </a:pPr>
            <a:r>
              <a:rPr lang="en-US" sz="3733" dirty="0">
                <a:solidFill>
                  <a:srgbClr val="FAEBEB"/>
                </a:solidFill>
                <a:latin typeface="+mj-lt"/>
                <a:ea typeface="Dela Gothic One" pitchFamily="34" charset="-122"/>
                <a:cs typeface="Dela Gothic One" pitchFamily="34" charset="-120"/>
              </a:rPr>
              <a:t>Local File Inclusion &amp; Cross Site Request Forgery</a:t>
            </a:r>
            <a:endParaRPr lang="en-US" sz="3733" dirty="0">
              <a:latin typeface="+mj-lt"/>
            </a:endParaRPr>
          </a:p>
        </p:txBody>
      </p:sp>
      <p:sp>
        <p:nvSpPr>
          <p:cNvPr id="5" name="Text 3"/>
          <p:cNvSpPr/>
          <p:nvPr/>
        </p:nvSpPr>
        <p:spPr>
          <a:xfrm>
            <a:off x="654248" y="2402978"/>
            <a:ext cx="11537752" cy="288925"/>
          </a:xfrm>
          <a:prstGeom prst="rect">
            <a:avLst/>
          </a:prstGeom>
          <a:noFill/>
          <a:ln/>
        </p:spPr>
        <p:txBody>
          <a:bodyPr wrap="none" lIns="0" tIns="0" rIns="0" bIns="0" rtlCol="0" anchor="t"/>
          <a:lstStyle/>
          <a:p>
            <a:pPr>
              <a:lnSpc>
                <a:spcPct val="133000"/>
              </a:lnSpc>
            </a:pPr>
            <a:r>
              <a:rPr lang="en-US" sz="1400" dirty="0">
                <a:solidFill>
                  <a:srgbClr val="FFE5E5"/>
                </a:solidFill>
                <a:ea typeface="DM Sans" pitchFamily="34" charset="-122"/>
                <a:cs typeface="DM Sans" pitchFamily="34" charset="-120"/>
              </a:rPr>
              <a:t>LFI and CSRF testing evaluated whether the application properly restricts file access and enforces request origin validation.</a:t>
            </a:r>
            <a:endParaRPr lang="en-US" sz="1400" dirty="0"/>
          </a:p>
        </p:txBody>
      </p:sp>
      <p:sp>
        <p:nvSpPr>
          <p:cNvPr id="6" name="Text 4"/>
          <p:cNvSpPr/>
          <p:nvPr/>
        </p:nvSpPr>
        <p:spPr>
          <a:xfrm>
            <a:off x="631924" y="3688755"/>
            <a:ext cx="5243811" cy="296863"/>
          </a:xfrm>
          <a:prstGeom prst="rect">
            <a:avLst/>
          </a:prstGeom>
          <a:noFill/>
          <a:ln/>
        </p:spPr>
        <p:txBody>
          <a:bodyPr wrap="none" lIns="0" tIns="0" rIns="0" bIns="0" rtlCol="0" anchor="t"/>
          <a:lstStyle/>
          <a:p>
            <a:pPr>
              <a:lnSpc>
                <a:spcPct val="104000"/>
              </a:lnSpc>
            </a:pPr>
            <a:r>
              <a:rPr lang="en-US" sz="1867" dirty="0">
                <a:solidFill>
                  <a:srgbClr val="FAEBEB"/>
                </a:solidFill>
                <a:ea typeface="Dela Gothic One" pitchFamily="34" charset="-122"/>
                <a:cs typeface="Dela Gothic One" pitchFamily="34" charset="-120"/>
              </a:rPr>
              <a:t>Local File Inclusion</a:t>
            </a:r>
            <a:endParaRPr lang="en-US" sz="1867" dirty="0"/>
          </a:p>
        </p:txBody>
      </p:sp>
      <p:sp>
        <p:nvSpPr>
          <p:cNvPr id="7" name="Text 5"/>
          <p:cNvSpPr/>
          <p:nvPr/>
        </p:nvSpPr>
        <p:spPr>
          <a:xfrm>
            <a:off x="631924" y="4166097"/>
            <a:ext cx="5243811" cy="1318121"/>
          </a:xfrm>
          <a:prstGeom prst="rect">
            <a:avLst/>
          </a:prstGeom>
          <a:noFill/>
          <a:ln/>
        </p:spPr>
        <p:txBody>
          <a:bodyPr wrap="square" lIns="0" tIns="0" rIns="0" bIns="0" rtlCol="0" anchor="t">
            <a:normAutofit/>
          </a:bodyPr>
          <a:lstStyle/>
          <a:p>
            <a:pPr>
              <a:lnSpc>
                <a:spcPct val="133000"/>
              </a:lnSpc>
            </a:pPr>
            <a:r>
              <a:rPr lang="en-US" sz="1400" b="1" dirty="0">
                <a:solidFill>
                  <a:srgbClr val="FFE5E5"/>
                </a:solidFill>
                <a:ea typeface="DM Sans Bold" pitchFamily="34" charset="-122"/>
                <a:cs typeface="DM Sans Bold" pitchFamily="34" charset="-120"/>
              </a:rPr>
              <a:t>Objectives:</a:t>
            </a:r>
            <a:r>
              <a:rPr lang="en-US" sz="1400" dirty="0">
                <a:solidFill>
                  <a:srgbClr val="FFE5E5"/>
                </a:solidFill>
                <a:ea typeface="DM Sans" pitchFamily="34" charset="-122"/>
                <a:cs typeface="DM Sans" pitchFamily="34" charset="-120"/>
              </a:rPr>
              <a:t> Test file inclusion mechanisms, demonstrate sensitive file access, assess path traversal risk.</a:t>
            </a:r>
            <a:endParaRPr lang="en-US" sz="1400" dirty="0"/>
          </a:p>
          <a:p>
            <a:pPr>
              <a:lnSpc>
                <a:spcPct val="133000"/>
              </a:lnSpc>
            </a:pPr>
            <a:r>
              <a:rPr lang="en-US" sz="1400" b="1" dirty="0">
                <a:solidFill>
                  <a:srgbClr val="FFE5E5"/>
                </a:solidFill>
                <a:ea typeface="DM Sans Bold" pitchFamily="34" charset="-122"/>
                <a:cs typeface="DM Sans Bold" pitchFamily="34" charset="-120"/>
              </a:rPr>
              <a:t>Findings:</a:t>
            </a:r>
            <a:r>
              <a:rPr lang="en-US" sz="1400" dirty="0">
                <a:solidFill>
                  <a:srgbClr val="FFE5E5"/>
                </a:solidFill>
                <a:ea typeface="DM Sans" pitchFamily="34" charset="-122"/>
                <a:cs typeface="DM Sans" pitchFamily="34" charset="-120"/>
              </a:rPr>
              <a:t> Local files accessed, system files exposed, directory traversal successful.</a:t>
            </a:r>
            <a:endParaRPr lang="en-US" sz="1400" dirty="0"/>
          </a:p>
        </p:txBody>
      </p:sp>
      <p:sp>
        <p:nvSpPr>
          <p:cNvPr id="8" name="Shape 6"/>
          <p:cNvSpPr/>
          <p:nvPr/>
        </p:nvSpPr>
        <p:spPr>
          <a:xfrm>
            <a:off x="6192541" y="3508276"/>
            <a:ext cx="5503961" cy="2138363"/>
          </a:xfrm>
          <a:prstGeom prst="roundRect">
            <a:avLst>
              <a:gd name="adj" fmla="val 6079"/>
            </a:avLst>
          </a:prstGeom>
          <a:solidFill>
            <a:srgbClr val="510C04">
              <a:alpha val="95000"/>
            </a:srgbClr>
          </a:solidFill>
          <a:ln/>
        </p:spPr>
        <p:txBody>
          <a:bodyPr/>
          <a:lstStyle/>
          <a:p>
            <a:endParaRPr lang="en-US" sz="2400"/>
          </a:p>
        </p:txBody>
      </p:sp>
      <p:sp>
        <p:nvSpPr>
          <p:cNvPr id="9" name="Text 7"/>
          <p:cNvSpPr/>
          <p:nvPr/>
        </p:nvSpPr>
        <p:spPr>
          <a:xfrm>
            <a:off x="6373019" y="3688755"/>
            <a:ext cx="5143004" cy="296863"/>
          </a:xfrm>
          <a:prstGeom prst="rect">
            <a:avLst/>
          </a:prstGeom>
          <a:noFill/>
          <a:ln/>
        </p:spPr>
        <p:txBody>
          <a:bodyPr wrap="none" lIns="0" tIns="0" rIns="0" bIns="0" rtlCol="0" anchor="t"/>
          <a:lstStyle/>
          <a:p>
            <a:pPr>
              <a:lnSpc>
                <a:spcPct val="104000"/>
              </a:lnSpc>
            </a:pPr>
            <a:r>
              <a:rPr lang="en-US" sz="1867" dirty="0">
                <a:solidFill>
                  <a:srgbClr val="FAEBEB"/>
                </a:solidFill>
                <a:ea typeface="Dela Gothic One" pitchFamily="34" charset="-122"/>
                <a:cs typeface="Dela Gothic One" pitchFamily="34" charset="-120"/>
              </a:rPr>
              <a:t>Cross</a:t>
            </a:r>
            <a:r>
              <a:rPr lang="ar-EG" sz="1867" dirty="0">
                <a:solidFill>
                  <a:srgbClr val="FAEBEB"/>
                </a:solidFill>
                <a:ea typeface="Dela Gothic One" pitchFamily="34" charset="-122"/>
                <a:cs typeface="Dela Gothic One" pitchFamily="34" charset="-120"/>
              </a:rPr>
              <a:t> </a:t>
            </a:r>
            <a:r>
              <a:rPr lang="en-US" sz="1867" dirty="0">
                <a:solidFill>
                  <a:srgbClr val="FAEBEB"/>
                </a:solidFill>
                <a:ea typeface="Dela Gothic One" pitchFamily="34" charset="-122"/>
                <a:cs typeface="Dela Gothic One" pitchFamily="34" charset="-120"/>
              </a:rPr>
              <a:t>Site Request Forgery</a:t>
            </a:r>
            <a:endParaRPr lang="en-US" sz="1867" dirty="0"/>
          </a:p>
        </p:txBody>
      </p:sp>
      <p:sp>
        <p:nvSpPr>
          <p:cNvPr id="10" name="Text 8"/>
          <p:cNvSpPr/>
          <p:nvPr/>
        </p:nvSpPr>
        <p:spPr>
          <a:xfrm>
            <a:off x="6373019" y="4166097"/>
            <a:ext cx="5143004" cy="1318121"/>
          </a:xfrm>
          <a:prstGeom prst="rect">
            <a:avLst/>
          </a:prstGeom>
          <a:noFill/>
          <a:ln/>
        </p:spPr>
        <p:txBody>
          <a:bodyPr wrap="square" lIns="0" tIns="0" rIns="0" bIns="0" rtlCol="0" anchor="t">
            <a:normAutofit/>
          </a:bodyPr>
          <a:lstStyle/>
          <a:p>
            <a:pPr>
              <a:lnSpc>
                <a:spcPct val="133000"/>
              </a:lnSpc>
            </a:pPr>
            <a:r>
              <a:rPr lang="en-US" sz="1400" b="1" dirty="0">
                <a:solidFill>
                  <a:srgbClr val="FFE5E5"/>
                </a:solidFill>
                <a:ea typeface="DM Sans Bold" pitchFamily="34" charset="-122"/>
                <a:cs typeface="DM Sans Bold" pitchFamily="34" charset="-120"/>
              </a:rPr>
              <a:t>Objectives:</a:t>
            </a:r>
            <a:r>
              <a:rPr lang="en-US" sz="1400" dirty="0">
                <a:solidFill>
                  <a:srgbClr val="FFE5E5"/>
                </a:solidFill>
                <a:ea typeface="DM Sans" pitchFamily="34" charset="-122"/>
                <a:cs typeface="DM Sans" pitchFamily="34" charset="-120"/>
              </a:rPr>
              <a:t> Test request validation, demonstrate unauthorized actions, assess CSRF token implementation.</a:t>
            </a:r>
            <a:endParaRPr lang="en-US" sz="1400" dirty="0"/>
          </a:p>
          <a:p>
            <a:pPr>
              <a:lnSpc>
                <a:spcPct val="133000"/>
              </a:lnSpc>
            </a:pPr>
            <a:r>
              <a:rPr lang="en-US" sz="1400" b="1" dirty="0">
                <a:solidFill>
                  <a:srgbClr val="FFE5E5"/>
                </a:solidFill>
                <a:ea typeface="DM Sans Bold" pitchFamily="34" charset="-122"/>
                <a:cs typeface="DM Sans Bold" pitchFamily="34" charset="-120"/>
              </a:rPr>
              <a:t>Findings:</a:t>
            </a:r>
            <a:r>
              <a:rPr lang="en-US" sz="1400" dirty="0">
                <a:solidFill>
                  <a:srgbClr val="FFE5E5"/>
                </a:solidFill>
                <a:ea typeface="DM Sans" pitchFamily="34" charset="-122"/>
                <a:cs typeface="DM Sans" pitchFamily="34" charset="-120"/>
              </a:rPr>
              <a:t> CSRF tokens absent, state changing requests forged, no origin verification enforced.</a:t>
            </a:r>
            <a:endParaRPr lang="en-US" sz="1400" dirty="0"/>
          </a:p>
        </p:txBody>
      </p:sp>
      <p:sp>
        <p:nvSpPr>
          <p:cNvPr id="13" name="Footer Placeholder 12">
            <a:extLst>
              <a:ext uri="{FF2B5EF4-FFF2-40B4-BE49-F238E27FC236}">
                <a16:creationId xmlns:a16="http://schemas.microsoft.com/office/drawing/2014/main" id="{F828FF30-523B-566B-51DC-8DB7D03780F7}"/>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4" name="Slide Number Placeholder 13">
            <a:extLst>
              <a:ext uri="{FF2B5EF4-FFF2-40B4-BE49-F238E27FC236}">
                <a16:creationId xmlns:a16="http://schemas.microsoft.com/office/drawing/2014/main" id="{BD27DD0B-2569-AA60-10FE-41E6BAAAFB8F}"/>
              </a:ext>
            </a:extLst>
          </p:cNvPr>
          <p:cNvSpPr>
            <a:spLocks noGrp="1"/>
          </p:cNvSpPr>
          <p:nvPr>
            <p:ph type="sldNum" sz="quarter" idx="4"/>
          </p:nvPr>
        </p:nvSpPr>
        <p:spPr/>
        <p:txBody>
          <a:bodyPr/>
          <a:lstStyle/>
          <a:p>
            <a:fld id="{08D6B0A0-5113-456A-82B3-EA8CCD6D43D8}" type="slidenum">
              <a:rPr lang="en-US" smtClean="0">
                <a:latin typeface="+mj-lt"/>
              </a:rPr>
              <a:t>17</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816102" y="628751"/>
            <a:ext cx="1668970" cy="240011"/>
          </a:xfrm>
          <a:prstGeom prst="roundRect">
            <a:avLst>
              <a:gd name="adj" fmla="val 22117"/>
            </a:avLst>
          </a:prstGeom>
          <a:solidFill>
            <a:srgbClr val="460707"/>
          </a:solidFill>
          <a:ln/>
        </p:spPr>
        <p:txBody>
          <a:bodyPr/>
          <a:lstStyle/>
          <a:p>
            <a:endParaRPr lang="en-US" sz="2400">
              <a:latin typeface="+mj-lt"/>
            </a:endParaRPr>
          </a:p>
        </p:txBody>
      </p:sp>
      <p:sp>
        <p:nvSpPr>
          <p:cNvPr id="3" name="Text 1"/>
          <p:cNvSpPr/>
          <p:nvPr/>
        </p:nvSpPr>
        <p:spPr>
          <a:xfrm>
            <a:off x="1920048" y="690962"/>
            <a:ext cx="2007989" cy="145356"/>
          </a:xfrm>
          <a:prstGeom prst="rect">
            <a:avLst/>
          </a:prstGeom>
          <a:noFill/>
          <a:ln/>
        </p:spPr>
        <p:txBody>
          <a:bodyPr wrap="none" lIns="0" tIns="0" rIns="0" bIns="0" rtlCol="0" anchor="t"/>
          <a:lstStyle/>
          <a:p>
            <a:pPr>
              <a:lnSpc>
                <a:spcPct val="96000"/>
              </a:lnSpc>
            </a:pPr>
            <a:r>
              <a:rPr lang="en-US" sz="933" dirty="0">
                <a:solidFill>
                  <a:srgbClr val="FFE5E5"/>
                </a:solidFill>
                <a:latin typeface="+mj-lt"/>
                <a:ea typeface="DM Sans" pitchFamily="34" charset="-122"/>
                <a:cs typeface="DM Sans" pitchFamily="34" charset="-120"/>
              </a:rPr>
              <a:t>SESSION MANAGEMENT</a:t>
            </a:r>
            <a:endParaRPr lang="en-US" sz="933" dirty="0">
              <a:latin typeface="+mj-lt"/>
            </a:endParaRPr>
          </a:p>
        </p:txBody>
      </p:sp>
      <p:sp>
        <p:nvSpPr>
          <p:cNvPr id="4" name="Text 2"/>
          <p:cNvSpPr/>
          <p:nvPr/>
        </p:nvSpPr>
        <p:spPr>
          <a:xfrm>
            <a:off x="631924" y="922437"/>
            <a:ext cx="5590645" cy="519608"/>
          </a:xfrm>
          <a:prstGeom prst="rect">
            <a:avLst/>
          </a:prstGeom>
          <a:noFill/>
          <a:ln/>
        </p:spPr>
        <p:txBody>
          <a:bodyPr wrap="none" lIns="0" tIns="0" rIns="0" bIns="0" rtlCol="0" anchor="t"/>
          <a:lstStyle/>
          <a:p>
            <a:pPr>
              <a:lnSpc>
                <a:spcPct val="104000"/>
              </a:lnSpc>
            </a:pPr>
            <a:r>
              <a:rPr lang="en-US" sz="3267" dirty="0">
                <a:solidFill>
                  <a:srgbClr val="FAEBEB"/>
                </a:solidFill>
                <a:latin typeface="+mj-lt"/>
                <a:ea typeface="Dela Gothic One" pitchFamily="34" charset="-122"/>
                <a:cs typeface="Dela Gothic One" pitchFamily="34" charset="-120"/>
              </a:rPr>
              <a:t>Session Security Assessment</a:t>
            </a:r>
            <a:endParaRPr lang="en-US" sz="3267" dirty="0">
              <a:latin typeface="+mj-lt"/>
            </a:endParaRPr>
          </a:p>
        </p:txBody>
      </p:sp>
      <p:sp>
        <p:nvSpPr>
          <p:cNvPr id="5" name="Text 3"/>
          <p:cNvSpPr/>
          <p:nvPr/>
        </p:nvSpPr>
        <p:spPr>
          <a:xfrm>
            <a:off x="631924" y="1649314"/>
            <a:ext cx="11537752" cy="236935"/>
          </a:xfrm>
          <a:prstGeom prst="rect">
            <a:avLst/>
          </a:prstGeom>
          <a:noFill/>
          <a:ln/>
        </p:spPr>
        <p:txBody>
          <a:bodyPr wrap="none" lIns="0" tIns="0" rIns="0" bIns="0" rtlCol="0" anchor="t"/>
          <a:lstStyle/>
          <a:p>
            <a:pPr>
              <a:lnSpc>
                <a:spcPct val="125000"/>
              </a:lnSpc>
            </a:pPr>
            <a:r>
              <a:rPr lang="en-US" sz="1200" dirty="0">
                <a:solidFill>
                  <a:srgbClr val="FFE5E5"/>
                </a:solidFill>
                <a:ea typeface="DM Sans" pitchFamily="34" charset="-122"/>
                <a:cs typeface="DM Sans" pitchFamily="34" charset="-120"/>
              </a:rPr>
              <a:t>Session management testing evaluated how the application creates, maintains, and protects user sessions throughout the authentication lifecycle.</a:t>
            </a:r>
            <a:endParaRPr lang="en-US" sz="1200" dirty="0"/>
          </a:p>
        </p:txBody>
      </p:sp>
      <p:sp>
        <p:nvSpPr>
          <p:cNvPr id="6" name="Text 4"/>
          <p:cNvSpPr/>
          <p:nvPr/>
        </p:nvSpPr>
        <p:spPr>
          <a:xfrm>
            <a:off x="631925" y="2179935"/>
            <a:ext cx="5271393" cy="259755"/>
          </a:xfrm>
          <a:prstGeom prst="rect">
            <a:avLst/>
          </a:prstGeom>
          <a:noFill/>
          <a:ln/>
        </p:spPr>
        <p:txBody>
          <a:bodyPr wrap="none" lIns="0" tIns="0" rIns="0" bIns="0" rtlCol="0" anchor="t"/>
          <a:lstStyle/>
          <a:p>
            <a:pPr>
              <a:lnSpc>
                <a:spcPct val="104000"/>
              </a:lnSpc>
            </a:pPr>
            <a:r>
              <a:rPr lang="en-US" sz="1600" dirty="0">
                <a:solidFill>
                  <a:srgbClr val="FAEBEB"/>
                </a:solidFill>
                <a:ea typeface="Dela Gothic One" pitchFamily="34" charset="-122"/>
                <a:cs typeface="Dela Gothic One" pitchFamily="34" charset="-120"/>
              </a:rPr>
              <a:t>Objectives</a:t>
            </a:r>
            <a:endParaRPr lang="en-US" sz="1600" dirty="0"/>
          </a:p>
        </p:txBody>
      </p:sp>
      <p:sp>
        <p:nvSpPr>
          <p:cNvPr id="7" name="Text 5"/>
          <p:cNvSpPr/>
          <p:nvPr/>
        </p:nvSpPr>
        <p:spPr>
          <a:xfrm>
            <a:off x="631924" y="2595166"/>
            <a:ext cx="315912" cy="197445"/>
          </a:xfrm>
          <a:prstGeom prst="rect">
            <a:avLst/>
          </a:prstGeom>
          <a:noFill/>
          <a:ln/>
        </p:spPr>
        <p:txBody>
          <a:bodyPr wrap="none" lIns="0" tIns="0" rIns="0" bIns="0" rtlCol="0" anchor="ctr"/>
          <a:lstStyle/>
          <a:p>
            <a:r>
              <a:rPr lang="en-US" sz="1200" dirty="0">
                <a:solidFill>
                  <a:srgbClr val="FFE5E5"/>
                </a:solidFill>
                <a:ea typeface="Dela Gothic One Light" pitchFamily="34" charset="-122"/>
                <a:cs typeface="Dela Gothic One Light" pitchFamily="34" charset="-120"/>
              </a:rPr>
              <a:t>01</a:t>
            </a:r>
            <a:endParaRPr lang="en-US" sz="1200" dirty="0"/>
          </a:p>
        </p:txBody>
      </p:sp>
      <p:sp>
        <p:nvSpPr>
          <p:cNvPr id="8" name="Shape 6"/>
          <p:cNvSpPr/>
          <p:nvPr/>
        </p:nvSpPr>
        <p:spPr>
          <a:xfrm>
            <a:off x="631925" y="2844601"/>
            <a:ext cx="5271393" cy="19051"/>
          </a:xfrm>
          <a:prstGeom prst="rect">
            <a:avLst/>
          </a:prstGeom>
          <a:solidFill>
            <a:srgbClr val="C91313"/>
          </a:solidFill>
          <a:ln/>
        </p:spPr>
        <p:txBody>
          <a:bodyPr/>
          <a:lstStyle/>
          <a:p>
            <a:endParaRPr lang="en-US" sz="2400"/>
          </a:p>
        </p:txBody>
      </p:sp>
      <p:sp>
        <p:nvSpPr>
          <p:cNvPr id="9" name="Text 7"/>
          <p:cNvSpPr/>
          <p:nvPr/>
        </p:nvSpPr>
        <p:spPr>
          <a:xfrm>
            <a:off x="631925" y="2961681"/>
            <a:ext cx="5271393" cy="236935"/>
          </a:xfrm>
          <a:prstGeom prst="rect">
            <a:avLst/>
          </a:prstGeom>
          <a:noFill/>
          <a:ln/>
        </p:spPr>
        <p:txBody>
          <a:bodyPr wrap="none" lIns="0" tIns="0" rIns="0" bIns="0" rtlCol="0" anchor="t"/>
          <a:lstStyle/>
          <a:p>
            <a:pPr>
              <a:lnSpc>
                <a:spcPct val="125000"/>
              </a:lnSpc>
            </a:pPr>
            <a:r>
              <a:rPr lang="en-US" sz="1600" dirty="0">
                <a:solidFill>
                  <a:srgbClr val="FFE5E5"/>
                </a:solidFill>
                <a:ea typeface="DM Sans" pitchFamily="34" charset="-122"/>
                <a:cs typeface="DM Sans" pitchFamily="34" charset="-120"/>
              </a:rPr>
              <a:t>Evaluate session token generation and entropy</a:t>
            </a:r>
            <a:endParaRPr lang="en-US" sz="1600" dirty="0"/>
          </a:p>
        </p:txBody>
      </p:sp>
      <p:sp>
        <p:nvSpPr>
          <p:cNvPr id="10" name="Text 8"/>
          <p:cNvSpPr/>
          <p:nvPr/>
        </p:nvSpPr>
        <p:spPr>
          <a:xfrm>
            <a:off x="631924" y="3455294"/>
            <a:ext cx="315912" cy="197445"/>
          </a:xfrm>
          <a:prstGeom prst="rect">
            <a:avLst/>
          </a:prstGeom>
          <a:noFill/>
          <a:ln/>
        </p:spPr>
        <p:txBody>
          <a:bodyPr wrap="none" lIns="0" tIns="0" rIns="0" bIns="0" rtlCol="0" anchor="ctr"/>
          <a:lstStyle/>
          <a:p>
            <a:r>
              <a:rPr lang="en-US" sz="1200" dirty="0">
                <a:solidFill>
                  <a:srgbClr val="FFE5E5"/>
                </a:solidFill>
                <a:ea typeface="Dela Gothic One Light" pitchFamily="34" charset="-122"/>
                <a:cs typeface="Dela Gothic One Light" pitchFamily="34" charset="-120"/>
              </a:rPr>
              <a:t>02</a:t>
            </a:r>
            <a:endParaRPr lang="en-US" sz="1200" dirty="0"/>
          </a:p>
        </p:txBody>
      </p:sp>
      <p:sp>
        <p:nvSpPr>
          <p:cNvPr id="11" name="Shape 9"/>
          <p:cNvSpPr/>
          <p:nvPr/>
        </p:nvSpPr>
        <p:spPr>
          <a:xfrm>
            <a:off x="631925" y="3704729"/>
            <a:ext cx="5271393" cy="19051"/>
          </a:xfrm>
          <a:prstGeom prst="rect">
            <a:avLst/>
          </a:prstGeom>
          <a:solidFill>
            <a:srgbClr val="C91313"/>
          </a:solidFill>
          <a:ln/>
        </p:spPr>
        <p:txBody>
          <a:bodyPr/>
          <a:lstStyle/>
          <a:p>
            <a:endParaRPr lang="en-US" sz="2400"/>
          </a:p>
        </p:txBody>
      </p:sp>
      <p:sp>
        <p:nvSpPr>
          <p:cNvPr id="12" name="Text 10"/>
          <p:cNvSpPr/>
          <p:nvPr/>
        </p:nvSpPr>
        <p:spPr>
          <a:xfrm>
            <a:off x="631925" y="3821807"/>
            <a:ext cx="5271393" cy="236935"/>
          </a:xfrm>
          <a:prstGeom prst="rect">
            <a:avLst/>
          </a:prstGeom>
          <a:noFill/>
          <a:ln/>
        </p:spPr>
        <p:txBody>
          <a:bodyPr wrap="none" lIns="0" tIns="0" rIns="0" bIns="0" rtlCol="0" anchor="t"/>
          <a:lstStyle/>
          <a:p>
            <a:pPr>
              <a:lnSpc>
                <a:spcPct val="125000"/>
              </a:lnSpc>
            </a:pPr>
            <a:r>
              <a:rPr lang="en-US" sz="1600" dirty="0">
                <a:solidFill>
                  <a:srgbClr val="FFE5E5"/>
                </a:solidFill>
                <a:ea typeface="DM Sans" pitchFamily="34" charset="-122"/>
                <a:cs typeface="DM Sans" pitchFamily="34" charset="-120"/>
              </a:rPr>
              <a:t>Test session expiration and timeout mechanisms</a:t>
            </a:r>
            <a:endParaRPr lang="en-US" sz="1600" dirty="0"/>
          </a:p>
        </p:txBody>
      </p:sp>
      <p:sp>
        <p:nvSpPr>
          <p:cNvPr id="13" name="Text 11"/>
          <p:cNvSpPr/>
          <p:nvPr/>
        </p:nvSpPr>
        <p:spPr>
          <a:xfrm>
            <a:off x="631924" y="4315420"/>
            <a:ext cx="315912" cy="197445"/>
          </a:xfrm>
          <a:prstGeom prst="rect">
            <a:avLst/>
          </a:prstGeom>
          <a:noFill/>
          <a:ln/>
        </p:spPr>
        <p:txBody>
          <a:bodyPr wrap="none" lIns="0" tIns="0" rIns="0" bIns="0" rtlCol="0" anchor="ctr"/>
          <a:lstStyle/>
          <a:p>
            <a:r>
              <a:rPr lang="en-US" sz="1200" dirty="0">
                <a:solidFill>
                  <a:srgbClr val="FFE5E5"/>
                </a:solidFill>
                <a:ea typeface="Dela Gothic One Light" pitchFamily="34" charset="-122"/>
                <a:cs typeface="Dela Gothic One Light" pitchFamily="34" charset="-120"/>
              </a:rPr>
              <a:t>03</a:t>
            </a:r>
            <a:endParaRPr lang="en-US" sz="1200" dirty="0"/>
          </a:p>
        </p:txBody>
      </p:sp>
      <p:sp>
        <p:nvSpPr>
          <p:cNvPr id="14" name="Shape 12"/>
          <p:cNvSpPr/>
          <p:nvPr/>
        </p:nvSpPr>
        <p:spPr>
          <a:xfrm>
            <a:off x="631925" y="4564856"/>
            <a:ext cx="5271393" cy="19051"/>
          </a:xfrm>
          <a:prstGeom prst="rect">
            <a:avLst/>
          </a:prstGeom>
          <a:solidFill>
            <a:srgbClr val="C91313"/>
          </a:solidFill>
          <a:ln/>
        </p:spPr>
        <p:txBody>
          <a:bodyPr/>
          <a:lstStyle/>
          <a:p>
            <a:endParaRPr lang="en-US" sz="2400"/>
          </a:p>
        </p:txBody>
      </p:sp>
      <p:sp>
        <p:nvSpPr>
          <p:cNvPr id="15" name="Text 13"/>
          <p:cNvSpPr/>
          <p:nvPr/>
        </p:nvSpPr>
        <p:spPr>
          <a:xfrm>
            <a:off x="631925" y="4681935"/>
            <a:ext cx="5271393" cy="236935"/>
          </a:xfrm>
          <a:prstGeom prst="rect">
            <a:avLst/>
          </a:prstGeom>
          <a:noFill/>
          <a:ln/>
        </p:spPr>
        <p:txBody>
          <a:bodyPr wrap="none" lIns="0" tIns="0" rIns="0" bIns="0" rtlCol="0" anchor="t"/>
          <a:lstStyle/>
          <a:p>
            <a:pPr>
              <a:lnSpc>
                <a:spcPct val="125000"/>
              </a:lnSpc>
            </a:pPr>
            <a:r>
              <a:rPr lang="en-US" sz="1600" dirty="0">
                <a:solidFill>
                  <a:srgbClr val="FFE5E5"/>
                </a:solidFill>
                <a:ea typeface="DM Sans" pitchFamily="34" charset="-122"/>
                <a:cs typeface="DM Sans" pitchFamily="34" charset="-120"/>
              </a:rPr>
              <a:t>Assess cookie security attributes</a:t>
            </a:r>
            <a:endParaRPr lang="en-US" sz="1600" dirty="0"/>
          </a:p>
        </p:txBody>
      </p:sp>
      <p:sp>
        <p:nvSpPr>
          <p:cNvPr id="16" name="Text 14"/>
          <p:cNvSpPr/>
          <p:nvPr/>
        </p:nvSpPr>
        <p:spPr>
          <a:xfrm>
            <a:off x="6295034" y="2179935"/>
            <a:ext cx="5271393" cy="259755"/>
          </a:xfrm>
          <a:prstGeom prst="rect">
            <a:avLst/>
          </a:prstGeom>
          <a:noFill/>
          <a:ln/>
        </p:spPr>
        <p:txBody>
          <a:bodyPr wrap="none" lIns="0" tIns="0" rIns="0" bIns="0" rtlCol="0" anchor="t"/>
          <a:lstStyle/>
          <a:p>
            <a:pPr>
              <a:lnSpc>
                <a:spcPct val="104000"/>
              </a:lnSpc>
            </a:pPr>
            <a:r>
              <a:rPr lang="en-US" sz="1600" dirty="0">
                <a:solidFill>
                  <a:srgbClr val="FAEBEB"/>
                </a:solidFill>
                <a:ea typeface="Dela Gothic One" pitchFamily="34" charset="-122"/>
                <a:cs typeface="Dela Gothic One" pitchFamily="34" charset="-120"/>
              </a:rPr>
              <a:t>Findings</a:t>
            </a:r>
            <a:endParaRPr lang="en-US" sz="1600" dirty="0"/>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5034" y="2595166"/>
            <a:ext cx="5271393" cy="988913"/>
          </a:xfrm>
          <a:prstGeom prst="rect">
            <a:avLst/>
          </a:prstGeom>
        </p:spPr>
      </p:pic>
      <p:sp>
        <p:nvSpPr>
          <p:cNvPr id="18" name="Text 15"/>
          <p:cNvSpPr/>
          <p:nvPr/>
        </p:nvSpPr>
        <p:spPr>
          <a:xfrm>
            <a:off x="6548239" y="2772172"/>
            <a:ext cx="4841180" cy="259755"/>
          </a:xfrm>
          <a:prstGeom prst="rect">
            <a:avLst/>
          </a:prstGeom>
          <a:noFill/>
          <a:ln/>
        </p:spPr>
        <p:txBody>
          <a:bodyPr wrap="none" lIns="0" tIns="0" rIns="0" bIns="0" rtlCol="0" anchor="t"/>
          <a:lstStyle/>
          <a:p>
            <a:pPr>
              <a:lnSpc>
                <a:spcPct val="104000"/>
              </a:lnSpc>
            </a:pPr>
            <a:r>
              <a:rPr lang="en-US" sz="1600" dirty="0">
                <a:solidFill>
                  <a:srgbClr val="FFE5E5"/>
                </a:solidFill>
                <a:ea typeface="Dela Gothic One" pitchFamily="34" charset="-122"/>
                <a:cs typeface="Dela Gothic One" pitchFamily="34" charset="-120"/>
              </a:rPr>
              <a:t>Weak Session Tokens</a:t>
            </a:r>
            <a:endParaRPr lang="en-US" sz="1600" dirty="0"/>
          </a:p>
        </p:txBody>
      </p:sp>
      <p:sp>
        <p:nvSpPr>
          <p:cNvPr id="19" name="Text 16"/>
          <p:cNvSpPr/>
          <p:nvPr/>
        </p:nvSpPr>
        <p:spPr>
          <a:xfrm>
            <a:off x="6548239" y="3170139"/>
            <a:ext cx="4841180" cy="236935"/>
          </a:xfrm>
          <a:prstGeom prst="rect">
            <a:avLst/>
          </a:prstGeom>
          <a:noFill/>
          <a:ln/>
        </p:spPr>
        <p:txBody>
          <a:bodyPr wrap="none" lIns="0" tIns="0" rIns="0" bIns="0" rtlCol="0" anchor="t"/>
          <a:lstStyle/>
          <a:p>
            <a:pPr>
              <a:lnSpc>
                <a:spcPct val="125000"/>
              </a:lnSpc>
            </a:pPr>
            <a:r>
              <a:rPr lang="en-US" sz="1200" dirty="0">
                <a:solidFill>
                  <a:srgbClr val="FFE5E5"/>
                </a:solidFill>
                <a:ea typeface="DM Sans" pitchFamily="34" charset="-122"/>
                <a:cs typeface="DM Sans" pitchFamily="34" charset="-120"/>
              </a:rPr>
              <a:t>Tokens lacked sufficient entropy and were potentially predictable.</a:t>
            </a:r>
            <a:endParaRPr lang="en-US" sz="1200" dirty="0"/>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95034" y="3722292"/>
            <a:ext cx="5271393" cy="988913"/>
          </a:xfrm>
          <a:prstGeom prst="rect">
            <a:avLst/>
          </a:prstGeom>
        </p:spPr>
      </p:pic>
      <p:sp>
        <p:nvSpPr>
          <p:cNvPr id="21" name="Text 17"/>
          <p:cNvSpPr/>
          <p:nvPr/>
        </p:nvSpPr>
        <p:spPr>
          <a:xfrm>
            <a:off x="6548239" y="3899297"/>
            <a:ext cx="4841180" cy="259755"/>
          </a:xfrm>
          <a:prstGeom prst="rect">
            <a:avLst/>
          </a:prstGeom>
          <a:noFill/>
          <a:ln/>
        </p:spPr>
        <p:txBody>
          <a:bodyPr wrap="none" lIns="0" tIns="0" rIns="0" bIns="0" rtlCol="0" anchor="t"/>
          <a:lstStyle/>
          <a:p>
            <a:pPr>
              <a:lnSpc>
                <a:spcPct val="104000"/>
              </a:lnSpc>
            </a:pPr>
            <a:r>
              <a:rPr lang="en-US" sz="1600" dirty="0">
                <a:solidFill>
                  <a:srgbClr val="FFE5E5"/>
                </a:solidFill>
                <a:ea typeface="Dela Gothic One" pitchFamily="34" charset="-122"/>
                <a:cs typeface="Dela Gothic One" pitchFamily="34" charset="-120"/>
              </a:rPr>
              <a:t>Improper Expiration</a:t>
            </a:r>
            <a:endParaRPr lang="en-US" sz="1600" dirty="0"/>
          </a:p>
        </p:txBody>
      </p:sp>
      <p:sp>
        <p:nvSpPr>
          <p:cNvPr id="22" name="Text 18"/>
          <p:cNvSpPr/>
          <p:nvPr/>
        </p:nvSpPr>
        <p:spPr>
          <a:xfrm>
            <a:off x="6548239" y="4297263"/>
            <a:ext cx="4841180" cy="236935"/>
          </a:xfrm>
          <a:prstGeom prst="rect">
            <a:avLst/>
          </a:prstGeom>
          <a:noFill/>
          <a:ln/>
        </p:spPr>
        <p:txBody>
          <a:bodyPr wrap="none" lIns="0" tIns="0" rIns="0" bIns="0" rtlCol="0" anchor="t"/>
          <a:lstStyle/>
          <a:p>
            <a:pPr>
              <a:lnSpc>
                <a:spcPct val="125000"/>
              </a:lnSpc>
            </a:pPr>
            <a:r>
              <a:rPr lang="en-US" sz="1200" dirty="0">
                <a:solidFill>
                  <a:srgbClr val="FFE5E5"/>
                </a:solidFill>
                <a:ea typeface="DM Sans" pitchFamily="34" charset="-122"/>
                <a:cs typeface="DM Sans" pitchFamily="34" charset="-120"/>
              </a:rPr>
              <a:t>Sessions remained active beyond expected timeout thresholds.</a:t>
            </a:r>
            <a:endParaRPr lang="en-US" sz="1200" dirty="0"/>
          </a:p>
        </p:txBody>
      </p:sp>
      <p:pic>
        <p:nvPicPr>
          <p:cNvPr id="2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95034" y="4849416"/>
            <a:ext cx="5271393" cy="1225848"/>
          </a:xfrm>
          <a:prstGeom prst="rect">
            <a:avLst/>
          </a:prstGeom>
        </p:spPr>
      </p:pic>
      <p:sp>
        <p:nvSpPr>
          <p:cNvPr id="24" name="Text 19"/>
          <p:cNvSpPr/>
          <p:nvPr/>
        </p:nvSpPr>
        <p:spPr>
          <a:xfrm>
            <a:off x="6548239" y="5026421"/>
            <a:ext cx="4841180" cy="259755"/>
          </a:xfrm>
          <a:prstGeom prst="rect">
            <a:avLst/>
          </a:prstGeom>
          <a:noFill/>
          <a:ln/>
        </p:spPr>
        <p:txBody>
          <a:bodyPr wrap="none" lIns="0" tIns="0" rIns="0" bIns="0" rtlCol="0" anchor="t"/>
          <a:lstStyle/>
          <a:p>
            <a:pPr>
              <a:lnSpc>
                <a:spcPct val="104000"/>
              </a:lnSpc>
            </a:pPr>
            <a:r>
              <a:rPr lang="en-US" sz="1600" dirty="0">
                <a:solidFill>
                  <a:srgbClr val="FFE5E5"/>
                </a:solidFill>
                <a:ea typeface="Dela Gothic One" pitchFamily="34" charset="-122"/>
                <a:cs typeface="Dela Gothic One" pitchFamily="34" charset="-120"/>
              </a:rPr>
              <a:t>Missing Cookie Flags</a:t>
            </a:r>
            <a:endParaRPr lang="en-US" sz="1600" dirty="0"/>
          </a:p>
        </p:txBody>
      </p:sp>
      <p:sp>
        <p:nvSpPr>
          <p:cNvPr id="25" name="Text 20"/>
          <p:cNvSpPr/>
          <p:nvPr/>
        </p:nvSpPr>
        <p:spPr>
          <a:xfrm>
            <a:off x="6548239" y="5424388"/>
            <a:ext cx="4841180" cy="473869"/>
          </a:xfrm>
          <a:prstGeom prst="rect">
            <a:avLst/>
          </a:prstGeom>
          <a:noFill/>
          <a:ln/>
        </p:spPr>
        <p:txBody>
          <a:bodyPr wrap="square" lIns="0" tIns="0" rIns="0" bIns="0" rtlCol="0" anchor="t">
            <a:normAutofit/>
          </a:bodyPr>
          <a:lstStyle/>
          <a:p>
            <a:pPr>
              <a:lnSpc>
                <a:spcPct val="125000"/>
              </a:lnSpc>
            </a:pPr>
            <a:r>
              <a:rPr lang="en-US" sz="1200" dirty="0">
                <a:solidFill>
                  <a:srgbClr val="FFE5E5"/>
                </a:solidFill>
                <a:ea typeface="DM Sans" pitchFamily="34" charset="-122"/>
                <a:cs typeface="DM Sans" pitchFamily="34" charset="-120"/>
              </a:rPr>
              <a:t>Secure, HttpOnly, and SameSite attributes were not consistently set.</a:t>
            </a:r>
            <a:endParaRPr lang="en-US" sz="1200" dirty="0"/>
          </a:p>
        </p:txBody>
      </p:sp>
      <p:sp>
        <p:nvSpPr>
          <p:cNvPr id="28" name="Footer Placeholder 27">
            <a:extLst>
              <a:ext uri="{FF2B5EF4-FFF2-40B4-BE49-F238E27FC236}">
                <a16:creationId xmlns:a16="http://schemas.microsoft.com/office/drawing/2014/main" id="{F9DC38B1-3710-0CBC-8FF2-ED8B0CC86F30}"/>
              </a:ext>
            </a:extLst>
          </p:cNvPr>
          <p:cNvSpPr>
            <a:spLocks noGrp="1"/>
          </p:cNvSpPr>
          <p:nvPr>
            <p:ph type="ftr" sz="quarter" idx="3"/>
          </p:nvPr>
        </p:nvSpPr>
        <p:spPr/>
        <p:txBody>
          <a:bodyPr/>
          <a:lstStyle/>
          <a:p>
            <a:r>
              <a:rPr lang="en-US" dirty="0">
                <a:latin typeface="+mj-lt"/>
              </a:rPr>
              <a:t>Zero Trace Imperium</a:t>
            </a:r>
          </a:p>
        </p:txBody>
      </p:sp>
      <p:sp>
        <p:nvSpPr>
          <p:cNvPr id="29" name="Slide Number Placeholder 28">
            <a:extLst>
              <a:ext uri="{FF2B5EF4-FFF2-40B4-BE49-F238E27FC236}">
                <a16:creationId xmlns:a16="http://schemas.microsoft.com/office/drawing/2014/main" id="{FB5B632B-7CBB-3422-8251-63E12A335047}"/>
              </a:ext>
            </a:extLst>
          </p:cNvPr>
          <p:cNvSpPr>
            <a:spLocks noGrp="1"/>
          </p:cNvSpPr>
          <p:nvPr>
            <p:ph type="sldNum" sz="quarter" idx="4"/>
          </p:nvPr>
        </p:nvSpPr>
        <p:spPr/>
        <p:txBody>
          <a:bodyPr/>
          <a:lstStyle/>
          <a:p>
            <a:fld id="{08D6B0A0-5113-456A-82B3-EA8CCD6D43D8}" type="slidenum">
              <a:rPr lang="en-US" smtClean="0">
                <a:latin typeface="+mj-lt"/>
              </a:rPr>
              <a:t>18</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9176" y="986135"/>
            <a:ext cx="1817977" cy="274240"/>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740172" y="1040210"/>
            <a:ext cx="2160389"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PHASE 03 : SUMMARY</a:t>
            </a:r>
            <a:endParaRPr lang="en-US" sz="1133" dirty="0">
              <a:latin typeface="+mj-lt"/>
            </a:endParaRPr>
          </a:p>
        </p:txBody>
      </p:sp>
      <p:sp>
        <p:nvSpPr>
          <p:cNvPr id="4" name="Text 2"/>
          <p:cNvSpPr/>
          <p:nvPr/>
        </p:nvSpPr>
        <p:spPr>
          <a:xfrm>
            <a:off x="631924" y="1332509"/>
            <a:ext cx="5186959"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Attack Phase Outcomes</a:t>
            </a:r>
            <a:endParaRPr lang="en-US" sz="3733" dirty="0">
              <a:latin typeface="+mj-lt"/>
            </a:endParaRPr>
          </a:p>
        </p:txBody>
      </p:sp>
      <p:sp>
        <p:nvSpPr>
          <p:cNvPr id="5" name="Text 3"/>
          <p:cNvSpPr/>
          <p:nvPr/>
        </p:nvSpPr>
        <p:spPr>
          <a:xfrm>
            <a:off x="631924" y="2197199"/>
            <a:ext cx="10928152"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Controlled attacks across all eight categories confirmed exploitable vulnerabilities in the isolated lab. The following evidence was collected to support remediation prioritization.</a:t>
            </a:r>
            <a:endParaRPr lang="en-US" sz="1400" dirty="0"/>
          </a:p>
        </p:txBody>
      </p:sp>
      <p:sp>
        <p:nvSpPr>
          <p:cNvPr id="6" name="Shape 4"/>
          <p:cNvSpPr/>
          <p:nvPr/>
        </p:nvSpPr>
        <p:spPr>
          <a:xfrm>
            <a:off x="631924" y="2978152"/>
            <a:ext cx="5373787" cy="1356617"/>
          </a:xfrm>
          <a:prstGeom prst="roundRect">
            <a:avLst>
              <a:gd name="adj" fmla="val 5590"/>
            </a:avLst>
          </a:prstGeom>
          <a:solidFill>
            <a:srgbClr val="740B0B"/>
          </a:solidFill>
          <a:ln w="4763">
            <a:solidFill>
              <a:srgbClr val="8D2424"/>
            </a:solidFill>
            <a:prstDash val="solid"/>
          </a:ln>
        </p:spPr>
        <p:txBody>
          <a:bodyPr/>
          <a:lstStyle/>
          <a:p>
            <a:endParaRPr lang="en-US" sz="2400"/>
          </a:p>
        </p:txBody>
      </p:sp>
      <p:sp>
        <p:nvSpPr>
          <p:cNvPr id="7" name="Text 5"/>
          <p:cNvSpPr/>
          <p:nvPr/>
        </p:nvSpPr>
        <p:spPr>
          <a:xfrm>
            <a:off x="818754" y="3164979"/>
            <a:ext cx="5000129" cy="296863"/>
          </a:xfrm>
          <a:prstGeom prst="rect">
            <a:avLst/>
          </a:prstGeom>
          <a:noFill/>
          <a:ln/>
        </p:spPr>
        <p:txBody>
          <a:bodyPr wrap="none" lIns="0" tIns="0" rIns="0" bIns="0" rtlCol="0" anchor="t"/>
          <a:lstStyle/>
          <a:p>
            <a:pPr>
              <a:lnSpc>
                <a:spcPct val="104000"/>
              </a:lnSpc>
            </a:pPr>
            <a:r>
              <a:rPr lang="en-US" sz="1867" dirty="0">
                <a:solidFill>
                  <a:srgbClr val="FFE5E5"/>
                </a:solidFill>
                <a:ea typeface="Dela Gothic One" pitchFamily="34" charset="-122"/>
                <a:cs typeface="Dela Gothic One" pitchFamily="34" charset="-120"/>
              </a:rPr>
              <a:t>Authentication</a:t>
            </a:r>
            <a:endParaRPr lang="en-US" sz="1867" dirty="0"/>
          </a:p>
        </p:txBody>
      </p:sp>
      <p:sp>
        <p:nvSpPr>
          <p:cNvPr id="8" name="Text 6"/>
          <p:cNvSpPr/>
          <p:nvPr/>
        </p:nvSpPr>
        <p:spPr>
          <a:xfrm>
            <a:off x="818754" y="3570089"/>
            <a:ext cx="5000129"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Weak credentials and missing lockout controls validated via Hydra brute force</a:t>
            </a:r>
            <a:endParaRPr lang="en-US" sz="1400" dirty="0"/>
          </a:p>
        </p:txBody>
      </p:sp>
      <p:sp>
        <p:nvSpPr>
          <p:cNvPr id="9" name="Shape 7"/>
          <p:cNvSpPr/>
          <p:nvPr/>
        </p:nvSpPr>
        <p:spPr>
          <a:xfrm>
            <a:off x="6186190" y="2978152"/>
            <a:ext cx="5373885" cy="1356617"/>
          </a:xfrm>
          <a:prstGeom prst="roundRect">
            <a:avLst>
              <a:gd name="adj" fmla="val 5590"/>
            </a:avLst>
          </a:prstGeom>
          <a:solidFill>
            <a:srgbClr val="740B0B"/>
          </a:solidFill>
          <a:ln w="4763">
            <a:solidFill>
              <a:srgbClr val="8D2424"/>
            </a:solidFill>
            <a:prstDash val="solid"/>
          </a:ln>
        </p:spPr>
        <p:txBody>
          <a:bodyPr/>
          <a:lstStyle/>
          <a:p>
            <a:endParaRPr lang="en-US" sz="2400"/>
          </a:p>
        </p:txBody>
      </p:sp>
      <p:sp>
        <p:nvSpPr>
          <p:cNvPr id="10" name="Text 8"/>
          <p:cNvSpPr/>
          <p:nvPr/>
        </p:nvSpPr>
        <p:spPr>
          <a:xfrm>
            <a:off x="6373019" y="3164979"/>
            <a:ext cx="5000228" cy="296863"/>
          </a:xfrm>
          <a:prstGeom prst="rect">
            <a:avLst/>
          </a:prstGeom>
          <a:noFill/>
          <a:ln/>
        </p:spPr>
        <p:txBody>
          <a:bodyPr wrap="none" lIns="0" tIns="0" rIns="0" bIns="0" rtlCol="0" anchor="t"/>
          <a:lstStyle/>
          <a:p>
            <a:pPr>
              <a:lnSpc>
                <a:spcPct val="104000"/>
              </a:lnSpc>
            </a:pPr>
            <a:r>
              <a:rPr lang="en-US" sz="1867" dirty="0">
                <a:solidFill>
                  <a:srgbClr val="FFE5E5"/>
                </a:solidFill>
                <a:ea typeface="Dela Gothic One" pitchFamily="34" charset="-122"/>
                <a:cs typeface="Dela Gothic One" pitchFamily="34" charset="-120"/>
              </a:rPr>
              <a:t>Injection Flaws</a:t>
            </a:r>
            <a:endParaRPr lang="en-US" sz="1867" dirty="0"/>
          </a:p>
        </p:txBody>
      </p:sp>
      <p:sp>
        <p:nvSpPr>
          <p:cNvPr id="11" name="Text 9"/>
          <p:cNvSpPr/>
          <p:nvPr/>
        </p:nvSpPr>
        <p:spPr>
          <a:xfrm>
            <a:off x="6373019" y="3570089"/>
            <a:ext cx="5000228"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SQL and command injection confirmed with data exposure and system access</a:t>
            </a:r>
            <a:endParaRPr lang="en-US" sz="1400" dirty="0"/>
          </a:p>
        </p:txBody>
      </p:sp>
      <p:sp>
        <p:nvSpPr>
          <p:cNvPr id="12" name="Shape 10"/>
          <p:cNvSpPr/>
          <p:nvPr/>
        </p:nvSpPr>
        <p:spPr>
          <a:xfrm>
            <a:off x="631924" y="4515248"/>
            <a:ext cx="5373787" cy="1356617"/>
          </a:xfrm>
          <a:prstGeom prst="roundRect">
            <a:avLst>
              <a:gd name="adj" fmla="val 5590"/>
            </a:avLst>
          </a:prstGeom>
          <a:solidFill>
            <a:srgbClr val="740B0B"/>
          </a:solidFill>
          <a:ln w="4763">
            <a:solidFill>
              <a:srgbClr val="8D2424"/>
            </a:solidFill>
            <a:prstDash val="solid"/>
          </a:ln>
        </p:spPr>
        <p:txBody>
          <a:bodyPr/>
          <a:lstStyle/>
          <a:p>
            <a:endParaRPr lang="en-US" sz="2400"/>
          </a:p>
        </p:txBody>
      </p:sp>
      <p:sp>
        <p:nvSpPr>
          <p:cNvPr id="13" name="Text 11"/>
          <p:cNvSpPr/>
          <p:nvPr/>
        </p:nvSpPr>
        <p:spPr>
          <a:xfrm>
            <a:off x="818754" y="4702077"/>
            <a:ext cx="5000129" cy="296863"/>
          </a:xfrm>
          <a:prstGeom prst="rect">
            <a:avLst/>
          </a:prstGeom>
          <a:noFill/>
          <a:ln/>
        </p:spPr>
        <p:txBody>
          <a:bodyPr wrap="none" lIns="0" tIns="0" rIns="0" bIns="0" rtlCol="0" anchor="t"/>
          <a:lstStyle/>
          <a:p>
            <a:pPr>
              <a:lnSpc>
                <a:spcPct val="104000"/>
              </a:lnSpc>
            </a:pPr>
            <a:r>
              <a:rPr lang="en-US" sz="1867" dirty="0">
                <a:solidFill>
                  <a:srgbClr val="FFE5E5"/>
                </a:solidFill>
                <a:ea typeface="Dela Gothic One" pitchFamily="34" charset="-122"/>
                <a:cs typeface="Dela Gothic One" pitchFamily="34" charset="-120"/>
              </a:rPr>
              <a:t>Client-Side Risks</a:t>
            </a:r>
            <a:endParaRPr lang="en-US" sz="1867" dirty="0"/>
          </a:p>
        </p:txBody>
      </p:sp>
      <p:sp>
        <p:nvSpPr>
          <p:cNvPr id="14" name="Text 12"/>
          <p:cNvSpPr/>
          <p:nvPr/>
        </p:nvSpPr>
        <p:spPr>
          <a:xfrm>
            <a:off x="818754" y="5107185"/>
            <a:ext cx="5000129"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XSS and CSRF demonstrated session hijacking and unauthorized action execution</a:t>
            </a:r>
            <a:endParaRPr lang="en-US" sz="1400" dirty="0"/>
          </a:p>
        </p:txBody>
      </p:sp>
      <p:sp>
        <p:nvSpPr>
          <p:cNvPr id="15" name="Shape 13"/>
          <p:cNvSpPr/>
          <p:nvPr/>
        </p:nvSpPr>
        <p:spPr>
          <a:xfrm>
            <a:off x="6186190" y="4515248"/>
            <a:ext cx="5373885" cy="1356617"/>
          </a:xfrm>
          <a:prstGeom prst="roundRect">
            <a:avLst>
              <a:gd name="adj" fmla="val 5590"/>
            </a:avLst>
          </a:prstGeom>
          <a:solidFill>
            <a:srgbClr val="740B0B"/>
          </a:solidFill>
          <a:ln w="4763">
            <a:solidFill>
              <a:srgbClr val="8D2424"/>
            </a:solidFill>
            <a:prstDash val="solid"/>
          </a:ln>
        </p:spPr>
        <p:txBody>
          <a:bodyPr/>
          <a:lstStyle/>
          <a:p>
            <a:endParaRPr lang="en-US" sz="2400"/>
          </a:p>
        </p:txBody>
      </p:sp>
      <p:sp>
        <p:nvSpPr>
          <p:cNvPr id="16" name="Text 14"/>
          <p:cNvSpPr/>
          <p:nvPr/>
        </p:nvSpPr>
        <p:spPr>
          <a:xfrm>
            <a:off x="6373019" y="4702077"/>
            <a:ext cx="5000228" cy="296863"/>
          </a:xfrm>
          <a:prstGeom prst="rect">
            <a:avLst/>
          </a:prstGeom>
          <a:noFill/>
          <a:ln/>
        </p:spPr>
        <p:txBody>
          <a:bodyPr wrap="none" lIns="0" tIns="0" rIns="0" bIns="0" rtlCol="0" anchor="t"/>
          <a:lstStyle/>
          <a:p>
            <a:pPr>
              <a:lnSpc>
                <a:spcPct val="104000"/>
              </a:lnSpc>
            </a:pPr>
            <a:r>
              <a:rPr lang="en-US" sz="1867" dirty="0">
                <a:solidFill>
                  <a:srgbClr val="FFE5E5"/>
                </a:solidFill>
                <a:ea typeface="Dela Gothic One" pitchFamily="34" charset="-122"/>
                <a:cs typeface="Dela Gothic One" pitchFamily="34" charset="-120"/>
              </a:rPr>
              <a:t>Server Controls</a:t>
            </a:r>
            <a:endParaRPr lang="en-US" sz="1867" dirty="0"/>
          </a:p>
        </p:txBody>
      </p:sp>
      <p:sp>
        <p:nvSpPr>
          <p:cNvPr id="17" name="Text 15"/>
          <p:cNvSpPr/>
          <p:nvPr/>
        </p:nvSpPr>
        <p:spPr>
          <a:xfrm>
            <a:off x="6373019" y="5107185"/>
            <a:ext cx="5000228"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File upload bypass, LFI, and weak session management confirmed server-side gaps</a:t>
            </a:r>
            <a:endParaRPr lang="en-US" sz="1400" dirty="0"/>
          </a:p>
        </p:txBody>
      </p:sp>
      <p:sp>
        <p:nvSpPr>
          <p:cNvPr id="20" name="Footer Placeholder 19">
            <a:extLst>
              <a:ext uri="{FF2B5EF4-FFF2-40B4-BE49-F238E27FC236}">
                <a16:creationId xmlns:a16="http://schemas.microsoft.com/office/drawing/2014/main" id="{A9A30C0A-E33E-0E97-9309-35DDC2C29338}"/>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21" name="Slide Number Placeholder 20">
            <a:extLst>
              <a:ext uri="{FF2B5EF4-FFF2-40B4-BE49-F238E27FC236}">
                <a16:creationId xmlns:a16="http://schemas.microsoft.com/office/drawing/2014/main" id="{3C07652D-5AEC-1651-57DD-E661B809F49A}"/>
              </a:ext>
            </a:extLst>
          </p:cNvPr>
          <p:cNvSpPr>
            <a:spLocks noGrp="1"/>
          </p:cNvSpPr>
          <p:nvPr>
            <p:ph type="sldNum" sz="quarter" idx="4"/>
          </p:nvPr>
        </p:nvSpPr>
        <p:spPr/>
        <p:txBody>
          <a:bodyPr/>
          <a:lstStyle/>
          <a:p>
            <a:fld id="{08D6B0A0-5113-456A-82B3-EA8CCD6D43D8}" type="slidenum">
              <a:rPr lang="en-US" smtClean="0">
                <a:latin typeface="+mj-lt"/>
              </a:rPr>
              <a:t>19</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08111F">
            <a:alpha val="99000"/>
          </a:srgbClr>
        </a:solidFill>
        <a:effectLst/>
      </p:bgPr>
    </p:bg>
    <p:spTree>
      <p:nvGrpSpPr>
        <p:cNvPr id="1" name=""/>
        <p:cNvGrpSpPr/>
        <p:nvPr/>
      </p:nvGrpSpPr>
      <p:grpSpPr>
        <a:xfrm>
          <a:off x="0" y="0"/>
          <a:ext cx="0" cy="0"/>
          <a:chOff x="0" y="0"/>
          <a:chExt cx="0" cy="0"/>
        </a:xfrm>
      </p:grpSpPr>
      <p:sp>
        <p:nvSpPr>
          <p:cNvPr id="2" name="Shape 0"/>
          <p:cNvSpPr/>
          <p:nvPr/>
        </p:nvSpPr>
        <p:spPr>
          <a:xfrm>
            <a:off x="716399" y="1267519"/>
            <a:ext cx="957126" cy="282278"/>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740172" y="1321495"/>
            <a:ext cx="1277640"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PHASE</a:t>
            </a:r>
            <a:r>
              <a:rPr lang="ar-EG" sz="1133" dirty="0">
                <a:solidFill>
                  <a:srgbClr val="FFE5E5"/>
                </a:solidFill>
                <a:latin typeface="+mj-lt"/>
                <a:ea typeface="DM Sans" pitchFamily="34" charset="-122"/>
                <a:cs typeface="DM Sans" pitchFamily="34" charset="-120"/>
              </a:rPr>
              <a:t> </a:t>
            </a:r>
            <a:r>
              <a:rPr lang="en-US" sz="1133" dirty="0">
                <a:solidFill>
                  <a:srgbClr val="FFE5E5"/>
                </a:solidFill>
                <a:latin typeface="+mj-lt"/>
                <a:ea typeface="DM Sans" pitchFamily="34" charset="-122"/>
                <a:cs typeface="DM Sans" pitchFamily="34" charset="-120"/>
              </a:rPr>
              <a:t> </a:t>
            </a:r>
            <a:r>
              <a:rPr lang="ar-EG" sz="1133" dirty="0">
                <a:solidFill>
                  <a:srgbClr val="FFE5E5"/>
                </a:solidFill>
                <a:latin typeface="+mj-lt"/>
                <a:ea typeface="DM Sans" pitchFamily="34" charset="-122"/>
                <a:cs typeface="DM Sans" pitchFamily="34" charset="-120"/>
              </a:rPr>
              <a:t> :</a:t>
            </a:r>
            <a:r>
              <a:rPr lang="en-US" sz="1133" dirty="0">
                <a:solidFill>
                  <a:srgbClr val="FFE5E5"/>
                </a:solidFill>
                <a:latin typeface="+mj-lt"/>
                <a:ea typeface="DM Sans" pitchFamily="34" charset="-122"/>
                <a:cs typeface="DM Sans" pitchFamily="34" charset="-120"/>
              </a:rPr>
              <a:t>04</a:t>
            </a:r>
            <a:endParaRPr lang="en-US" sz="1133" dirty="0">
              <a:latin typeface="+mj-lt"/>
            </a:endParaRPr>
          </a:p>
        </p:txBody>
      </p:sp>
      <p:sp>
        <p:nvSpPr>
          <p:cNvPr id="4" name="Text 2"/>
          <p:cNvSpPr/>
          <p:nvPr/>
        </p:nvSpPr>
        <p:spPr>
          <a:xfrm>
            <a:off x="631925" y="1613793"/>
            <a:ext cx="4745988" cy="657225"/>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Controlled Exploitation</a:t>
            </a:r>
            <a:endParaRPr lang="en-US" sz="3733" dirty="0">
              <a:latin typeface="+mj-lt"/>
            </a:endParaRPr>
          </a:p>
        </p:txBody>
      </p:sp>
      <p:sp>
        <p:nvSpPr>
          <p:cNvPr id="5" name="Shape 3"/>
          <p:cNvSpPr/>
          <p:nvPr/>
        </p:nvSpPr>
        <p:spPr>
          <a:xfrm>
            <a:off x="501849" y="2478485"/>
            <a:ext cx="5503961" cy="3111996"/>
          </a:xfrm>
          <a:prstGeom prst="roundRect">
            <a:avLst>
              <a:gd name="adj" fmla="val 4177"/>
            </a:avLst>
          </a:prstGeom>
          <a:solidFill>
            <a:srgbClr val="510C04">
              <a:alpha val="95000"/>
            </a:srgbClr>
          </a:solidFill>
          <a:ln/>
        </p:spPr>
        <p:txBody>
          <a:bodyPr/>
          <a:lstStyle/>
          <a:p>
            <a:endParaRPr lang="en-US" sz="2400" dirty="0">
              <a:latin typeface="+mj-lt"/>
            </a:endParaRPr>
          </a:p>
        </p:txBody>
      </p:sp>
      <p:sp>
        <p:nvSpPr>
          <p:cNvPr id="6" name="Text 4"/>
          <p:cNvSpPr/>
          <p:nvPr/>
        </p:nvSpPr>
        <p:spPr>
          <a:xfrm>
            <a:off x="682329" y="2658963"/>
            <a:ext cx="5143004" cy="296863"/>
          </a:xfrm>
          <a:prstGeom prst="rect">
            <a:avLst/>
          </a:prstGeom>
          <a:noFill/>
          <a:ln/>
        </p:spPr>
        <p:txBody>
          <a:bodyPr wrap="none" lIns="0" tIns="0" rIns="0" bIns="0" rtlCol="0" anchor="t"/>
          <a:lstStyle/>
          <a:p>
            <a:pPr>
              <a:lnSpc>
                <a:spcPct val="104000"/>
              </a:lnSpc>
            </a:pPr>
            <a:r>
              <a:rPr lang="en-US" sz="1867" dirty="0">
                <a:solidFill>
                  <a:srgbClr val="FAEBEB"/>
                </a:solidFill>
                <a:latin typeface="+mj-lt"/>
                <a:ea typeface="Dela Gothic One" pitchFamily="34" charset="-122"/>
                <a:cs typeface="Dela Gothic One" pitchFamily="34" charset="-120"/>
              </a:rPr>
              <a:t>Objectives</a:t>
            </a:r>
            <a:endParaRPr lang="en-US" sz="1867" dirty="0">
              <a:latin typeface="+mj-lt"/>
            </a:endParaRPr>
          </a:p>
        </p:txBody>
      </p:sp>
      <p:sp>
        <p:nvSpPr>
          <p:cNvPr id="7" name="Text 5"/>
          <p:cNvSpPr/>
          <p:nvPr/>
        </p:nvSpPr>
        <p:spPr>
          <a:xfrm>
            <a:off x="682329" y="3136306"/>
            <a:ext cx="2866783" cy="1345009"/>
          </a:xfrm>
          <a:prstGeom prst="rect">
            <a:avLst/>
          </a:prstGeom>
          <a:noFill/>
          <a:ln/>
        </p:spPr>
        <p:txBody>
          <a:bodyPr wrap="square" lIns="0" tIns="0" rIns="0" bIns="0" rtlCol="0" anchor="t">
            <a:normAutofit fontScale="92500"/>
          </a:bodyPr>
          <a:lstStyle/>
          <a:p>
            <a:pPr marL="284473" indent="-284473">
              <a:lnSpc>
                <a:spcPct val="133000"/>
              </a:lnSpc>
              <a:buSzPct val="100000"/>
              <a:buChar char="•"/>
            </a:pPr>
            <a:r>
              <a:rPr lang="en-US" sz="1400" dirty="0">
                <a:solidFill>
                  <a:srgbClr val="FFE5E5"/>
                </a:solidFill>
                <a:latin typeface="+mj-lt"/>
                <a:ea typeface="DM Sans" pitchFamily="34" charset="-122"/>
                <a:cs typeface="DM Sans" pitchFamily="34" charset="-120"/>
              </a:rPr>
              <a:t>Establish Initial Access</a:t>
            </a:r>
            <a:endParaRPr lang="en-US" sz="1400" dirty="0">
              <a:latin typeface="+mj-lt"/>
            </a:endParaRPr>
          </a:p>
          <a:p>
            <a:pPr marL="284473" indent="-284473">
              <a:lnSpc>
                <a:spcPct val="133000"/>
              </a:lnSpc>
              <a:buSzPct val="100000"/>
              <a:buChar char="•"/>
            </a:pPr>
            <a:r>
              <a:rPr lang="en-US" sz="1400" dirty="0">
                <a:solidFill>
                  <a:srgbClr val="FFE5E5"/>
                </a:solidFill>
                <a:latin typeface="+mj-lt"/>
                <a:ea typeface="DM Sans" pitchFamily="34" charset="-122"/>
                <a:cs typeface="DM Sans" pitchFamily="34" charset="-120"/>
              </a:rPr>
              <a:t>Validate Vulnerability Impact</a:t>
            </a:r>
            <a:endParaRPr lang="en-US" sz="1400" dirty="0">
              <a:latin typeface="+mj-lt"/>
            </a:endParaRPr>
          </a:p>
          <a:p>
            <a:pPr marL="284473" indent="-284473">
              <a:lnSpc>
                <a:spcPct val="133000"/>
              </a:lnSpc>
              <a:buSzPct val="100000"/>
              <a:buChar char="•"/>
            </a:pPr>
            <a:r>
              <a:rPr lang="en-US" sz="1400" dirty="0">
                <a:solidFill>
                  <a:srgbClr val="FFE5E5"/>
                </a:solidFill>
                <a:latin typeface="+mj-lt"/>
                <a:ea typeface="DM Sans" pitchFamily="34" charset="-122"/>
                <a:cs typeface="DM Sans" pitchFamily="34" charset="-120"/>
              </a:rPr>
              <a:t>Demonstrate Remote Access</a:t>
            </a:r>
            <a:endParaRPr lang="en-US" sz="1400" dirty="0">
              <a:latin typeface="+mj-lt"/>
            </a:endParaRPr>
          </a:p>
          <a:p>
            <a:pPr marL="284473" indent="-284473">
              <a:lnSpc>
                <a:spcPct val="133000"/>
              </a:lnSpc>
              <a:buSzPct val="100000"/>
              <a:buChar char="•"/>
            </a:pPr>
            <a:r>
              <a:rPr lang="en-US" sz="1400" dirty="0">
                <a:solidFill>
                  <a:srgbClr val="FFE5E5"/>
                </a:solidFill>
                <a:latin typeface="+mj-lt"/>
                <a:ea typeface="DM Sans" pitchFamily="34" charset="-122"/>
                <a:cs typeface="DM Sans" pitchFamily="34" charset="-120"/>
              </a:rPr>
              <a:t>Collect Technical Evidence</a:t>
            </a:r>
            <a:endParaRPr lang="en-US" sz="1400" dirty="0">
              <a:latin typeface="+mj-lt"/>
            </a:endParaRPr>
          </a:p>
        </p:txBody>
      </p:sp>
      <p:sp>
        <p:nvSpPr>
          <p:cNvPr id="8" name="Text 6"/>
          <p:cNvSpPr/>
          <p:nvPr/>
        </p:nvSpPr>
        <p:spPr>
          <a:xfrm>
            <a:off x="682329" y="4603156"/>
            <a:ext cx="433549" cy="355502"/>
          </a:xfrm>
          <a:prstGeom prst="rect">
            <a:avLst/>
          </a:prstGeom>
          <a:noFill/>
          <a:ln/>
        </p:spPr>
        <p:txBody>
          <a:bodyPr wrap="none" lIns="0" tIns="0" rIns="0" bIns="0" rtlCol="0" anchor="t"/>
          <a:lstStyle/>
          <a:p>
            <a:pPr>
              <a:lnSpc>
                <a:spcPct val="104000"/>
              </a:lnSpc>
            </a:pPr>
            <a:r>
              <a:rPr lang="en-US" sz="1867" dirty="0">
                <a:solidFill>
                  <a:srgbClr val="FAEBEB"/>
                </a:solidFill>
                <a:latin typeface="+mj-lt"/>
                <a:ea typeface="Dela Gothic One" pitchFamily="34" charset="-122"/>
                <a:cs typeface="Dela Gothic One" pitchFamily="34" charset="-120"/>
              </a:rPr>
              <a:t>Tool</a:t>
            </a:r>
            <a:endParaRPr lang="en-US" sz="1867" dirty="0">
              <a:latin typeface="+mj-lt"/>
            </a:endParaRPr>
          </a:p>
        </p:txBody>
      </p:sp>
      <p:sp>
        <p:nvSpPr>
          <p:cNvPr id="9" name="Text 7"/>
          <p:cNvSpPr/>
          <p:nvPr/>
        </p:nvSpPr>
        <p:spPr>
          <a:xfrm>
            <a:off x="682329" y="5139135"/>
            <a:ext cx="2130613" cy="288925"/>
          </a:xfrm>
          <a:prstGeom prst="rect">
            <a:avLst/>
          </a:prstGeom>
          <a:noFill/>
          <a:ln/>
        </p:spPr>
        <p:txBody>
          <a:bodyPr wrap="none" lIns="0" tIns="0" rIns="0" bIns="0" rtlCol="0" anchor="t"/>
          <a:lstStyle/>
          <a:p>
            <a:pPr>
              <a:lnSpc>
                <a:spcPct val="133000"/>
              </a:lnSpc>
            </a:pPr>
            <a:r>
              <a:rPr lang="en-US" sz="1400" b="1" dirty="0">
                <a:solidFill>
                  <a:srgbClr val="FFE5E5"/>
                </a:solidFill>
                <a:latin typeface="+mj-lt"/>
                <a:ea typeface="DM Sans Bold" pitchFamily="34" charset="-122"/>
                <a:cs typeface="DM Sans Bold" pitchFamily="34" charset="-120"/>
              </a:rPr>
              <a:t>Metasploit Framework</a:t>
            </a:r>
            <a:endParaRPr lang="en-US" sz="1400" dirty="0">
              <a:latin typeface="+mj-lt"/>
            </a:endParaRPr>
          </a:p>
        </p:txBody>
      </p:sp>
      <p:sp>
        <p:nvSpPr>
          <p:cNvPr id="10" name="Text 8"/>
          <p:cNvSpPr/>
          <p:nvPr/>
        </p:nvSpPr>
        <p:spPr>
          <a:xfrm>
            <a:off x="6322616" y="2658963"/>
            <a:ext cx="872511" cy="296863"/>
          </a:xfrm>
          <a:prstGeom prst="rect">
            <a:avLst/>
          </a:prstGeom>
          <a:noFill/>
          <a:ln/>
        </p:spPr>
        <p:txBody>
          <a:bodyPr wrap="none" lIns="0" tIns="0" rIns="0" bIns="0" rtlCol="0" anchor="t"/>
          <a:lstStyle/>
          <a:p>
            <a:pPr>
              <a:lnSpc>
                <a:spcPct val="104000"/>
              </a:lnSpc>
            </a:pPr>
            <a:r>
              <a:rPr lang="en-US" sz="1867" dirty="0">
                <a:solidFill>
                  <a:srgbClr val="FAEBEB"/>
                </a:solidFill>
                <a:latin typeface="+mj-lt"/>
                <a:ea typeface="Dela Gothic One" pitchFamily="34" charset="-122"/>
                <a:cs typeface="Dela Gothic One" pitchFamily="34" charset="-120"/>
              </a:rPr>
              <a:t>Results</a:t>
            </a:r>
            <a:endParaRPr lang="en-US" sz="1867" dirty="0">
              <a:latin typeface="+mj-lt"/>
            </a:endParaRPr>
          </a:p>
        </p:txBody>
      </p:sp>
      <p:sp>
        <p:nvSpPr>
          <p:cNvPr id="11" name="Text 9"/>
          <p:cNvSpPr/>
          <p:nvPr/>
        </p:nvSpPr>
        <p:spPr>
          <a:xfrm>
            <a:off x="6322617" y="3136306"/>
            <a:ext cx="3976008" cy="992981"/>
          </a:xfrm>
          <a:prstGeom prst="rect">
            <a:avLst/>
          </a:prstGeom>
          <a:noFill/>
          <a:ln/>
        </p:spPr>
        <p:txBody>
          <a:bodyPr wrap="square" lIns="0" tIns="0" rIns="0" bIns="0" rtlCol="0" anchor="t">
            <a:normAutofit fontScale="85000" lnSpcReduction="10000"/>
          </a:bodyPr>
          <a:lstStyle/>
          <a:p>
            <a:pPr marL="284473" indent="-284473">
              <a:lnSpc>
                <a:spcPct val="133000"/>
              </a:lnSpc>
              <a:buSzPct val="100000"/>
              <a:buChar char="•"/>
            </a:pPr>
            <a:r>
              <a:rPr lang="en-US" sz="1400" dirty="0">
                <a:solidFill>
                  <a:srgbClr val="FFE5E5"/>
                </a:solidFill>
                <a:latin typeface="+mj-lt"/>
                <a:ea typeface="DM Sans" pitchFamily="34" charset="-122"/>
                <a:cs typeface="DM Sans" pitchFamily="34" charset="-120"/>
              </a:rPr>
              <a:t>Successful Meterpreter Session established</a:t>
            </a:r>
            <a:endParaRPr lang="en-US" sz="1400" dirty="0">
              <a:latin typeface="+mj-lt"/>
            </a:endParaRPr>
          </a:p>
          <a:p>
            <a:pPr marL="284473" indent="-284473">
              <a:lnSpc>
                <a:spcPct val="133000"/>
              </a:lnSpc>
              <a:buSzPct val="100000"/>
              <a:buChar char="•"/>
            </a:pPr>
            <a:r>
              <a:rPr lang="en-US" sz="1400" dirty="0">
                <a:solidFill>
                  <a:srgbClr val="FFE5E5"/>
                </a:solidFill>
                <a:latin typeface="+mj-lt"/>
                <a:ea typeface="DM Sans" pitchFamily="34" charset="-122"/>
                <a:cs typeface="DM Sans" pitchFamily="34" charset="-120"/>
              </a:rPr>
              <a:t>Remote Command Execution confirmed</a:t>
            </a:r>
            <a:endParaRPr lang="en-US" sz="1400" dirty="0">
              <a:latin typeface="+mj-lt"/>
            </a:endParaRPr>
          </a:p>
          <a:p>
            <a:pPr marL="284473" indent="-284473">
              <a:lnSpc>
                <a:spcPct val="133000"/>
              </a:lnSpc>
              <a:buSzPct val="100000"/>
              <a:buChar char="•"/>
            </a:pPr>
            <a:r>
              <a:rPr lang="en-US" sz="1400" dirty="0">
                <a:solidFill>
                  <a:srgbClr val="FFE5E5"/>
                </a:solidFill>
                <a:latin typeface="+mj-lt"/>
                <a:ea typeface="DM Sans" pitchFamily="34" charset="-122"/>
                <a:cs typeface="DM Sans" pitchFamily="34" charset="-120"/>
              </a:rPr>
              <a:t>Controlled Access Achieved on target host</a:t>
            </a:r>
            <a:endParaRPr lang="en-US" sz="1400" dirty="0">
              <a:latin typeface="+mj-lt"/>
            </a:endParaRPr>
          </a:p>
        </p:txBody>
      </p:sp>
      <p:sp>
        <p:nvSpPr>
          <p:cNvPr id="12" name="Shape 10"/>
          <p:cNvSpPr/>
          <p:nvPr/>
        </p:nvSpPr>
        <p:spPr>
          <a:xfrm>
            <a:off x="6322616" y="4332387"/>
            <a:ext cx="5243811" cy="992783"/>
          </a:xfrm>
          <a:prstGeom prst="roundRect">
            <a:avLst>
              <a:gd name="adj" fmla="val 7638"/>
            </a:avLst>
          </a:prstGeom>
          <a:solidFill>
            <a:srgbClr val="740B0B"/>
          </a:solidFill>
          <a:ln/>
        </p:spPr>
        <p:txBody>
          <a:bodyPr/>
          <a:lstStyle/>
          <a:p>
            <a:endParaRPr lang="en-US" sz="2400">
              <a:latin typeface="+mj-lt"/>
            </a:endParaRPr>
          </a:p>
        </p:txBody>
      </p:sp>
      <p:pic>
        <p:nvPicPr>
          <p:cNvPr id="13" name="Image 0" descr="preencoded.png"/>
          <p:cNvPicPr>
            <a:picLocks noChangeAspect="1"/>
          </p:cNvPicPr>
          <p:nvPr/>
        </p:nvPicPr>
        <p:blipFill>
          <a:blip r:embed="rId3"/>
          <a:stretch>
            <a:fillRect/>
          </a:stretch>
        </p:blipFill>
        <p:spPr>
          <a:xfrm>
            <a:off x="6503095" y="4603155"/>
            <a:ext cx="225624" cy="180479"/>
          </a:xfrm>
          <a:prstGeom prst="rect">
            <a:avLst/>
          </a:prstGeom>
        </p:spPr>
      </p:pic>
      <p:sp>
        <p:nvSpPr>
          <p:cNvPr id="14" name="Text 11"/>
          <p:cNvSpPr/>
          <p:nvPr/>
        </p:nvSpPr>
        <p:spPr>
          <a:xfrm>
            <a:off x="6909198" y="4539853"/>
            <a:ext cx="4476751" cy="577851"/>
          </a:xfrm>
          <a:prstGeom prst="rect">
            <a:avLst/>
          </a:prstGeom>
          <a:noFill/>
          <a:ln/>
        </p:spPr>
        <p:txBody>
          <a:bodyPr wrap="square" lIns="0" tIns="0" rIns="0" bIns="0" rtlCol="0" anchor="t">
            <a:normAutofit fontScale="92500"/>
          </a:bodyPr>
          <a:lstStyle/>
          <a:p>
            <a:pPr>
              <a:lnSpc>
                <a:spcPct val="133000"/>
              </a:lnSpc>
            </a:pPr>
            <a:r>
              <a:rPr lang="en-US" sz="1400" dirty="0">
                <a:solidFill>
                  <a:srgbClr val="FFFFFF"/>
                </a:solidFill>
                <a:latin typeface="+mj-lt"/>
                <a:ea typeface="DM Sans" pitchFamily="34" charset="-122"/>
                <a:cs typeface="DM Sans" pitchFamily="34" charset="-120"/>
              </a:rPr>
              <a:t>All exploitation activity conducted within authorized scope under strict rules of engagement.</a:t>
            </a:r>
            <a:endParaRPr lang="en-US" sz="1400" dirty="0">
              <a:latin typeface="+mj-lt"/>
            </a:endParaRPr>
          </a:p>
        </p:txBody>
      </p:sp>
      <p:pic>
        <p:nvPicPr>
          <p:cNvPr id="22" name="Picture 21">
            <a:extLst>
              <a:ext uri="{FF2B5EF4-FFF2-40B4-BE49-F238E27FC236}">
                <a16:creationId xmlns:a16="http://schemas.microsoft.com/office/drawing/2014/main" id="{73823F8D-7D34-F380-F2FE-424E33B2E6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07" y="0"/>
            <a:ext cx="704088" cy="704088"/>
          </a:xfrm>
          <a:prstGeom prst="rect">
            <a:avLst/>
          </a:prstGeom>
        </p:spPr>
      </p:pic>
      <p:sp>
        <p:nvSpPr>
          <p:cNvPr id="23" name="Footer Placeholder 27">
            <a:extLst>
              <a:ext uri="{FF2B5EF4-FFF2-40B4-BE49-F238E27FC236}">
                <a16:creationId xmlns:a16="http://schemas.microsoft.com/office/drawing/2014/main" id="{5032324F-334F-E4F4-CA21-2344B9924234}"/>
              </a:ext>
            </a:extLst>
          </p:cNvPr>
          <p:cNvSpPr txBox="1">
            <a:spLocks/>
          </p:cNvSpPr>
          <p:nvPr/>
        </p:nvSpPr>
        <p:spPr>
          <a:xfrm>
            <a:off x="5006109" y="6356350"/>
            <a:ext cx="218901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solidFill>
                  <a:schemeClr val="bg2">
                    <a:lumMod val="25000"/>
                  </a:schemeClr>
                </a:solidFill>
                <a:latin typeface="+mj-lt"/>
              </a:rPr>
              <a:t>Zero Trace Imperium</a:t>
            </a:r>
          </a:p>
        </p:txBody>
      </p:sp>
      <p:sp>
        <p:nvSpPr>
          <p:cNvPr id="24" name="Slide Number Placeholder 28">
            <a:extLst>
              <a:ext uri="{FF2B5EF4-FFF2-40B4-BE49-F238E27FC236}">
                <a16:creationId xmlns:a16="http://schemas.microsoft.com/office/drawing/2014/main" id="{F3356DF7-412F-2C2E-CF48-492E014DC95F}"/>
              </a:ext>
            </a:extLst>
          </p:cNvPr>
          <p:cNvSpPr txBox="1">
            <a:spLocks/>
          </p:cNvSpPr>
          <p:nvPr/>
        </p:nvSpPr>
        <p:spPr>
          <a:xfrm>
            <a:off x="10963564" y="6356350"/>
            <a:ext cx="39023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8D6B0A0-5113-456A-82B3-EA8CCD6D43D8}" type="slidenum">
              <a:rPr lang="en-US" sz="1200" smtClean="0">
                <a:solidFill>
                  <a:schemeClr val="bg2">
                    <a:lumMod val="25000"/>
                  </a:schemeClr>
                </a:solidFill>
                <a:latin typeface="+mj-lt"/>
              </a:rPr>
              <a:pPr algn="r"/>
              <a:t>20</a:t>
            </a:fld>
            <a:endParaRPr lang="en-US" sz="1200" dirty="0">
              <a:solidFill>
                <a:schemeClr val="bg2">
                  <a:lumMod val="25000"/>
                </a:schemeClr>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0"/>
          <p:cNvSpPr/>
          <p:nvPr/>
        </p:nvSpPr>
        <p:spPr>
          <a:xfrm>
            <a:off x="1385455" y="278308"/>
            <a:ext cx="1323239" cy="425780"/>
          </a:xfrm>
          <a:prstGeom prst="roundRect">
            <a:avLst>
              <a:gd name="adj" fmla="val 22137"/>
            </a:avLst>
          </a:prstGeom>
          <a:solidFill>
            <a:srgbClr val="460707"/>
          </a:solidFill>
          <a:ln/>
        </p:spPr>
        <p:txBody>
          <a:bodyPr/>
          <a:lstStyle/>
          <a:p>
            <a:endParaRPr lang="en-US" sz="2400">
              <a:latin typeface="+mj-lt"/>
            </a:endParaRPr>
          </a:p>
        </p:txBody>
      </p:sp>
      <p:sp>
        <p:nvSpPr>
          <p:cNvPr id="3" name="Text 1"/>
          <p:cNvSpPr/>
          <p:nvPr/>
        </p:nvSpPr>
        <p:spPr>
          <a:xfrm>
            <a:off x="1458002" y="352044"/>
            <a:ext cx="943669" cy="155267"/>
          </a:xfrm>
          <a:prstGeom prst="rect">
            <a:avLst/>
          </a:prstGeom>
          <a:noFill/>
          <a:ln/>
        </p:spPr>
        <p:txBody>
          <a:bodyPr wrap="none" lIns="0" tIns="0" rIns="0" bIns="0" rtlCol="0" anchor="t"/>
          <a:lstStyle/>
          <a:p>
            <a:pPr>
              <a:lnSpc>
                <a:spcPct val="96000"/>
              </a:lnSpc>
            </a:pPr>
            <a:r>
              <a:rPr lang="en-US" sz="1600" dirty="0">
                <a:solidFill>
                  <a:srgbClr val="FFE5E5"/>
                </a:solidFill>
                <a:latin typeface="+mj-lt"/>
                <a:ea typeface="DM Sans" pitchFamily="34" charset="-122"/>
                <a:cs typeface="DM Sans" pitchFamily="34" charset="-120"/>
              </a:rPr>
              <a:t>PHASE </a:t>
            </a:r>
            <a:r>
              <a:rPr lang="ar-EG" sz="1600" dirty="0">
                <a:solidFill>
                  <a:srgbClr val="FFE5E5"/>
                </a:solidFill>
                <a:latin typeface="+mj-lt"/>
                <a:ea typeface="DM Sans" pitchFamily="34" charset="-122"/>
                <a:cs typeface="DM Sans" pitchFamily="34" charset="-120"/>
              </a:rPr>
              <a:t> :</a:t>
            </a:r>
            <a:r>
              <a:rPr lang="en-US" sz="1600" dirty="0">
                <a:solidFill>
                  <a:srgbClr val="FFE5E5"/>
                </a:solidFill>
                <a:latin typeface="+mj-lt"/>
                <a:ea typeface="DM Sans" pitchFamily="34" charset="-122"/>
                <a:cs typeface="DM Sans" pitchFamily="34" charset="-120"/>
              </a:rPr>
              <a:t>05</a:t>
            </a:r>
            <a:endParaRPr lang="en-US" sz="1600" dirty="0">
              <a:latin typeface="+mj-lt"/>
            </a:endParaRPr>
          </a:p>
        </p:txBody>
      </p:sp>
      <p:sp>
        <p:nvSpPr>
          <p:cNvPr id="4" name="Text 2"/>
          <p:cNvSpPr/>
          <p:nvPr/>
        </p:nvSpPr>
        <p:spPr>
          <a:xfrm>
            <a:off x="4505917" y="299284"/>
            <a:ext cx="3413134" cy="471984"/>
          </a:xfrm>
          <a:prstGeom prst="rect">
            <a:avLst/>
          </a:prstGeom>
          <a:noFill/>
          <a:ln/>
        </p:spPr>
        <p:txBody>
          <a:bodyPr wrap="none" lIns="0" tIns="0" rIns="0" bIns="0" rtlCol="0" anchor="t"/>
          <a:lstStyle/>
          <a:p>
            <a:pPr>
              <a:lnSpc>
                <a:spcPct val="104000"/>
              </a:lnSpc>
            </a:pPr>
            <a:r>
              <a:rPr lang="en-US" sz="2400" dirty="0">
                <a:solidFill>
                  <a:srgbClr val="FAEBEB"/>
                </a:solidFill>
                <a:latin typeface="+mj-lt"/>
                <a:ea typeface="Dela Gothic One" pitchFamily="34" charset="-122"/>
                <a:cs typeface="Dela Gothic One" pitchFamily="34" charset="-120"/>
              </a:rPr>
              <a:t>Privilege Escalation</a:t>
            </a:r>
            <a:endParaRPr lang="en-US" sz="2400" dirty="0">
              <a:latin typeface="+mj-lt"/>
            </a:endParaRPr>
          </a:p>
        </p:txBody>
      </p:sp>
      <p:sp>
        <p:nvSpPr>
          <p:cNvPr id="5" name="Text 3"/>
          <p:cNvSpPr/>
          <p:nvPr/>
        </p:nvSpPr>
        <p:spPr>
          <a:xfrm>
            <a:off x="210641" y="1007133"/>
            <a:ext cx="11537752" cy="289412"/>
          </a:xfrm>
          <a:prstGeom prst="rect">
            <a:avLst/>
          </a:prstGeom>
          <a:noFill/>
          <a:ln/>
        </p:spPr>
        <p:txBody>
          <a:bodyPr wrap="none" lIns="0" tIns="0" rIns="0" bIns="0" rtlCol="0" anchor="t"/>
          <a:lstStyle/>
          <a:p>
            <a:r>
              <a:rPr lang="en-US" sz="900" dirty="0">
                <a:solidFill>
                  <a:srgbClr val="FFE5E5"/>
                </a:solidFill>
                <a:latin typeface="+mj-lt"/>
                <a:ea typeface="DM Sans" pitchFamily="34" charset="-122"/>
                <a:cs typeface="DM Sans" pitchFamily="34" charset="-120"/>
              </a:rPr>
              <a:t>After initial access, the red team systematically elevated privileges to administrative level validating the full impact of the exploited vulnerability and demonstrating complete host compromise.</a:t>
            </a:r>
            <a:endParaRPr lang="en-US" sz="900" dirty="0">
              <a:latin typeface="+mj-lt"/>
            </a:endParaRPr>
          </a:p>
        </p:txBody>
      </p:sp>
      <p:pic>
        <p:nvPicPr>
          <p:cNvPr id="6" name="Image 0" descr="preencoded.png"/>
          <p:cNvPicPr>
            <a:picLocks noChangeAspect="1"/>
          </p:cNvPicPr>
          <p:nvPr/>
        </p:nvPicPr>
        <p:blipFill>
          <a:blip r:embed="rId3"/>
          <a:stretch>
            <a:fillRect/>
          </a:stretch>
        </p:blipFill>
        <p:spPr>
          <a:xfrm>
            <a:off x="129309" y="1363725"/>
            <a:ext cx="6456218" cy="4944142"/>
          </a:xfrm>
          <a:prstGeom prst="rect">
            <a:avLst/>
          </a:prstGeom>
        </p:spPr>
      </p:pic>
      <p:sp>
        <p:nvSpPr>
          <p:cNvPr id="7" name="Text 4"/>
          <p:cNvSpPr/>
          <p:nvPr/>
        </p:nvSpPr>
        <p:spPr>
          <a:xfrm>
            <a:off x="6683540" y="3429000"/>
            <a:ext cx="1185844" cy="356592"/>
          </a:xfrm>
          <a:prstGeom prst="rect">
            <a:avLst/>
          </a:prstGeom>
          <a:noFill/>
          <a:ln/>
        </p:spPr>
        <p:txBody>
          <a:bodyPr wrap="none" lIns="0" tIns="0" rIns="0" bIns="0" rtlCol="0" anchor="t"/>
          <a:lstStyle/>
          <a:p>
            <a:pPr>
              <a:lnSpc>
                <a:spcPct val="104000"/>
              </a:lnSpc>
            </a:pPr>
            <a:r>
              <a:rPr lang="en-US" sz="2000" dirty="0">
                <a:solidFill>
                  <a:srgbClr val="FAEBEB"/>
                </a:solidFill>
                <a:latin typeface="+mj-lt"/>
                <a:ea typeface="Dela Gothic One" pitchFamily="34" charset="-122"/>
                <a:cs typeface="Dela Gothic One" pitchFamily="34" charset="-120"/>
              </a:rPr>
              <a:t>Outcomes</a:t>
            </a:r>
            <a:endParaRPr lang="en-US" sz="2000" dirty="0">
              <a:latin typeface="+mj-lt"/>
            </a:endParaRPr>
          </a:p>
        </p:txBody>
      </p:sp>
      <p:sp>
        <p:nvSpPr>
          <p:cNvPr id="8" name="Text 5"/>
          <p:cNvSpPr/>
          <p:nvPr/>
        </p:nvSpPr>
        <p:spPr>
          <a:xfrm>
            <a:off x="6692768" y="3835796"/>
            <a:ext cx="5347592" cy="828567"/>
          </a:xfrm>
          <a:prstGeom prst="rect">
            <a:avLst/>
          </a:prstGeom>
          <a:noFill/>
          <a:ln/>
        </p:spPr>
        <p:txBody>
          <a:bodyPr wrap="square" lIns="0" tIns="0" rIns="0" bIns="0" rtlCol="0" anchor="t">
            <a:normAutofit/>
          </a:bodyPr>
          <a:lstStyle/>
          <a:p>
            <a:pPr marL="135463" indent="-135463">
              <a:buSzPct val="100000"/>
              <a:buChar char="•"/>
            </a:pPr>
            <a:r>
              <a:rPr lang="en-US" sz="1600" b="1" dirty="0">
                <a:solidFill>
                  <a:srgbClr val="FFE5E5"/>
                </a:solidFill>
                <a:ea typeface="DM Sans Bold" pitchFamily="34" charset="-122"/>
                <a:cs typeface="DM Sans Bold" pitchFamily="34" charset="-120"/>
              </a:rPr>
              <a:t>Administrative privileges obtained</a:t>
            </a:r>
            <a:r>
              <a:rPr lang="en-US" sz="1600" dirty="0">
                <a:solidFill>
                  <a:srgbClr val="FFE5E5"/>
                </a:solidFill>
                <a:ea typeface="DM Sans" pitchFamily="34" charset="-122"/>
                <a:cs typeface="DM Sans" pitchFamily="34" charset="-120"/>
              </a:rPr>
              <a:t> on target system</a:t>
            </a:r>
            <a:endParaRPr lang="en-US" sz="1600" dirty="0"/>
          </a:p>
          <a:p>
            <a:pPr marL="135463" indent="-135463">
              <a:buSzPct val="100000"/>
              <a:buChar char="•"/>
            </a:pPr>
            <a:r>
              <a:rPr lang="en-US" sz="1600" dirty="0">
                <a:solidFill>
                  <a:srgbClr val="FFE5E5"/>
                </a:solidFill>
                <a:ea typeface="DM Sans" pitchFamily="34" charset="-122"/>
                <a:cs typeface="DM Sans" pitchFamily="34" charset="-120"/>
              </a:rPr>
              <a:t>Security impact fully confirmed and documented</a:t>
            </a:r>
            <a:endParaRPr lang="en-US" sz="1600" dirty="0"/>
          </a:p>
          <a:p>
            <a:pPr marL="135463" indent="-135463">
              <a:buSzPct val="100000"/>
              <a:buChar char="•"/>
            </a:pPr>
            <a:r>
              <a:rPr lang="en-US" sz="1600" dirty="0">
                <a:solidFill>
                  <a:srgbClr val="FFE5E5"/>
                </a:solidFill>
                <a:ea typeface="DM Sans" pitchFamily="34" charset="-122"/>
                <a:cs typeface="DM Sans" pitchFamily="34" charset="-120"/>
              </a:rPr>
              <a:t>Evidence collected for remediation reporting</a:t>
            </a:r>
            <a:endParaRPr lang="en-US" sz="1600" dirty="0"/>
          </a:p>
        </p:txBody>
      </p:sp>
      <p:pic>
        <p:nvPicPr>
          <p:cNvPr id="10" name="Picture 9">
            <a:extLst>
              <a:ext uri="{FF2B5EF4-FFF2-40B4-BE49-F238E27FC236}">
                <a16:creationId xmlns:a16="http://schemas.microsoft.com/office/drawing/2014/main" id="{6E18B462-AD90-AD7B-E217-85AB6CDED4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07" y="0"/>
            <a:ext cx="704088" cy="704088"/>
          </a:xfrm>
          <a:prstGeom prst="rect">
            <a:avLst/>
          </a:prstGeom>
        </p:spPr>
      </p:pic>
      <p:sp>
        <p:nvSpPr>
          <p:cNvPr id="12" name="Slide Number Placeholder 28">
            <a:extLst>
              <a:ext uri="{FF2B5EF4-FFF2-40B4-BE49-F238E27FC236}">
                <a16:creationId xmlns:a16="http://schemas.microsoft.com/office/drawing/2014/main" id="{9F03CCA5-E45B-B57D-5072-85C62A553371}"/>
              </a:ext>
            </a:extLst>
          </p:cNvPr>
          <p:cNvSpPr txBox="1">
            <a:spLocks/>
          </p:cNvSpPr>
          <p:nvPr/>
        </p:nvSpPr>
        <p:spPr>
          <a:xfrm>
            <a:off x="10963564" y="6356350"/>
            <a:ext cx="39023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8D6B0A0-5113-456A-82B3-EA8CCD6D43D8}" type="slidenum">
              <a:rPr lang="en-US" sz="1200" smtClean="0">
                <a:solidFill>
                  <a:schemeClr val="bg2">
                    <a:lumMod val="25000"/>
                  </a:schemeClr>
                </a:solidFill>
                <a:latin typeface="+mj-lt"/>
              </a:rPr>
              <a:pPr algn="r"/>
              <a:t>21</a:t>
            </a:fld>
            <a:endParaRPr lang="en-US" sz="1200" dirty="0">
              <a:solidFill>
                <a:schemeClr val="bg2">
                  <a:lumMod val="25000"/>
                </a:schemeClr>
              </a:solidFill>
              <a:latin typeface="+mj-lt"/>
            </a:endParaRPr>
          </a:p>
        </p:txBody>
      </p:sp>
      <p:sp>
        <p:nvSpPr>
          <p:cNvPr id="16" name="Footer Placeholder 27">
            <a:extLst>
              <a:ext uri="{FF2B5EF4-FFF2-40B4-BE49-F238E27FC236}">
                <a16:creationId xmlns:a16="http://schemas.microsoft.com/office/drawing/2014/main" id="{892374AE-039D-9CDE-E30F-E3081E09C8E7}"/>
              </a:ext>
            </a:extLst>
          </p:cNvPr>
          <p:cNvSpPr txBox="1">
            <a:spLocks/>
          </p:cNvSpPr>
          <p:nvPr/>
        </p:nvSpPr>
        <p:spPr>
          <a:xfrm>
            <a:off x="5006109" y="6356350"/>
            <a:ext cx="218901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solidFill>
                  <a:schemeClr val="bg2">
                    <a:lumMod val="25000"/>
                  </a:schemeClr>
                </a:solidFill>
                <a:latin typeface="+mj-lt"/>
              </a:rPr>
              <a:t>Zero Trace Imperium</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25" y="2493034"/>
            <a:ext cx="1170996" cy="315749"/>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740173" y="2588618"/>
            <a:ext cx="1436588"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LAB REPORT</a:t>
            </a:r>
            <a:endParaRPr lang="en-US" sz="1133" dirty="0">
              <a:latin typeface="+mj-lt"/>
            </a:endParaRPr>
          </a:p>
        </p:txBody>
      </p:sp>
      <p:sp>
        <p:nvSpPr>
          <p:cNvPr id="4" name="Text 2"/>
          <p:cNvSpPr/>
          <p:nvPr/>
        </p:nvSpPr>
        <p:spPr>
          <a:xfrm>
            <a:off x="631924" y="2880917"/>
            <a:ext cx="10928152"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Phase 06</a:t>
            </a:r>
            <a:r>
              <a:rPr lang="ar-EG" sz="3733" dirty="0">
                <a:solidFill>
                  <a:srgbClr val="FAEBEB"/>
                </a:solidFill>
                <a:latin typeface="+mj-lt"/>
                <a:ea typeface="Dela Gothic One" pitchFamily="34" charset="-122"/>
                <a:cs typeface="Dela Gothic One" pitchFamily="34" charset="-120"/>
              </a:rPr>
              <a:t> </a:t>
            </a:r>
            <a:r>
              <a:rPr lang="en-US" sz="3733" dirty="0">
                <a:solidFill>
                  <a:srgbClr val="FAEBEB"/>
                </a:solidFill>
                <a:latin typeface="+mj-lt"/>
                <a:ea typeface="Dela Gothic One" pitchFamily="34" charset="-122"/>
                <a:cs typeface="Dela Gothic One" pitchFamily="34" charset="-120"/>
              </a:rPr>
              <a:t>: Post</a:t>
            </a:r>
            <a:r>
              <a:rPr lang="ar-EG" sz="3733" dirty="0">
                <a:solidFill>
                  <a:srgbClr val="FAEBEB"/>
                </a:solidFill>
                <a:latin typeface="+mj-lt"/>
                <a:ea typeface="Dela Gothic One" pitchFamily="34" charset="-122"/>
                <a:cs typeface="Dela Gothic One" pitchFamily="34" charset="-120"/>
              </a:rPr>
              <a:t> </a:t>
            </a:r>
            <a:r>
              <a:rPr lang="en-US" sz="3733" dirty="0">
                <a:solidFill>
                  <a:srgbClr val="FAEBEB"/>
                </a:solidFill>
                <a:latin typeface="+mj-lt"/>
                <a:ea typeface="Dela Gothic One" pitchFamily="34" charset="-122"/>
                <a:cs typeface="Dela Gothic One" pitchFamily="34" charset="-120"/>
              </a:rPr>
              <a:t>Exploitation</a:t>
            </a:r>
            <a:endParaRPr lang="en-US" sz="3733" dirty="0">
              <a:latin typeface="+mj-lt"/>
            </a:endParaRPr>
          </a:p>
        </p:txBody>
      </p:sp>
      <p:sp>
        <p:nvSpPr>
          <p:cNvPr id="5" name="Text 3"/>
          <p:cNvSpPr/>
          <p:nvPr/>
        </p:nvSpPr>
        <p:spPr>
          <a:xfrm>
            <a:off x="631924" y="3745607"/>
            <a:ext cx="10928152"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After gaining elevated privileges, post exploitation activities were performed to assess the full security impact on the compromised system identifying what an attacker could access, extract, and leverage from within.</a:t>
            </a:r>
            <a:endParaRPr lang="en-US" sz="1400" dirty="0">
              <a:latin typeface="+mj-lt"/>
            </a:endParaRPr>
          </a:p>
        </p:txBody>
      </p:sp>
      <p:sp>
        <p:nvSpPr>
          <p:cNvPr id="8" name="Footer Placeholder 7">
            <a:extLst>
              <a:ext uri="{FF2B5EF4-FFF2-40B4-BE49-F238E27FC236}">
                <a16:creationId xmlns:a16="http://schemas.microsoft.com/office/drawing/2014/main" id="{91237C47-9BC8-0CAB-834E-EFDCBFDC0493}"/>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9" name="Slide Number Placeholder 8">
            <a:extLst>
              <a:ext uri="{FF2B5EF4-FFF2-40B4-BE49-F238E27FC236}">
                <a16:creationId xmlns:a16="http://schemas.microsoft.com/office/drawing/2014/main" id="{94B52441-7BAD-725D-FAF9-BFD82820C8BF}"/>
              </a:ext>
            </a:extLst>
          </p:cNvPr>
          <p:cNvSpPr>
            <a:spLocks noGrp="1"/>
          </p:cNvSpPr>
          <p:nvPr>
            <p:ph type="sldNum" sz="quarter" idx="4"/>
          </p:nvPr>
        </p:nvSpPr>
        <p:spPr/>
        <p:txBody>
          <a:bodyPr/>
          <a:lstStyle/>
          <a:p>
            <a:fld id="{08D6B0A0-5113-456A-82B3-EA8CCD6D43D8}" type="slidenum">
              <a:rPr lang="en-US" smtClean="0">
                <a:latin typeface="+mj-lt"/>
              </a:rPr>
              <a:t>22</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5467" y="643250"/>
            <a:ext cx="989842" cy="274141"/>
          </a:xfrm>
          <a:prstGeom prst="roundRect">
            <a:avLst>
              <a:gd name="adj" fmla="val 22121"/>
            </a:avLst>
          </a:prstGeom>
          <a:noFill/>
          <a:ln w="4763">
            <a:solidFill>
              <a:srgbClr val="C91313"/>
            </a:solidFill>
            <a:prstDash val="solid"/>
          </a:ln>
        </p:spPr>
        <p:txBody>
          <a:bodyPr/>
          <a:lstStyle/>
          <a:p>
            <a:endParaRPr lang="en-US" sz="2400">
              <a:latin typeface="+mj-lt"/>
            </a:endParaRPr>
          </a:p>
        </p:txBody>
      </p:sp>
      <p:sp>
        <p:nvSpPr>
          <p:cNvPr id="3" name="Text 1"/>
          <p:cNvSpPr/>
          <p:nvPr/>
        </p:nvSpPr>
        <p:spPr>
          <a:xfrm>
            <a:off x="929949" y="708522"/>
            <a:ext cx="1280616" cy="166092"/>
          </a:xfrm>
          <a:prstGeom prst="rect">
            <a:avLst/>
          </a:prstGeom>
          <a:noFill/>
          <a:ln/>
        </p:spPr>
        <p:txBody>
          <a:bodyPr wrap="none" lIns="0" tIns="0" rIns="0" bIns="0" rtlCol="0" anchor="t"/>
          <a:lstStyle/>
          <a:p>
            <a:pPr>
              <a:lnSpc>
                <a:spcPct val="96000"/>
              </a:lnSpc>
            </a:pPr>
            <a:r>
              <a:rPr lang="en-US" sz="1133" dirty="0">
                <a:solidFill>
                  <a:srgbClr val="C91313"/>
                </a:solidFill>
                <a:latin typeface="+mj-lt"/>
                <a:ea typeface="DM Sans" pitchFamily="34" charset="-122"/>
                <a:cs typeface="DM Sans" pitchFamily="34" charset="-120"/>
              </a:rPr>
              <a:t>PHASE : 06</a:t>
            </a:r>
            <a:endParaRPr lang="en-US" sz="1133" dirty="0">
              <a:latin typeface="+mj-lt"/>
            </a:endParaRPr>
          </a:p>
        </p:txBody>
      </p:sp>
      <p:sp>
        <p:nvSpPr>
          <p:cNvPr id="4" name="Text 2"/>
          <p:cNvSpPr/>
          <p:nvPr/>
        </p:nvSpPr>
        <p:spPr>
          <a:xfrm>
            <a:off x="631924" y="1000821"/>
            <a:ext cx="2707961" cy="614858"/>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Objectives</a:t>
            </a:r>
            <a:endParaRPr lang="en-US" sz="3733" dirty="0">
              <a:latin typeface="+mj-lt"/>
            </a:endParaRPr>
          </a:p>
        </p:txBody>
      </p:sp>
      <p:sp>
        <p:nvSpPr>
          <p:cNvPr id="5" name="Shape 3"/>
          <p:cNvSpPr/>
          <p:nvPr/>
        </p:nvSpPr>
        <p:spPr>
          <a:xfrm>
            <a:off x="631924" y="1865511"/>
            <a:ext cx="5373787" cy="2078732"/>
          </a:xfrm>
          <a:prstGeom prst="roundRect">
            <a:avLst>
              <a:gd name="adj" fmla="val 3648"/>
            </a:avLst>
          </a:prstGeom>
          <a:solidFill>
            <a:srgbClr val="740B0B"/>
          </a:solidFill>
          <a:ln w="4763">
            <a:solidFill>
              <a:srgbClr val="8D2424"/>
            </a:solidFill>
            <a:prstDash val="solid"/>
          </a:ln>
        </p:spPr>
        <p:txBody>
          <a:bodyPr/>
          <a:lstStyle/>
          <a:p>
            <a:endParaRPr lang="en-US" sz="2400">
              <a:latin typeface="+mj-lt"/>
            </a:endParaRPr>
          </a:p>
        </p:txBody>
      </p:sp>
      <p:sp>
        <p:nvSpPr>
          <p:cNvPr id="6" name="Shape 4"/>
          <p:cNvSpPr/>
          <p:nvPr/>
        </p:nvSpPr>
        <p:spPr>
          <a:xfrm>
            <a:off x="818753" y="2052340"/>
            <a:ext cx="541635" cy="541635"/>
          </a:xfrm>
          <a:prstGeom prst="ellipse">
            <a:avLst/>
          </a:prstGeom>
          <a:solidFill>
            <a:srgbClr val="C91313"/>
          </a:solidFill>
          <a:ln/>
        </p:spPr>
        <p:txBody>
          <a:bodyPr/>
          <a:lstStyle/>
          <a:p>
            <a:endParaRPr lang="en-US" sz="2400">
              <a:latin typeface="+mj-lt"/>
            </a:endParaRPr>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7681" y="2201268"/>
            <a:ext cx="243681" cy="243681"/>
          </a:xfrm>
          <a:prstGeom prst="rect">
            <a:avLst/>
          </a:prstGeom>
        </p:spPr>
      </p:pic>
      <p:sp>
        <p:nvSpPr>
          <p:cNvPr id="8" name="Text 5"/>
          <p:cNvSpPr/>
          <p:nvPr/>
        </p:nvSpPr>
        <p:spPr>
          <a:xfrm>
            <a:off x="818754" y="2774454"/>
            <a:ext cx="3125565"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Assess System Exposure</a:t>
            </a:r>
            <a:endParaRPr lang="en-US" sz="1867" dirty="0">
              <a:latin typeface="+mj-lt"/>
            </a:endParaRPr>
          </a:p>
        </p:txBody>
      </p:sp>
      <p:sp>
        <p:nvSpPr>
          <p:cNvPr id="9" name="Text 6"/>
          <p:cNvSpPr/>
          <p:nvPr/>
        </p:nvSpPr>
        <p:spPr>
          <a:xfrm>
            <a:off x="818754" y="3179564"/>
            <a:ext cx="5000129"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Map accessible resources, services, and data to understand the blast radius of the compromise.</a:t>
            </a:r>
            <a:endParaRPr lang="en-US" sz="1400" dirty="0">
              <a:latin typeface="+mj-lt"/>
            </a:endParaRPr>
          </a:p>
        </p:txBody>
      </p:sp>
      <p:sp>
        <p:nvSpPr>
          <p:cNvPr id="10" name="Shape 7"/>
          <p:cNvSpPr/>
          <p:nvPr/>
        </p:nvSpPr>
        <p:spPr>
          <a:xfrm>
            <a:off x="6186190" y="1865511"/>
            <a:ext cx="5373885" cy="2078732"/>
          </a:xfrm>
          <a:prstGeom prst="roundRect">
            <a:avLst>
              <a:gd name="adj" fmla="val 3648"/>
            </a:avLst>
          </a:prstGeom>
          <a:solidFill>
            <a:srgbClr val="740B0B"/>
          </a:solidFill>
          <a:ln w="4763">
            <a:solidFill>
              <a:srgbClr val="8D2424"/>
            </a:solidFill>
            <a:prstDash val="solid"/>
          </a:ln>
        </p:spPr>
        <p:txBody>
          <a:bodyPr/>
          <a:lstStyle/>
          <a:p>
            <a:endParaRPr lang="en-US" sz="2400">
              <a:latin typeface="+mj-lt"/>
            </a:endParaRPr>
          </a:p>
        </p:txBody>
      </p:sp>
      <p:sp>
        <p:nvSpPr>
          <p:cNvPr id="11" name="Shape 8"/>
          <p:cNvSpPr/>
          <p:nvPr/>
        </p:nvSpPr>
        <p:spPr>
          <a:xfrm>
            <a:off x="6373019" y="2052340"/>
            <a:ext cx="541635" cy="541635"/>
          </a:xfrm>
          <a:prstGeom prst="ellipse">
            <a:avLst/>
          </a:prstGeom>
          <a:solidFill>
            <a:srgbClr val="C91313"/>
          </a:solidFill>
          <a:ln/>
        </p:spPr>
        <p:txBody>
          <a:bodyPr/>
          <a:lstStyle/>
          <a:p>
            <a:endParaRPr lang="en-US" sz="2400">
              <a:latin typeface="+mj-lt"/>
            </a:endParaRPr>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1948" y="2201268"/>
            <a:ext cx="243681" cy="243681"/>
          </a:xfrm>
          <a:prstGeom prst="rect">
            <a:avLst/>
          </a:prstGeom>
        </p:spPr>
      </p:pic>
      <p:sp>
        <p:nvSpPr>
          <p:cNvPr id="13" name="Text 9"/>
          <p:cNvSpPr/>
          <p:nvPr/>
        </p:nvSpPr>
        <p:spPr>
          <a:xfrm>
            <a:off x="6373019" y="2774454"/>
            <a:ext cx="3700879"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Review Sensitive Information</a:t>
            </a:r>
            <a:endParaRPr lang="en-US" sz="1867" dirty="0">
              <a:latin typeface="+mj-lt"/>
            </a:endParaRPr>
          </a:p>
        </p:txBody>
      </p:sp>
      <p:sp>
        <p:nvSpPr>
          <p:cNvPr id="14" name="Text 10"/>
          <p:cNvSpPr/>
          <p:nvPr/>
        </p:nvSpPr>
        <p:spPr>
          <a:xfrm>
            <a:off x="6373019" y="3179564"/>
            <a:ext cx="5000228"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Identify credentials, configuration files, and stored secrets that could be harvested.</a:t>
            </a:r>
            <a:endParaRPr lang="en-US" sz="1400" dirty="0">
              <a:latin typeface="+mj-lt"/>
            </a:endParaRPr>
          </a:p>
        </p:txBody>
      </p:sp>
      <p:sp>
        <p:nvSpPr>
          <p:cNvPr id="15" name="Shape 11"/>
          <p:cNvSpPr/>
          <p:nvPr/>
        </p:nvSpPr>
        <p:spPr>
          <a:xfrm>
            <a:off x="631924" y="4124722"/>
            <a:ext cx="5373787" cy="2078732"/>
          </a:xfrm>
          <a:prstGeom prst="roundRect">
            <a:avLst>
              <a:gd name="adj" fmla="val 3648"/>
            </a:avLst>
          </a:prstGeom>
          <a:solidFill>
            <a:srgbClr val="740B0B"/>
          </a:solidFill>
          <a:ln w="4763">
            <a:solidFill>
              <a:srgbClr val="8D2424"/>
            </a:solidFill>
            <a:prstDash val="solid"/>
          </a:ln>
        </p:spPr>
        <p:txBody>
          <a:bodyPr/>
          <a:lstStyle/>
          <a:p>
            <a:endParaRPr lang="en-US" sz="2400">
              <a:latin typeface="+mj-lt"/>
            </a:endParaRPr>
          </a:p>
        </p:txBody>
      </p:sp>
      <p:sp>
        <p:nvSpPr>
          <p:cNvPr id="16" name="Shape 12"/>
          <p:cNvSpPr/>
          <p:nvPr/>
        </p:nvSpPr>
        <p:spPr>
          <a:xfrm>
            <a:off x="818753" y="4311551"/>
            <a:ext cx="541635" cy="541635"/>
          </a:xfrm>
          <a:prstGeom prst="ellipse">
            <a:avLst/>
          </a:prstGeom>
          <a:solidFill>
            <a:srgbClr val="C91313"/>
          </a:solidFill>
          <a:ln/>
        </p:spPr>
        <p:txBody>
          <a:bodyPr/>
          <a:lstStyle/>
          <a:p>
            <a:endParaRPr lang="en-US" sz="2400">
              <a:latin typeface="+mj-lt"/>
            </a:endParaRPr>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7681" y="4460480"/>
            <a:ext cx="243681" cy="243681"/>
          </a:xfrm>
          <a:prstGeom prst="rect">
            <a:avLst/>
          </a:prstGeom>
        </p:spPr>
      </p:pic>
      <p:sp>
        <p:nvSpPr>
          <p:cNvPr id="18" name="Text 13"/>
          <p:cNvSpPr/>
          <p:nvPr/>
        </p:nvSpPr>
        <p:spPr>
          <a:xfrm>
            <a:off x="818755" y="5033666"/>
            <a:ext cx="3219846"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Evaluate Business Impact</a:t>
            </a:r>
            <a:endParaRPr lang="en-US" sz="1867" dirty="0">
              <a:latin typeface="+mj-lt"/>
            </a:endParaRPr>
          </a:p>
        </p:txBody>
      </p:sp>
      <p:sp>
        <p:nvSpPr>
          <p:cNvPr id="19" name="Text 14"/>
          <p:cNvSpPr/>
          <p:nvPr/>
        </p:nvSpPr>
        <p:spPr>
          <a:xfrm>
            <a:off x="818754" y="5438775"/>
            <a:ext cx="5000129"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Translate technical findings into risk context for stakeholders and leadership.</a:t>
            </a:r>
            <a:endParaRPr lang="en-US" sz="1400" dirty="0">
              <a:latin typeface="+mj-lt"/>
            </a:endParaRPr>
          </a:p>
        </p:txBody>
      </p:sp>
      <p:sp>
        <p:nvSpPr>
          <p:cNvPr id="20" name="Shape 15"/>
          <p:cNvSpPr/>
          <p:nvPr/>
        </p:nvSpPr>
        <p:spPr>
          <a:xfrm>
            <a:off x="6186190" y="4124722"/>
            <a:ext cx="5373885" cy="2078732"/>
          </a:xfrm>
          <a:prstGeom prst="roundRect">
            <a:avLst>
              <a:gd name="adj" fmla="val 3648"/>
            </a:avLst>
          </a:prstGeom>
          <a:solidFill>
            <a:srgbClr val="740B0B"/>
          </a:solidFill>
          <a:ln w="4763">
            <a:solidFill>
              <a:srgbClr val="8D2424"/>
            </a:solidFill>
            <a:prstDash val="solid"/>
          </a:ln>
        </p:spPr>
        <p:txBody>
          <a:bodyPr/>
          <a:lstStyle/>
          <a:p>
            <a:endParaRPr lang="en-US" sz="2400">
              <a:latin typeface="+mj-lt"/>
            </a:endParaRPr>
          </a:p>
        </p:txBody>
      </p:sp>
      <p:sp>
        <p:nvSpPr>
          <p:cNvPr id="21" name="Shape 16"/>
          <p:cNvSpPr/>
          <p:nvPr/>
        </p:nvSpPr>
        <p:spPr>
          <a:xfrm>
            <a:off x="6373019" y="4311551"/>
            <a:ext cx="541635" cy="541635"/>
          </a:xfrm>
          <a:prstGeom prst="ellipse">
            <a:avLst/>
          </a:prstGeom>
          <a:solidFill>
            <a:srgbClr val="C91313"/>
          </a:solidFill>
          <a:ln/>
        </p:spPr>
        <p:txBody>
          <a:bodyPr/>
          <a:lstStyle/>
          <a:p>
            <a:endParaRPr lang="en-US" sz="2400">
              <a:latin typeface="+mj-lt"/>
            </a:endParaRPr>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21948" y="4460480"/>
            <a:ext cx="243681" cy="243681"/>
          </a:xfrm>
          <a:prstGeom prst="rect">
            <a:avLst/>
          </a:prstGeom>
        </p:spPr>
      </p:pic>
      <p:sp>
        <p:nvSpPr>
          <p:cNvPr id="23" name="Text 17"/>
          <p:cNvSpPr/>
          <p:nvPr/>
        </p:nvSpPr>
        <p:spPr>
          <a:xfrm>
            <a:off x="6373019" y="5033666"/>
            <a:ext cx="2507510"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Document Findings</a:t>
            </a:r>
            <a:endParaRPr lang="en-US" sz="1867" dirty="0">
              <a:latin typeface="+mj-lt"/>
            </a:endParaRPr>
          </a:p>
        </p:txBody>
      </p:sp>
      <p:sp>
        <p:nvSpPr>
          <p:cNvPr id="24" name="Text 18"/>
          <p:cNvSpPr/>
          <p:nvPr/>
        </p:nvSpPr>
        <p:spPr>
          <a:xfrm>
            <a:off x="6373019" y="5438775"/>
            <a:ext cx="5000228"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Capture evidence, artifacts, and remediation guidance for the final report.</a:t>
            </a:r>
            <a:endParaRPr lang="en-US" sz="1400" dirty="0">
              <a:latin typeface="+mj-lt"/>
            </a:endParaRPr>
          </a:p>
        </p:txBody>
      </p:sp>
      <p:sp>
        <p:nvSpPr>
          <p:cNvPr id="27" name="Footer Placeholder 26">
            <a:extLst>
              <a:ext uri="{FF2B5EF4-FFF2-40B4-BE49-F238E27FC236}">
                <a16:creationId xmlns:a16="http://schemas.microsoft.com/office/drawing/2014/main" id="{CD3BD6CE-26BB-E26A-4233-6EF7FF157601}"/>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28" name="Slide Number Placeholder 27">
            <a:extLst>
              <a:ext uri="{FF2B5EF4-FFF2-40B4-BE49-F238E27FC236}">
                <a16:creationId xmlns:a16="http://schemas.microsoft.com/office/drawing/2014/main" id="{43DD6FBE-A240-EC8B-A5DB-4A3B5475BC36}"/>
              </a:ext>
            </a:extLst>
          </p:cNvPr>
          <p:cNvSpPr>
            <a:spLocks noGrp="1"/>
          </p:cNvSpPr>
          <p:nvPr>
            <p:ph type="sldNum" sz="quarter" idx="4"/>
          </p:nvPr>
        </p:nvSpPr>
        <p:spPr/>
        <p:txBody>
          <a:bodyPr/>
          <a:lstStyle/>
          <a:p>
            <a:fld id="{08D6B0A0-5113-456A-82B3-EA8CCD6D43D8}" type="slidenum">
              <a:rPr lang="en-US" smtClean="0">
                <a:latin typeface="+mj-lt"/>
              </a:rPr>
              <a:t>23</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18616" y="130889"/>
            <a:ext cx="1358800" cy="402298"/>
          </a:xfrm>
          <a:prstGeom prst="roundRect">
            <a:avLst>
              <a:gd name="adj" fmla="val 22137"/>
            </a:avLst>
          </a:prstGeom>
          <a:noFill/>
          <a:ln w="4763">
            <a:solidFill>
              <a:srgbClr val="C91313"/>
            </a:solidFill>
            <a:prstDash val="solid"/>
          </a:ln>
        </p:spPr>
        <p:txBody>
          <a:bodyPr/>
          <a:lstStyle/>
          <a:p>
            <a:endParaRPr lang="en-US" sz="2400">
              <a:latin typeface="+mj-lt"/>
            </a:endParaRPr>
          </a:p>
        </p:txBody>
      </p:sp>
      <p:sp>
        <p:nvSpPr>
          <p:cNvPr id="3" name="Text 1"/>
          <p:cNvSpPr/>
          <p:nvPr/>
        </p:nvSpPr>
        <p:spPr>
          <a:xfrm>
            <a:off x="1549137" y="196710"/>
            <a:ext cx="1953192" cy="327270"/>
          </a:xfrm>
          <a:prstGeom prst="rect">
            <a:avLst/>
          </a:prstGeom>
          <a:noFill/>
          <a:ln/>
        </p:spPr>
        <p:txBody>
          <a:bodyPr wrap="none" lIns="0" tIns="0" rIns="0" bIns="0" rtlCol="0" anchor="t"/>
          <a:lstStyle/>
          <a:p>
            <a:pPr>
              <a:lnSpc>
                <a:spcPct val="96000"/>
              </a:lnSpc>
            </a:pPr>
            <a:r>
              <a:rPr lang="en-US" dirty="0">
                <a:solidFill>
                  <a:srgbClr val="C91313"/>
                </a:solidFill>
                <a:latin typeface="+mj-lt"/>
                <a:ea typeface="DM Sans" pitchFamily="34" charset="-122"/>
                <a:cs typeface="DM Sans" pitchFamily="34" charset="-120"/>
              </a:rPr>
              <a:t>PHASE</a:t>
            </a:r>
            <a:r>
              <a:rPr lang="ar-EG" dirty="0">
                <a:solidFill>
                  <a:srgbClr val="C91313"/>
                </a:solidFill>
                <a:latin typeface="+mj-lt"/>
                <a:ea typeface="DM Sans" pitchFamily="34" charset="-122"/>
                <a:cs typeface="DM Sans" pitchFamily="34" charset="-120"/>
              </a:rPr>
              <a:t> : </a:t>
            </a:r>
            <a:r>
              <a:rPr lang="en-US" dirty="0">
                <a:solidFill>
                  <a:srgbClr val="C91313"/>
                </a:solidFill>
                <a:latin typeface="+mj-lt"/>
                <a:ea typeface="DM Sans" pitchFamily="34" charset="-122"/>
                <a:cs typeface="DM Sans" pitchFamily="34" charset="-120"/>
              </a:rPr>
              <a:t>06</a:t>
            </a:r>
            <a:endParaRPr lang="en-US" dirty="0">
              <a:latin typeface="+mj-lt"/>
            </a:endParaRPr>
          </a:p>
        </p:txBody>
      </p:sp>
      <p:sp>
        <p:nvSpPr>
          <p:cNvPr id="4" name="Text 2"/>
          <p:cNvSpPr/>
          <p:nvPr/>
        </p:nvSpPr>
        <p:spPr>
          <a:xfrm>
            <a:off x="1186106" y="763718"/>
            <a:ext cx="2231349" cy="296863"/>
          </a:xfrm>
          <a:prstGeom prst="rect">
            <a:avLst/>
          </a:prstGeom>
          <a:noFill/>
          <a:ln/>
        </p:spPr>
        <p:txBody>
          <a:bodyPr wrap="none" lIns="0" tIns="0" rIns="0" bIns="0" rtlCol="0" anchor="t"/>
          <a:lstStyle/>
          <a:p>
            <a:pPr>
              <a:lnSpc>
                <a:spcPct val="104000"/>
              </a:lnSpc>
            </a:pPr>
            <a:r>
              <a:rPr lang="en-US" sz="1867" dirty="0">
                <a:solidFill>
                  <a:srgbClr val="FAEBEB"/>
                </a:solidFill>
                <a:latin typeface="+mj-lt"/>
                <a:ea typeface="Dela Gothic One" pitchFamily="34" charset="-122"/>
                <a:cs typeface="Dela Gothic One" pitchFamily="34" charset="-120"/>
              </a:rPr>
              <a:t>Activities Performed</a:t>
            </a:r>
            <a:endParaRPr lang="en-US" sz="1867" dirty="0">
              <a:latin typeface="+mj-lt"/>
            </a:endParaRPr>
          </a:p>
        </p:txBody>
      </p:sp>
      <p:grpSp>
        <p:nvGrpSpPr>
          <p:cNvPr id="20" name="Group 19">
            <a:extLst>
              <a:ext uri="{FF2B5EF4-FFF2-40B4-BE49-F238E27FC236}">
                <a16:creationId xmlns:a16="http://schemas.microsoft.com/office/drawing/2014/main" id="{BBC12897-9265-B709-D258-B69DF24953F2}"/>
              </a:ext>
            </a:extLst>
          </p:cNvPr>
          <p:cNvGrpSpPr/>
          <p:nvPr/>
        </p:nvGrpSpPr>
        <p:grpSpPr>
          <a:xfrm>
            <a:off x="165200" y="1395118"/>
            <a:ext cx="5930800" cy="4619424"/>
            <a:chOff x="631925" y="3105151"/>
            <a:chExt cx="5353943" cy="1276944"/>
          </a:xfrm>
        </p:grpSpPr>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5" y="3105151"/>
              <a:ext cx="2654399" cy="615949"/>
            </a:xfrm>
            <a:prstGeom prst="rect">
              <a:avLst/>
            </a:prstGeom>
          </p:spPr>
        </p:pic>
        <p:sp>
          <p:nvSpPr>
            <p:cNvPr id="6" name="Text 3"/>
            <p:cNvSpPr/>
            <p:nvPr/>
          </p:nvSpPr>
          <p:spPr>
            <a:xfrm>
              <a:off x="828395" y="3208041"/>
              <a:ext cx="2397820" cy="148431"/>
            </a:xfrm>
            <a:prstGeom prst="rect">
              <a:avLst/>
            </a:prstGeom>
            <a:noFill/>
            <a:ln/>
          </p:spPr>
          <p:txBody>
            <a:bodyPr wrap="none" lIns="0" tIns="0" rIns="0" bIns="0" rtlCol="0" anchor="t"/>
            <a:lstStyle/>
            <a:p>
              <a:pPr>
                <a:lnSpc>
                  <a:spcPct val="104000"/>
                </a:lnSpc>
              </a:pPr>
              <a:r>
                <a:rPr lang="en-US" sz="1400" dirty="0">
                  <a:solidFill>
                    <a:srgbClr val="FFE5E5"/>
                  </a:solidFill>
                  <a:latin typeface="+mj-lt"/>
                  <a:ea typeface="Dela Gothic One" pitchFamily="34" charset="-122"/>
                  <a:cs typeface="Dela Gothic One" pitchFamily="34" charset="-120"/>
                </a:rPr>
                <a:t>System Enumeration</a:t>
              </a:r>
              <a:endParaRPr lang="en-US" sz="1400" dirty="0">
                <a:latin typeface="+mj-lt"/>
              </a:endParaRPr>
            </a:p>
          </p:txBody>
        </p:sp>
        <p:sp>
          <p:nvSpPr>
            <p:cNvPr id="7" name="Text 4"/>
            <p:cNvSpPr/>
            <p:nvPr/>
          </p:nvSpPr>
          <p:spPr>
            <a:xfrm>
              <a:off x="785615" y="3401516"/>
              <a:ext cx="2397820" cy="216693"/>
            </a:xfrm>
            <a:prstGeom prst="rect">
              <a:avLst/>
            </a:prstGeom>
            <a:noFill/>
            <a:ln/>
          </p:spPr>
          <p:txBody>
            <a:bodyPr wrap="square" lIns="0" tIns="0" rIns="0" bIns="0" rtlCol="0" anchor="t">
              <a:normAutofit/>
            </a:bodyPr>
            <a:lstStyle/>
            <a:p>
              <a:r>
                <a:rPr lang="en-US" sz="1100" dirty="0">
                  <a:solidFill>
                    <a:srgbClr val="FFE5E5"/>
                  </a:solidFill>
                  <a:latin typeface="+mj-lt"/>
                  <a:ea typeface="DM Sans" pitchFamily="34" charset="-122"/>
                  <a:cs typeface="DM Sans" pitchFamily="34" charset="-120"/>
                </a:rPr>
                <a:t>Enumerated OS version, users, groups, installed software, and running services to profile the host.</a:t>
              </a:r>
              <a:endParaRPr lang="en-US" sz="1100" dirty="0">
                <a:latin typeface="+mj-lt"/>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1369" y="3105151"/>
              <a:ext cx="2654499" cy="615949"/>
            </a:xfrm>
            <a:prstGeom prst="rect">
              <a:avLst/>
            </a:prstGeom>
          </p:spPr>
        </p:pic>
        <p:sp>
          <p:nvSpPr>
            <p:cNvPr id="9" name="Text 5"/>
            <p:cNvSpPr/>
            <p:nvPr/>
          </p:nvSpPr>
          <p:spPr>
            <a:xfrm>
              <a:off x="3485059" y="3208041"/>
              <a:ext cx="2397919" cy="148431"/>
            </a:xfrm>
            <a:prstGeom prst="rect">
              <a:avLst/>
            </a:prstGeom>
            <a:noFill/>
            <a:ln/>
          </p:spPr>
          <p:txBody>
            <a:bodyPr wrap="none" lIns="0" tIns="0" rIns="0" bIns="0" rtlCol="0" anchor="t"/>
            <a:lstStyle/>
            <a:p>
              <a:pPr>
                <a:lnSpc>
                  <a:spcPct val="104000"/>
                </a:lnSpc>
              </a:pPr>
              <a:r>
                <a:rPr lang="en-US" sz="1400" dirty="0">
                  <a:solidFill>
                    <a:srgbClr val="FFE5E5"/>
                  </a:solidFill>
                  <a:latin typeface="+mj-lt"/>
                  <a:ea typeface="Dela Gothic One" pitchFamily="34" charset="-122"/>
                  <a:cs typeface="Dela Gothic One" pitchFamily="34" charset="-120"/>
                </a:rPr>
                <a:t>Configuration Review</a:t>
              </a:r>
              <a:endParaRPr lang="en-US" sz="1400" dirty="0">
                <a:latin typeface="+mj-lt"/>
              </a:endParaRPr>
            </a:p>
          </p:txBody>
        </p:sp>
        <p:sp>
          <p:nvSpPr>
            <p:cNvPr id="10" name="Text 6"/>
            <p:cNvSpPr/>
            <p:nvPr/>
          </p:nvSpPr>
          <p:spPr>
            <a:xfrm>
              <a:off x="3485059" y="3401516"/>
              <a:ext cx="2397919" cy="216693"/>
            </a:xfrm>
            <a:prstGeom prst="rect">
              <a:avLst/>
            </a:prstGeom>
            <a:noFill/>
            <a:ln/>
          </p:spPr>
          <p:txBody>
            <a:bodyPr wrap="square" lIns="0" tIns="0" rIns="0" bIns="0" rtlCol="0" anchor="t">
              <a:normAutofit/>
            </a:bodyPr>
            <a:lstStyle/>
            <a:p>
              <a:r>
                <a:rPr lang="en-US" sz="1100" dirty="0">
                  <a:solidFill>
                    <a:srgbClr val="FFE5E5"/>
                  </a:solidFill>
                  <a:latin typeface="+mj-lt"/>
                  <a:ea typeface="DM Sans" pitchFamily="34" charset="-122"/>
                  <a:cs typeface="DM Sans" pitchFamily="34" charset="-120"/>
                </a:rPr>
                <a:t>Audited system and application configs for weak permissions, debug modes, and exposed settings.</a:t>
              </a:r>
              <a:endParaRPr lang="en-US" sz="1100" dirty="0">
                <a:latin typeface="+mj-lt"/>
              </a:endParaRPr>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5" y="3766146"/>
              <a:ext cx="2654399" cy="615949"/>
            </a:xfrm>
            <a:prstGeom prst="rect">
              <a:avLst/>
            </a:prstGeom>
          </p:spPr>
        </p:pic>
        <p:sp>
          <p:nvSpPr>
            <p:cNvPr id="12" name="Text 7"/>
            <p:cNvSpPr/>
            <p:nvPr/>
          </p:nvSpPr>
          <p:spPr>
            <a:xfrm>
              <a:off x="785615" y="3869035"/>
              <a:ext cx="2397820" cy="148431"/>
            </a:xfrm>
            <a:prstGeom prst="rect">
              <a:avLst/>
            </a:prstGeom>
            <a:noFill/>
            <a:ln/>
          </p:spPr>
          <p:txBody>
            <a:bodyPr wrap="none" lIns="0" tIns="0" rIns="0" bIns="0" rtlCol="0" anchor="t"/>
            <a:lstStyle/>
            <a:p>
              <a:pPr>
                <a:lnSpc>
                  <a:spcPct val="104000"/>
                </a:lnSpc>
              </a:pPr>
              <a:r>
                <a:rPr lang="en-US" sz="1400" dirty="0">
                  <a:solidFill>
                    <a:srgbClr val="FFE5E5"/>
                  </a:solidFill>
                  <a:latin typeface="+mj-lt"/>
                  <a:ea typeface="Dela Gothic One" pitchFamily="34" charset="-122"/>
                  <a:cs typeface="Dela Gothic One" pitchFamily="34" charset="-120"/>
                </a:rPr>
                <a:t>Credential Discovery</a:t>
              </a:r>
              <a:endParaRPr lang="en-US" sz="1400" dirty="0">
                <a:latin typeface="+mj-lt"/>
              </a:endParaRPr>
            </a:p>
          </p:txBody>
        </p:sp>
        <p:sp>
          <p:nvSpPr>
            <p:cNvPr id="13" name="Text 8"/>
            <p:cNvSpPr/>
            <p:nvPr/>
          </p:nvSpPr>
          <p:spPr>
            <a:xfrm>
              <a:off x="785615" y="4062512"/>
              <a:ext cx="2397820" cy="216693"/>
            </a:xfrm>
            <a:prstGeom prst="rect">
              <a:avLst/>
            </a:prstGeom>
            <a:noFill/>
            <a:ln/>
          </p:spPr>
          <p:txBody>
            <a:bodyPr wrap="square" lIns="0" tIns="0" rIns="0" bIns="0" rtlCol="0" anchor="t">
              <a:normAutofit/>
            </a:bodyPr>
            <a:lstStyle/>
            <a:p>
              <a:r>
                <a:rPr lang="en-US" sz="1200" dirty="0">
                  <a:solidFill>
                    <a:srgbClr val="FFE5E5"/>
                  </a:solidFill>
                  <a:latin typeface="+mj-lt"/>
                  <a:ea typeface="DM Sans" pitchFamily="34" charset="-122"/>
                  <a:cs typeface="DM Sans" pitchFamily="34" charset="-120"/>
                </a:rPr>
                <a:t>Searched for plaintext passwords, hashed credentials, SSH keys, and database connection strings.</a:t>
              </a:r>
              <a:endParaRPr lang="en-US" sz="1200" dirty="0">
                <a:latin typeface="+mj-lt"/>
              </a:endParaRPr>
            </a:p>
          </p:txBody>
        </p:sp>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1369" y="3766146"/>
              <a:ext cx="2654499" cy="615949"/>
            </a:xfrm>
            <a:prstGeom prst="rect">
              <a:avLst/>
            </a:prstGeom>
          </p:spPr>
        </p:pic>
        <p:sp>
          <p:nvSpPr>
            <p:cNvPr id="15" name="Text 9"/>
            <p:cNvSpPr/>
            <p:nvPr/>
          </p:nvSpPr>
          <p:spPr>
            <a:xfrm>
              <a:off x="3485059" y="3869035"/>
              <a:ext cx="2397919" cy="148431"/>
            </a:xfrm>
            <a:prstGeom prst="rect">
              <a:avLst/>
            </a:prstGeom>
            <a:noFill/>
            <a:ln/>
          </p:spPr>
          <p:txBody>
            <a:bodyPr wrap="none" lIns="0" tIns="0" rIns="0" bIns="0" rtlCol="0" anchor="t"/>
            <a:lstStyle/>
            <a:p>
              <a:pPr>
                <a:lnSpc>
                  <a:spcPct val="104000"/>
                </a:lnSpc>
              </a:pPr>
              <a:r>
                <a:rPr lang="en-US" sz="1200" dirty="0">
                  <a:solidFill>
                    <a:srgbClr val="FFE5E5"/>
                  </a:solidFill>
                  <a:latin typeface="+mj-lt"/>
                  <a:ea typeface="Dela Gothic One" pitchFamily="34" charset="-122"/>
                  <a:cs typeface="Dela Gothic One" pitchFamily="34" charset="-120"/>
                </a:rPr>
                <a:t>Internal Network Assessment</a:t>
              </a:r>
              <a:endParaRPr lang="en-US" sz="1200" dirty="0">
                <a:latin typeface="+mj-lt"/>
              </a:endParaRPr>
            </a:p>
          </p:txBody>
        </p:sp>
        <p:sp>
          <p:nvSpPr>
            <p:cNvPr id="16" name="Text 10"/>
            <p:cNvSpPr/>
            <p:nvPr/>
          </p:nvSpPr>
          <p:spPr>
            <a:xfrm>
              <a:off x="3485059" y="4062512"/>
              <a:ext cx="2397919" cy="216693"/>
            </a:xfrm>
            <a:prstGeom prst="rect">
              <a:avLst/>
            </a:prstGeom>
            <a:noFill/>
            <a:ln/>
          </p:spPr>
          <p:txBody>
            <a:bodyPr wrap="square" lIns="0" tIns="0" rIns="0" bIns="0" rtlCol="0" anchor="t">
              <a:normAutofit/>
            </a:bodyPr>
            <a:lstStyle/>
            <a:p>
              <a:r>
                <a:rPr lang="en-US" sz="1100" dirty="0">
                  <a:solidFill>
                    <a:srgbClr val="FFE5E5"/>
                  </a:solidFill>
                  <a:latin typeface="+mj-lt"/>
                  <a:ea typeface="DM Sans" pitchFamily="34" charset="-122"/>
                  <a:cs typeface="DM Sans" pitchFamily="34" charset="-120"/>
                </a:rPr>
                <a:t>Scanned adjacent hosts and pivot points to evaluate lateral movement potential.</a:t>
              </a:r>
              <a:endParaRPr lang="en-US" sz="1100" dirty="0">
                <a:latin typeface="+mj-lt"/>
              </a:endParaRPr>
            </a:p>
          </p:txBody>
        </p:sp>
      </p:grpSp>
      <p:pic>
        <p:nvPicPr>
          <p:cNvPr id="17" name="Image 4" descr="preencoded.png"/>
          <p:cNvPicPr>
            <a:picLocks noChangeAspect="1"/>
          </p:cNvPicPr>
          <p:nvPr/>
        </p:nvPicPr>
        <p:blipFill>
          <a:blip r:embed="rId4"/>
          <a:stretch>
            <a:fillRect/>
          </a:stretch>
        </p:blipFill>
        <p:spPr>
          <a:xfrm>
            <a:off x="6212483" y="1066703"/>
            <a:ext cx="5353943" cy="5181698"/>
          </a:xfrm>
          <a:prstGeom prst="rect">
            <a:avLst/>
          </a:prstGeom>
        </p:spPr>
      </p:pic>
      <p:sp>
        <p:nvSpPr>
          <p:cNvPr id="21" name="Footer Placeholder 20">
            <a:extLst>
              <a:ext uri="{FF2B5EF4-FFF2-40B4-BE49-F238E27FC236}">
                <a16:creationId xmlns:a16="http://schemas.microsoft.com/office/drawing/2014/main" id="{6998F52F-0D4B-9B05-9B6A-8374CB9DCF42}"/>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22" name="Slide Number Placeholder 21">
            <a:extLst>
              <a:ext uri="{FF2B5EF4-FFF2-40B4-BE49-F238E27FC236}">
                <a16:creationId xmlns:a16="http://schemas.microsoft.com/office/drawing/2014/main" id="{74062C09-4E63-A718-7EAC-28B7F023EBDC}"/>
              </a:ext>
            </a:extLst>
          </p:cNvPr>
          <p:cNvSpPr>
            <a:spLocks noGrp="1"/>
          </p:cNvSpPr>
          <p:nvPr>
            <p:ph type="sldNum" sz="quarter" idx="4"/>
          </p:nvPr>
        </p:nvSpPr>
        <p:spPr/>
        <p:txBody>
          <a:bodyPr/>
          <a:lstStyle/>
          <a:p>
            <a:fld id="{08D6B0A0-5113-456A-82B3-EA8CCD6D43D8}" type="slidenum">
              <a:rPr lang="en-US" smtClean="0">
                <a:latin typeface="+mj-lt"/>
              </a:rPr>
              <a:t>24</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378446" y="198333"/>
            <a:ext cx="1908218" cy="360561"/>
          </a:xfrm>
          <a:prstGeom prst="roundRect">
            <a:avLst>
              <a:gd name="adj" fmla="val 22137"/>
            </a:avLst>
          </a:prstGeom>
          <a:noFill/>
          <a:ln w="4763">
            <a:solidFill>
              <a:srgbClr val="C91313"/>
            </a:solidFill>
            <a:prstDash val="solid"/>
          </a:ln>
        </p:spPr>
        <p:txBody>
          <a:bodyPr/>
          <a:lstStyle/>
          <a:p>
            <a:endParaRPr lang="en-US" sz="2400">
              <a:latin typeface="+mj-lt"/>
            </a:endParaRPr>
          </a:p>
        </p:txBody>
      </p:sp>
      <p:sp>
        <p:nvSpPr>
          <p:cNvPr id="3" name="Text 1"/>
          <p:cNvSpPr/>
          <p:nvPr/>
        </p:nvSpPr>
        <p:spPr>
          <a:xfrm>
            <a:off x="1480326" y="289661"/>
            <a:ext cx="1384895" cy="296863"/>
          </a:xfrm>
          <a:prstGeom prst="rect">
            <a:avLst/>
          </a:prstGeom>
          <a:noFill/>
          <a:ln/>
        </p:spPr>
        <p:txBody>
          <a:bodyPr wrap="none" lIns="0" tIns="0" rIns="0" bIns="0" rtlCol="0" anchor="t"/>
          <a:lstStyle/>
          <a:p>
            <a:pPr>
              <a:lnSpc>
                <a:spcPct val="96000"/>
              </a:lnSpc>
            </a:pPr>
            <a:r>
              <a:rPr lang="en-US" sz="1200" dirty="0">
                <a:solidFill>
                  <a:srgbClr val="C91313"/>
                </a:solidFill>
                <a:latin typeface="+mj-lt"/>
                <a:ea typeface="DM Sans" pitchFamily="34" charset="-122"/>
                <a:cs typeface="DM Sans" pitchFamily="34" charset="-120"/>
              </a:rPr>
              <a:t>PHASE 06 </a:t>
            </a:r>
            <a:r>
              <a:rPr lang="ar-EG" sz="1200" dirty="0">
                <a:solidFill>
                  <a:srgbClr val="C91313"/>
                </a:solidFill>
                <a:latin typeface="+mj-lt"/>
                <a:ea typeface="DM Sans" pitchFamily="34" charset="-122"/>
                <a:cs typeface="DM Sans" pitchFamily="34" charset="-120"/>
              </a:rPr>
              <a:t>:</a:t>
            </a:r>
            <a:r>
              <a:rPr lang="en-US" sz="1200" dirty="0">
                <a:solidFill>
                  <a:srgbClr val="C91313"/>
                </a:solidFill>
                <a:latin typeface="+mj-lt"/>
                <a:ea typeface="DM Sans" pitchFamily="34" charset="-122"/>
                <a:cs typeface="DM Sans" pitchFamily="34" charset="-120"/>
              </a:rPr>
              <a:t> EVIDENCE</a:t>
            </a:r>
            <a:endParaRPr lang="en-US" sz="1200" dirty="0">
              <a:latin typeface="+mj-lt"/>
            </a:endParaRPr>
          </a:p>
        </p:txBody>
      </p:sp>
      <p:sp>
        <p:nvSpPr>
          <p:cNvPr id="4" name="Text 2"/>
          <p:cNvSpPr/>
          <p:nvPr/>
        </p:nvSpPr>
        <p:spPr>
          <a:xfrm>
            <a:off x="1891921" y="890112"/>
            <a:ext cx="2837097" cy="615415"/>
          </a:xfrm>
          <a:prstGeom prst="rect">
            <a:avLst/>
          </a:prstGeom>
          <a:noFill/>
          <a:ln/>
        </p:spPr>
        <p:txBody>
          <a:bodyPr wrap="none" lIns="0" tIns="0" rIns="0" bIns="0" rtlCol="0" anchor="t"/>
          <a:lstStyle/>
          <a:p>
            <a:pPr>
              <a:lnSpc>
                <a:spcPct val="104000"/>
              </a:lnSpc>
            </a:pPr>
            <a:r>
              <a:rPr lang="en-US" sz="3600" dirty="0">
                <a:solidFill>
                  <a:srgbClr val="FAEBEB"/>
                </a:solidFill>
                <a:latin typeface="+mj-lt"/>
                <a:ea typeface="Dela Gothic One" pitchFamily="34" charset="-122"/>
                <a:cs typeface="Dela Gothic One" pitchFamily="34" charset="-120"/>
              </a:rPr>
              <a:t>Key Findings</a:t>
            </a:r>
            <a:endParaRPr lang="en-US" sz="3600" dirty="0">
              <a:latin typeface="+mj-lt"/>
            </a:endParaRPr>
          </a:p>
        </p:txBody>
      </p:sp>
      <p:sp>
        <p:nvSpPr>
          <p:cNvPr id="5" name="Text 3"/>
          <p:cNvSpPr/>
          <p:nvPr/>
        </p:nvSpPr>
        <p:spPr>
          <a:xfrm>
            <a:off x="661582" y="2018464"/>
            <a:ext cx="4003408" cy="469014"/>
          </a:xfrm>
          <a:prstGeom prst="rect">
            <a:avLst/>
          </a:prstGeom>
          <a:noFill/>
          <a:ln/>
        </p:spPr>
        <p:txBody>
          <a:bodyPr wrap="none" lIns="0" tIns="0" rIns="0" bIns="0" rtlCol="0" anchor="t"/>
          <a:lstStyle/>
          <a:p>
            <a:pPr>
              <a:lnSpc>
                <a:spcPct val="104000"/>
              </a:lnSpc>
            </a:pPr>
            <a:r>
              <a:rPr lang="en-US" sz="2800" dirty="0">
                <a:solidFill>
                  <a:srgbClr val="FAEBEB"/>
                </a:solidFill>
                <a:latin typeface="+mj-lt"/>
                <a:ea typeface="Dela Gothic One" pitchFamily="34" charset="-122"/>
                <a:cs typeface="Dela Gothic One" pitchFamily="34" charset="-120"/>
              </a:rPr>
              <a:t>System Enumeration</a:t>
            </a:r>
            <a:endParaRPr lang="en-US" sz="2800" dirty="0">
              <a:latin typeface="+mj-lt"/>
            </a:endParaRPr>
          </a:p>
        </p:txBody>
      </p:sp>
      <p:sp>
        <p:nvSpPr>
          <p:cNvPr id="6" name="Text 4"/>
          <p:cNvSpPr/>
          <p:nvPr/>
        </p:nvSpPr>
        <p:spPr>
          <a:xfrm>
            <a:off x="422375" y="2880868"/>
            <a:ext cx="5353943" cy="1127714"/>
          </a:xfrm>
          <a:prstGeom prst="rect">
            <a:avLst/>
          </a:prstGeom>
          <a:noFill/>
          <a:ln/>
        </p:spPr>
        <p:txBody>
          <a:bodyPr wrap="square" lIns="0" tIns="0" rIns="0" bIns="0" rtlCol="0" anchor="t">
            <a:noAutofit/>
          </a:bodyPr>
          <a:lstStyle/>
          <a:p>
            <a:r>
              <a:rPr lang="en-US" sz="2000" dirty="0">
                <a:solidFill>
                  <a:srgbClr val="FFE5E5"/>
                </a:solidFill>
                <a:ea typeface="DM Sans" pitchFamily="34" charset="-122"/>
                <a:cs typeface="DM Sans" pitchFamily="34" charset="-120"/>
              </a:rPr>
              <a:t>Host profiling revealed OS details, active services, and user accounts confirming the scope of accessible resources post compromise.</a:t>
            </a:r>
            <a:endParaRPr lang="en-US" sz="2000" dirty="0"/>
          </a:p>
        </p:txBody>
      </p:sp>
      <p:pic>
        <p:nvPicPr>
          <p:cNvPr id="7" name="Image 0" descr="preencoded.png"/>
          <p:cNvPicPr>
            <a:picLocks noChangeAspect="1"/>
          </p:cNvPicPr>
          <p:nvPr/>
        </p:nvPicPr>
        <p:blipFill>
          <a:blip r:embed="rId3"/>
          <a:stretch>
            <a:fillRect/>
          </a:stretch>
        </p:blipFill>
        <p:spPr>
          <a:xfrm>
            <a:off x="6206132" y="262030"/>
            <a:ext cx="5353943" cy="5353943"/>
          </a:xfrm>
          <a:prstGeom prst="rect">
            <a:avLst/>
          </a:prstGeom>
        </p:spPr>
      </p:pic>
      <p:sp>
        <p:nvSpPr>
          <p:cNvPr id="8" name="Shape 5"/>
          <p:cNvSpPr/>
          <p:nvPr/>
        </p:nvSpPr>
        <p:spPr>
          <a:xfrm>
            <a:off x="733718" y="5715542"/>
            <a:ext cx="10620082" cy="349467"/>
          </a:xfrm>
          <a:prstGeom prst="roundRect">
            <a:avLst>
              <a:gd name="adj" fmla="val 15390"/>
            </a:avLst>
          </a:prstGeom>
          <a:solidFill>
            <a:srgbClr val="740B0B"/>
          </a:solidFill>
          <a:ln/>
        </p:spPr>
        <p:txBody>
          <a:bodyPr/>
          <a:lstStyle/>
          <a:p>
            <a:endParaRPr lang="en-US" sz="2400" dirty="0">
              <a:latin typeface="+mj-lt"/>
            </a:endParaRPr>
          </a:p>
        </p:txBody>
      </p:sp>
      <p:pic>
        <p:nvPicPr>
          <p:cNvPr id="9" name="Image 1" descr="preencoded.png"/>
          <p:cNvPicPr>
            <a:picLocks noChangeAspect="1"/>
          </p:cNvPicPr>
          <p:nvPr/>
        </p:nvPicPr>
        <p:blipFill>
          <a:blip r:embed="rId4"/>
          <a:stretch>
            <a:fillRect/>
          </a:stretch>
        </p:blipFill>
        <p:spPr>
          <a:xfrm>
            <a:off x="793996" y="5665805"/>
            <a:ext cx="314032" cy="251057"/>
          </a:xfrm>
          <a:prstGeom prst="rect">
            <a:avLst/>
          </a:prstGeom>
        </p:spPr>
      </p:pic>
      <p:sp>
        <p:nvSpPr>
          <p:cNvPr id="10" name="Text 6"/>
          <p:cNvSpPr/>
          <p:nvPr/>
        </p:nvSpPr>
        <p:spPr>
          <a:xfrm>
            <a:off x="1136378" y="5767255"/>
            <a:ext cx="10217422" cy="299215"/>
          </a:xfrm>
          <a:prstGeom prst="rect">
            <a:avLst/>
          </a:prstGeom>
          <a:noFill/>
          <a:ln/>
        </p:spPr>
        <p:txBody>
          <a:bodyPr wrap="none" lIns="0" tIns="0" rIns="0" bIns="0" rtlCol="0" anchor="t"/>
          <a:lstStyle/>
          <a:p>
            <a:r>
              <a:rPr lang="en-US" sz="1200" b="1" dirty="0">
                <a:solidFill>
                  <a:srgbClr val="FFFFFF"/>
                </a:solidFill>
                <a:latin typeface="+mj-lt"/>
                <a:ea typeface="DM Sans Bold" pitchFamily="34" charset="-122"/>
                <a:cs typeface="DM Sans Bold" pitchFamily="34" charset="-120"/>
              </a:rPr>
              <a:t>Credential Exposure:</a:t>
            </a:r>
            <a:r>
              <a:rPr lang="en-US" sz="1200" dirty="0">
                <a:solidFill>
                  <a:srgbClr val="FFFFFF"/>
                </a:solidFill>
                <a:latin typeface="+mj-lt"/>
                <a:ea typeface="DM Sans" pitchFamily="34" charset="-122"/>
                <a:cs typeface="DM Sans" pitchFamily="34" charset="-120"/>
              </a:rPr>
              <a:t> Database credentials were discovered in plaintext within configuration files a critical finding enabling full data tier access.</a:t>
            </a:r>
            <a:endParaRPr lang="en-US" sz="1200" dirty="0">
              <a:latin typeface="+mj-lt"/>
            </a:endParaRPr>
          </a:p>
        </p:txBody>
      </p:sp>
      <p:sp>
        <p:nvSpPr>
          <p:cNvPr id="13" name="Footer Placeholder 12">
            <a:extLst>
              <a:ext uri="{FF2B5EF4-FFF2-40B4-BE49-F238E27FC236}">
                <a16:creationId xmlns:a16="http://schemas.microsoft.com/office/drawing/2014/main" id="{F528730F-ABB9-E466-F724-E0EFF35A38EE}"/>
              </a:ext>
            </a:extLst>
          </p:cNvPr>
          <p:cNvSpPr>
            <a:spLocks noGrp="1"/>
          </p:cNvSpPr>
          <p:nvPr>
            <p:ph type="ftr" sz="quarter" idx="3"/>
          </p:nvPr>
        </p:nvSpPr>
        <p:spPr/>
        <p:txBody>
          <a:bodyPr/>
          <a:lstStyle/>
          <a:p>
            <a:r>
              <a:rPr lang="en-US" dirty="0">
                <a:latin typeface="+mj-lt"/>
              </a:rPr>
              <a:t>Zero Trace Imperium</a:t>
            </a:r>
          </a:p>
        </p:txBody>
      </p:sp>
      <p:sp>
        <p:nvSpPr>
          <p:cNvPr id="14" name="Slide Number Placeholder 13">
            <a:extLst>
              <a:ext uri="{FF2B5EF4-FFF2-40B4-BE49-F238E27FC236}">
                <a16:creationId xmlns:a16="http://schemas.microsoft.com/office/drawing/2014/main" id="{6166B95F-EF80-2BE4-FECB-4B1C83884905}"/>
              </a:ext>
            </a:extLst>
          </p:cNvPr>
          <p:cNvSpPr>
            <a:spLocks noGrp="1"/>
          </p:cNvSpPr>
          <p:nvPr>
            <p:ph type="sldNum" sz="quarter" idx="4"/>
          </p:nvPr>
        </p:nvSpPr>
        <p:spPr/>
        <p:txBody>
          <a:bodyPr/>
          <a:lstStyle/>
          <a:p>
            <a:fld id="{08D6B0A0-5113-456A-82B3-EA8CCD6D43D8}" type="slidenum">
              <a:rPr lang="en-US" smtClean="0">
                <a:latin typeface="+mj-lt"/>
              </a:rPr>
              <a:t>25</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24" y="1606252"/>
            <a:ext cx="1153743" cy="238126"/>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740173" y="1660327"/>
            <a:ext cx="1436588"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LAB REPORT</a:t>
            </a:r>
            <a:endParaRPr lang="en-US" sz="1133" dirty="0">
              <a:latin typeface="+mj-lt"/>
            </a:endParaRPr>
          </a:p>
        </p:txBody>
      </p:sp>
      <p:sp>
        <p:nvSpPr>
          <p:cNvPr id="4" name="Text 2"/>
          <p:cNvSpPr/>
          <p:nvPr/>
        </p:nvSpPr>
        <p:spPr>
          <a:xfrm>
            <a:off x="631924" y="1952626"/>
            <a:ext cx="10928152"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Phase 07</a:t>
            </a:r>
            <a:r>
              <a:rPr lang="ar-EG" sz="3733" dirty="0">
                <a:solidFill>
                  <a:srgbClr val="FAEBEB"/>
                </a:solidFill>
                <a:latin typeface="+mj-lt"/>
                <a:ea typeface="Dela Gothic One" pitchFamily="34" charset="-122"/>
                <a:cs typeface="Dela Gothic One" pitchFamily="34" charset="-120"/>
              </a:rPr>
              <a:t> </a:t>
            </a:r>
            <a:r>
              <a:rPr lang="en-US" sz="3733" dirty="0">
                <a:solidFill>
                  <a:srgbClr val="FAEBEB"/>
                </a:solidFill>
                <a:latin typeface="+mj-lt"/>
                <a:ea typeface="Dela Gothic One" pitchFamily="34" charset="-122"/>
                <a:cs typeface="Dela Gothic One" pitchFamily="34" charset="-120"/>
              </a:rPr>
              <a:t>: Persistence</a:t>
            </a:r>
            <a:endParaRPr lang="en-US" sz="3733" dirty="0">
              <a:latin typeface="+mj-lt"/>
            </a:endParaRPr>
          </a:p>
        </p:txBody>
      </p:sp>
      <p:sp>
        <p:nvSpPr>
          <p:cNvPr id="5" name="Text 3"/>
          <p:cNvSpPr/>
          <p:nvPr/>
        </p:nvSpPr>
        <p:spPr>
          <a:xfrm>
            <a:off x="631924" y="2817316"/>
            <a:ext cx="10928152"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Persistence techniques were demonstrated to understand how attackers maintain long term access after initial compromise and what defenders must detect to prevent it.</a:t>
            </a:r>
            <a:endParaRPr lang="en-US" sz="1400" dirty="0"/>
          </a:p>
        </p:txBody>
      </p:sp>
      <p:sp>
        <p:nvSpPr>
          <p:cNvPr id="6" name="Shape 4"/>
          <p:cNvSpPr/>
          <p:nvPr/>
        </p:nvSpPr>
        <p:spPr>
          <a:xfrm>
            <a:off x="631924" y="3598267"/>
            <a:ext cx="10928152" cy="1653480"/>
          </a:xfrm>
          <a:prstGeom prst="roundRect">
            <a:avLst>
              <a:gd name="adj" fmla="val 4586"/>
            </a:avLst>
          </a:prstGeom>
          <a:solidFill>
            <a:srgbClr val="740B0B"/>
          </a:solidFill>
          <a:ln w="4763">
            <a:solidFill>
              <a:srgbClr val="8D2424"/>
            </a:solidFill>
            <a:prstDash val="solid"/>
          </a:ln>
        </p:spPr>
        <p:txBody>
          <a:bodyPr/>
          <a:lstStyle/>
          <a:p>
            <a:endParaRPr lang="en-US" sz="2400"/>
          </a:p>
        </p:txBody>
      </p:sp>
      <p:sp>
        <p:nvSpPr>
          <p:cNvPr id="7" name="Shape 5"/>
          <p:cNvSpPr/>
          <p:nvPr/>
        </p:nvSpPr>
        <p:spPr>
          <a:xfrm>
            <a:off x="638275" y="3604618"/>
            <a:ext cx="3638451" cy="1640780"/>
          </a:xfrm>
          <a:prstGeom prst="rect">
            <a:avLst/>
          </a:prstGeom>
          <a:solidFill>
            <a:srgbClr val="740B0B"/>
          </a:solidFill>
          <a:ln/>
        </p:spPr>
        <p:txBody>
          <a:bodyPr/>
          <a:lstStyle/>
          <a:p>
            <a:endParaRPr lang="en-US" sz="2400"/>
          </a:p>
        </p:txBody>
      </p:sp>
      <p:sp>
        <p:nvSpPr>
          <p:cNvPr id="8" name="Text 6"/>
          <p:cNvSpPr/>
          <p:nvPr/>
        </p:nvSpPr>
        <p:spPr>
          <a:xfrm>
            <a:off x="818754" y="3785096"/>
            <a:ext cx="3277493" cy="593725"/>
          </a:xfrm>
          <a:prstGeom prst="rect">
            <a:avLst/>
          </a:prstGeom>
          <a:noFill/>
          <a:ln/>
        </p:spPr>
        <p:txBody>
          <a:bodyPr wrap="square" lIns="0" tIns="0" rIns="0" bIns="0" rtlCol="0" anchor="t">
            <a:normAutofit/>
          </a:bodyPr>
          <a:lstStyle/>
          <a:p>
            <a:pPr>
              <a:lnSpc>
                <a:spcPct val="104000"/>
              </a:lnSpc>
            </a:pPr>
            <a:r>
              <a:rPr lang="en-US" sz="1867" dirty="0">
                <a:solidFill>
                  <a:srgbClr val="FFE5E5"/>
                </a:solidFill>
                <a:ea typeface="Dela Gothic One" pitchFamily="34" charset="-122"/>
                <a:cs typeface="Dela Gothic One" pitchFamily="34" charset="-120"/>
              </a:rPr>
              <a:t>Demonstrate Persistence</a:t>
            </a:r>
            <a:endParaRPr lang="en-US" sz="1867" dirty="0"/>
          </a:p>
        </p:txBody>
      </p:sp>
      <p:sp>
        <p:nvSpPr>
          <p:cNvPr id="9" name="Text 7"/>
          <p:cNvSpPr/>
          <p:nvPr/>
        </p:nvSpPr>
        <p:spPr>
          <a:xfrm>
            <a:off x="818754" y="4487069"/>
            <a:ext cx="3277493"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Show real world techniques used to survive reboots and session loss.</a:t>
            </a:r>
            <a:endParaRPr lang="en-US" sz="1400" dirty="0"/>
          </a:p>
        </p:txBody>
      </p:sp>
      <p:sp>
        <p:nvSpPr>
          <p:cNvPr id="10" name="Shape 8"/>
          <p:cNvSpPr/>
          <p:nvPr/>
        </p:nvSpPr>
        <p:spPr>
          <a:xfrm>
            <a:off x="4276725" y="3604618"/>
            <a:ext cx="3638451" cy="1640780"/>
          </a:xfrm>
          <a:prstGeom prst="rect">
            <a:avLst/>
          </a:prstGeom>
          <a:solidFill>
            <a:srgbClr val="740B0B"/>
          </a:solidFill>
          <a:ln/>
        </p:spPr>
        <p:txBody>
          <a:bodyPr/>
          <a:lstStyle/>
          <a:p>
            <a:endParaRPr lang="en-US" sz="2400"/>
          </a:p>
        </p:txBody>
      </p:sp>
      <p:sp>
        <p:nvSpPr>
          <p:cNvPr id="11" name="Shape 9"/>
          <p:cNvSpPr/>
          <p:nvPr/>
        </p:nvSpPr>
        <p:spPr>
          <a:xfrm>
            <a:off x="4276725" y="3604618"/>
            <a:ext cx="25400" cy="1640780"/>
          </a:xfrm>
          <a:prstGeom prst="roundRect">
            <a:avLst>
              <a:gd name="adj" fmla="val 298550"/>
            </a:avLst>
          </a:prstGeom>
          <a:solidFill>
            <a:srgbClr val="8D2424"/>
          </a:solidFill>
          <a:ln/>
        </p:spPr>
        <p:txBody>
          <a:bodyPr/>
          <a:lstStyle/>
          <a:p>
            <a:endParaRPr lang="en-US" sz="2400"/>
          </a:p>
        </p:txBody>
      </p:sp>
      <p:sp>
        <p:nvSpPr>
          <p:cNvPr id="12" name="Text 10"/>
          <p:cNvSpPr/>
          <p:nvPr/>
        </p:nvSpPr>
        <p:spPr>
          <a:xfrm>
            <a:off x="4457204" y="3785096"/>
            <a:ext cx="3277493" cy="593725"/>
          </a:xfrm>
          <a:prstGeom prst="rect">
            <a:avLst/>
          </a:prstGeom>
          <a:noFill/>
          <a:ln/>
        </p:spPr>
        <p:txBody>
          <a:bodyPr wrap="square" lIns="0" tIns="0" rIns="0" bIns="0" rtlCol="0" anchor="t">
            <a:normAutofit/>
          </a:bodyPr>
          <a:lstStyle/>
          <a:p>
            <a:pPr>
              <a:lnSpc>
                <a:spcPct val="104000"/>
              </a:lnSpc>
            </a:pPr>
            <a:r>
              <a:rPr lang="en-US" sz="1867" dirty="0">
                <a:solidFill>
                  <a:srgbClr val="FFE5E5"/>
                </a:solidFill>
                <a:ea typeface="Dela Gothic One" pitchFamily="34" charset="-122"/>
                <a:cs typeface="Dela Gothic One" pitchFamily="34" charset="-120"/>
              </a:rPr>
              <a:t>Understand Long-Term Access</a:t>
            </a:r>
            <a:endParaRPr lang="en-US" sz="1867" dirty="0"/>
          </a:p>
        </p:txBody>
      </p:sp>
      <p:sp>
        <p:nvSpPr>
          <p:cNvPr id="13" name="Text 11"/>
          <p:cNvSpPr/>
          <p:nvPr/>
        </p:nvSpPr>
        <p:spPr>
          <a:xfrm>
            <a:off x="4457204" y="4487069"/>
            <a:ext cx="3277493"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Evaluate how adversaries establish durable footholds inside a network.</a:t>
            </a:r>
            <a:endParaRPr lang="en-US" sz="1400" dirty="0"/>
          </a:p>
        </p:txBody>
      </p:sp>
      <p:sp>
        <p:nvSpPr>
          <p:cNvPr id="14" name="Shape 12"/>
          <p:cNvSpPr/>
          <p:nvPr/>
        </p:nvSpPr>
        <p:spPr>
          <a:xfrm>
            <a:off x="7915176" y="3604618"/>
            <a:ext cx="3638451" cy="1640780"/>
          </a:xfrm>
          <a:prstGeom prst="rect">
            <a:avLst/>
          </a:prstGeom>
          <a:solidFill>
            <a:srgbClr val="740B0B"/>
          </a:solidFill>
          <a:ln/>
        </p:spPr>
        <p:txBody>
          <a:bodyPr/>
          <a:lstStyle/>
          <a:p>
            <a:endParaRPr lang="en-US" sz="2400"/>
          </a:p>
        </p:txBody>
      </p:sp>
      <p:sp>
        <p:nvSpPr>
          <p:cNvPr id="15" name="Shape 13"/>
          <p:cNvSpPr/>
          <p:nvPr/>
        </p:nvSpPr>
        <p:spPr>
          <a:xfrm>
            <a:off x="7915176" y="3604618"/>
            <a:ext cx="25400" cy="1640780"/>
          </a:xfrm>
          <a:prstGeom prst="roundRect">
            <a:avLst>
              <a:gd name="adj" fmla="val 298550"/>
            </a:avLst>
          </a:prstGeom>
          <a:solidFill>
            <a:srgbClr val="8D2424"/>
          </a:solidFill>
          <a:ln/>
        </p:spPr>
        <p:txBody>
          <a:bodyPr/>
          <a:lstStyle/>
          <a:p>
            <a:endParaRPr lang="en-US" sz="2400"/>
          </a:p>
        </p:txBody>
      </p:sp>
      <p:sp>
        <p:nvSpPr>
          <p:cNvPr id="16" name="Text 14"/>
          <p:cNvSpPr/>
          <p:nvPr/>
        </p:nvSpPr>
        <p:spPr>
          <a:xfrm>
            <a:off x="8095655" y="3785097"/>
            <a:ext cx="3277493" cy="296863"/>
          </a:xfrm>
          <a:prstGeom prst="rect">
            <a:avLst/>
          </a:prstGeom>
          <a:noFill/>
          <a:ln/>
        </p:spPr>
        <p:txBody>
          <a:bodyPr wrap="none" lIns="0" tIns="0" rIns="0" bIns="0" rtlCol="0" anchor="t"/>
          <a:lstStyle/>
          <a:p>
            <a:pPr>
              <a:lnSpc>
                <a:spcPct val="104000"/>
              </a:lnSpc>
            </a:pPr>
            <a:r>
              <a:rPr lang="en-US" sz="1867" dirty="0">
                <a:solidFill>
                  <a:srgbClr val="FFE5E5"/>
                </a:solidFill>
                <a:ea typeface="Dela Gothic One" pitchFamily="34" charset="-122"/>
                <a:cs typeface="Dela Gothic One" pitchFamily="34" charset="-120"/>
              </a:rPr>
              <a:t>Evaluate Detection</a:t>
            </a:r>
            <a:endParaRPr lang="en-US" sz="1867" dirty="0"/>
          </a:p>
        </p:txBody>
      </p:sp>
      <p:sp>
        <p:nvSpPr>
          <p:cNvPr id="17" name="Text 15"/>
          <p:cNvSpPr/>
          <p:nvPr/>
        </p:nvSpPr>
        <p:spPr>
          <a:xfrm>
            <a:off x="8095655" y="4412186"/>
            <a:ext cx="3277493" cy="866775"/>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Assess whether existing monitoring and alerting would catch these techniques.</a:t>
            </a:r>
            <a:endParaRPr lang="en-US" sz="1400" dirty="0"/>
          </a:p>
        </p:txBody>
      </p:sp>
      <p:sp>
        <p:nvSpPr>
          <p:cNvPr id="20" name="Footer Placeholder 19">
            <a:extLst>
              <a:ext uri="{FF2B5EF4-FFF2-40B4-BE49-F238E27FC236}">
                <a16:creationId xmlns:a16="http://schemas.microsoft.com/office/drawing/2014/main" id="{E5FD3C36-F3CB-6A41-BC95-4EF155F6D836}"/>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21" name="Slide Number Placeholder 20">
            <a:extLst>
              <a:ext uri="{FF2B5EF4-FFF2-40B4-BE49-F238E27FC236}">
                <a16:creationId xmlns:a16="http://schemas.microsoft.com/office/drawing/2014/main" id="{A6FD7688-5205-7B63-DEFB-7FF6AAA720A4}"/>
              </a:ext>
            </a:extLst>
          </p:cNvPr>
          <p:cNvSpPr>
            <a:spLocks noGrp="1"/>
          </p:cNvSpPr>
          <p:nvPr>
            <p:ph type="sldNum" sz="quarter" idx="4"/>
          </p:nvPr>
        </p:nvSpPr>
        <p:spPr/>
        <p:txBody>
          <a:bodyPr/>
          <a:lstStyle/>
          <a:p>
            <a:fld id="{08D6B0A0-5113-456A-82B3-EA8CCD6D43D8}" type="slidenum">
              <a:rPr lang="en-US" smtClean="0">
                <a:latin typeface="+mj-lt"/>
              </a:rPr>
              <a:t>26</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788617" y="354150"/>
            <a:ext cx="1592938" cy="391717"/>
          </a:xfrm>
          <a:prstGeom prst="roundRect">
            <a:avLst>
              <a:gd name="adj" fmla="val 22137"/>
            </a:avLst>
          </a:prstGeom>
          <a:noFill/>
          <a:ln w="4763">
            <a:solidFill>
              <a:srgbClr val="C91313"/>
            </a:solidFill>
            <a:prstDash val="solid"/>
          </a:ln>
        </p:spPr>
        <p:txBody>
          <a:bodyPr/>
          <a:lstStyle/>
          <a:p>
            <a:endParaRPr lang="en-US" sz="2400">
              <a:latin typeface="+mj-lt"/>
            </a:endParaRPr>
          </a:p>
        </p:txBody>
      </p:sp>
      <p:sp>
        <p:nvSpPr>
          <p:cNvPr id="3" name="Text 1"/>
          <p:cNvSpPr/>
          <p:nvPr/>
        </p:nvSpPr>
        <p:spPr>
          <a:xfrm>
            <a:off x="1873885" y="395107"/>
            <a:ext cx="1205407" cy="391717"/>
          </a:xfrm>
          <a:prstGeom prst="rect">
            <a:avLst/>
          </a:prstGeom>
          <a:noFill/>
          <a:ln/>
        </p:spPr>
        <p:txBody>
          <a:bodyPr wrap="none" lIns="0" tIns="0" rIns="0" bIns="0" rtlCol="0" anchor="t"/>
          <a:lstStyle/>
          <a:p>
            <a:pPr>
              <a:lnSpc>
                <a:spcPct val="96000"/>
              </a:lnSpc>
            </a:pPr>
            <a:r>
              <a:rPr lang="en-US" sz="2000" dirty="0">
                <a:solidFill>
                  <a:srgbClr val="C91313"/>
                </a:solidFill>
                <a:latin typeface="+mj-lt"/>
                <a:ea typeface="DM Sans" pitchFamily="34" charset="-122"/>
                <a:cs typeface="DM Sans" pitchFamily="34" charset="-120"/>
              </a:rPr>
              <a:t>PHASE : 07</a:t>
            </a:r>
            <a:endParaRPr lang="en-US" sz="2000" dirty="0">
              <a:latin typeface="+mj-lt"/>
            </a:endParaRPr>
          </a:p>
        </p:txBody>
      </p:sp>
      <p:sp>
        <p:nvSpPr>
          <p:cNvPr id="4" name="Text 2"/>
          <p:cNvSpPr/>
          <p:nvPr/>
        </p:nvSpPr>
        <p:spPr>
          <a:xfrm>
            <a:off x="324050" y="982464"/>
            <a:ext cx="10928152" cy="296863"/>
          </a:xfrm>
          <a:prstGeom prst="rect">
            <a:avLst/>
          </a:prstGeom>
          <a:noFill/>
          <a:ln/>
        </p:spPr>
        <p:txBody>
          <a:bodyPr wrap="none" lIns="0" tIns="0" rIns="0" bIns="0" rtlCol="0" anchor="t"/>
          <a:lstStyle/>
          <a:p>
            <a:pPr>
              <a:lnSpc>
                <a:spcPct val="104000"/>
              </a:lnSpc>
            </a:pPr>
            <a:r>
              <a:rPr lang="en-US" sz="3200" dirty="0">
                <a:solidFill>
                  <a:srgbClr val="FAEBEB"/>
                </a:solidFill>
                <a:latin typeface="+mj-lt"/>
                <a:ea typeface="Dela Gothic One" pitchFamily="34" charset="-122"/>
                <a:cs typeface="Dela Gothic One" pitchFamily="34" charset="-120"/>
              </a:rPr>
              <a:t>Techniques Demonstrated</a:t>
            </a:r>
            <a:endParaRPr lang="en-US" sz="3200" dirty="0">
              <a:latin typeface="+mj-lt"/>
            </a:endParaRPr>
          </a:p>
        </p:txBody>
      </p:sp>
      <p:grpSp>
        <p:nvGrpSpPr>
          <p:cNvPr id="16" name="Group 15">
            <a:extLst>
              <a:ext uri="{FF2B5EF4-FFF2-40B4-BE49-F238E27FC236}">
                <a16:creationId xmlns:a16="http://schemas.microsoft.com/office/drawing/2014/main" id="{4A3DE787-25D4-EFFE-63BB-D17A1524373E}"/>
              </a:ext>
            </a:extLst>
          </p:cNvPr>
          <p:cNvGrpSpPr/>
          <p:nvPr/>
        </p:nvGrpSpPr>
        <p:grpSpPr>
          <a:xfrm>
            <a:off x="324050" y="1871662"/>
            <a:ext cx="5353943" cy="3114675"/>
            <a:chOff x="631925" y="3268663"/>
            <a:chExt cx="5353943" cy="949920"/>
          </a:xfrm>
        </p:grpSpPr>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5" y="3268663"/>
              <a:ext cx="2654399" cy="949920"/>
            </a:xfrm>
            <a:prstGeom prst="rect">
              <a:avLst/>
            </a:prstGeom>
          </p:spPr>
        </p:pic>
        <p:sp>
          <p:nvSpPr>
            <p:cNvPr id="6" name="Text 3"/>
            <p:cNvSpPr/>
            <p:nvPr/>
          </p:nvSpPr>
          <p:spPr>
            <a:xfrm>
              <a:off x="1689498" y="3325019"/>
              <a:ext cx="406994" cy="169267"/>
            </a:xfrm>
            <a:prstGeom prst="rect">
              <a:avLst/>
            </a:prstGeom>
            <a:noFill/>
            <a:ln/>
          </p:spPr>
          <p:txBody>
            <a:bodyPr wrap="none" lIns="0" tIns="0" rIns="0" bIns="0" rtlCol="0" anchor="ctr"/>
            <a:lstStyle/>
            <a:p>
              <a:pPr algn="ctr"/>
              <a:r>
                <a:rPr lang="en-US" sz="3200" dirty="0">
                  <a:solidFill>
                    <a:srgbClr val="FFE5E5"/>
                  </a:solidFill>
                  <a:ea typeface="Dela Gothic One" pitchFamily="34" charset="-122"/>
                  <a:cs typeface="Dela Gothic One" pitchFamily="34" charset="-120"/>
                </a:rPr>
                <a:t>1</a:t>
              </a:r>
              <a:endParaRPr lang="en-US" sz="3200" dirty="0"/>
            </a:p>
          </p:txBody>
        </p:sp>
        <p:sp>
          <p:nvSpPr>
            <p:cNvPr id="7" name="Text 4"/>
            <p:cNvSpPr/>
            <p:nvPr/>
          </p:nvSpPr>
          <p:spPr>
            <a:xfrm>
              <a:off x="734815" y="3597177"/>
              <a:ext cx="2448620" cy="148431"/>
            </a:xfrm>
            <a:prstGeom prst="rect">
              <a:avLst/>
            </a:prstGeom>
            <a:noFill/>
            <a:ln/>
          </p:spPr>
          <p:txBody>
            <a:bodyPr wrap="none" lIns="0" tIns="0" rIns="0" bIns="0" rtlCol="0" anchor="t"/>
            <a:lstStyle/>
            <a:p>
              <a:pPr>
                <a:lnSpc>
                  <a:spcPct val="104000"/>
                </a:lnSpc>
              </a:pPr>
              <a:r>
                <a:rPr lang="en-US" dirty="0">
                  <a:solidFill>
                    <a:srgbClr val="FFE5E5"/>
                  </a:solidFill>
                  <a:ea typeface="Dela Gothic One" pitchFamily="34" charset="-122"/>
                  <a:cs typeface="Dela Gothic One" pitchFamily="34" charset="-120"/>
                </a:rPr>
                <a:t>Web Shell Persistence</a:t>
              </a:r>
              <a:endParaRPr lang="en-US" dirty="0"/>
            </a:p>
          </p:txBody>
        </p:sp>
        <p:sp>
          <p:nvSpPr>
            <p:cNvPr id="8" name="Text 5"/>
            <p:cNvSpPr/>
            <p:nvPr/>
          </p:nvSpPr>
          <p:spPr>
            <a:xfrm>
              <a:off x="734815" y="3790652"/>
              <a:ext cx="2448620" cy="325040"/>
            </a:xfrm>
            <a:prstGeom prst="rect">
              <a:avLst/>
            </a:prstGeom>
            <a:noFill/>
            <a:ln/>
          </p:spPr>
          <p:txBody>
            <a:bodyPr wrap="square" lIns="0" tIns="0" rIns="0" bIns="0" rtlCol="0" anchor="t">
              <a:normAutofit/>
            </a:bodyPr>
            <a:lstStyle/>
            <a:p>
              <a:r>
                <a:rPr lang="en-US" sz="1200" dirty="0">
                  <a:solidFill>
                    <a:srgbClr val="FFE5E5"/>
                  </a:solidFill>
                  <a:ea typeface="DM Sans" pitchFamily="34" charset="-122"/>
                  <a:cs typeface="DM Sans" pitchFamily="34" charset="-120"/>
                </a:rPr>
                <a:t>A web accessible backdoor was deployed, allowing command execution through the browser surviving service restarts and requiring no interactive session.</a:t>
              </a:r>
              <a:endParaRPr lang="en-US" sz="12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1369" y="3268663"/>
              <a:ext cx="2654499" cy="949920"/>
            </a:xfrm>
            <a:prstGeom prst="rect">
              <a:avLst/>
            </a:prstGeom>
          </p:spPr>
        </p:pic>
        <p:sp>
          <p:nvSpPr>
            <p:cNvPr id="10" name="Text 6"/>
            <p:cNvSpPr/>
            <p:nvPr/>
          </p:nvSpPr>
          <p:spPr>
            <a:xfrm>
              <a:off x="4421673" y="3331892"/>
              <a:ext cx="473890" cy="169267"/>
            </a:xfrm>
            <a:prstGeom prst="rect">
              <a:avLst/>
            </a:prstGeom>
            <a:noFill/>
            <a:ln/>
          </p:spPr>
          <p:txBody>
            <a:bodyPr wrap="none" lIns="0" tIns="0" rIns="0" bIns="0" rtlCol="0" anchor="ctr"/>
            <a:lstStyle/>
            <a:p>
              <a:pPr algn="ctr"/>
              <a:r>
                <a:rPr lang="en-US" sz="3200" dirty="0">
                  <a:solidFill>
                    <a:srgbClr val="FFE5E5"/>
                  </a:solidFill>
                  <a:ea typeface="Dela Gothic One" pitchFamily="34" charset="-122"/>
                  <a:cs typeface="Dela Gothic One" pitchFamily="34" charset="-120"/>
                </a:rPr>
                <a:t>2</a:t>
              </a:r>
              <a:endParaRPr lang="en-US" sz="3200" dirty="0"/>
            </a:p>
          </p:txBody>
        </p:sp>
        <p:sp>
          <p:nvSpPr>
            <p:cNvPr id="11" name="Text 7"/>
            <p:cNvSpPr/>
            <p:nvPr/>
          </p:nvSpPr>
          <p:spPr>
            <a:xfrm>
              <a:off x="3434259" y="3597177"/>
              <a:ext cx="2448719" cy="148431"/>
            </a:xfrm>
            <a:prstGeom prst="rect">
              <a:avLst/>
            </a:prstGeom>
            <a:noFill/>
            <a:ln/>
          </p:spPr>
          <p:txBody>
            <a:bodyPr wrap="none" lIns="0" tIns="0" rIns="0" bIns="0" rtlCol="0" anchor="t"/>
            <a:lstStyle/>
            <a:p>
              <a:pPr>
                <a:lnSpc>
                  <a:spcPct val="104000"/>
                </a:lnSpc>
              </a:pPr>
              <a:r>
                <a:rPr lang="en-US" sz="1400" dirty="0">
                  <a:solidFill>
                    <a:srgbClr val="FFE5E5"/>
                  </a:solidFill>
                  <a:ea typeface="Dela Gothic One" pitchFamily="34" charset="-122"/>
                  <a:cs typeface="Dela Gothic One" pitchFamily="34" charset="-120"/>
                </a:rPr>
                <a:t>Startup Persistence Concepts</a:t>
              </a:r>
              <a:endParaRPr lang="en-US" sz="1400" dirty="0"/>
            </a:p>
          </p:txBody>
        </p:sp>
        <p:sp>
          <p:nvSpPr>
            <p:cNvPr id="12" name="Text 8"/>
            <p:cNvSpPr/>
            <p:nvPr/>
          </p:nvSpPr>
          <p:spPr>
            <a:xfrm>
              <a:off x="3434259" y="3790652"/>
              <a:ext cx="2448719" cy="325040"/>
            </a:xfrm>
            <a:prstGeom prst="rect">
              <a:avLst/>
            </a:prstGeom>
            <a:noFill/>
            <a:ln/>
          </p:spPr>
          <p:txBody>
            <a:bodyPr wrap="square" lIns="0" tIns="0" rIns="0" bIns="0" rtlCol="0" anchor="t">
              <a:normAutofit/>
            </a:bodyPr>
            <a:lstStyle/>
            <a:p>
              <a:r>
                <a:rPr lang="en-US" sz="1200" dirty="0">
                  <a:solidFill>
                    <a:srgbClr val="FFE5E5"/>
                  </a:solidFill>
                  <a:ea typeface="DM Sans" pitchFamily="34" charset="-122"/>
                  <a:cs typeface="DM Sans" pitchFamily="34" charset="-120"/>
                </a:rPr>
                <a:t>Techniques such as registry run keys, cron jobs, and init scripts were reviewed to demonstrate how malware auto executes on system boot.</a:t>
              </a:r>
              <a:endParaRPr lang="en-US" sz="1200" dirty="0"/>
            </a:p>
          </p:txBody>
        </p:sp>
      </p:grpSp>
      <p:pic>
        <p:nvPicPr>
          <p:cNvPr id="13" name="Image 2" descr="preencoded.png"/>
          <p:cNvPicPr>
            <a:picLocks noChangeAspect="1"/>
          </p:cNvPicPr>
          <p:nvPr/>
        </p:nvPicPr>
        <p:blipFill>
          <a:blip r:embed="rId4"/>
          <a:stretch>
            <a:fillRect/>
          </a:stretch>
        </p:blipFill>
        <p:spPr>
          <a:xfrm>
            <a:off x="6206132" y="496490"/>
            <a:ext cx="5782668" cy="5608745"/>
          </a:xfrm>
          <a:prstGeom prst="rect">
            <a:avLst/>
          </a:prstGeom>
        </p:spPr>
      </p:pic>
      <p:sp>
        <p:nvSpPr>
          <p:cNvPr id="17" name="Footer Placeholder 16">
            <a:extLst>
              <a:ext uri="{FF2B5EF4-FFF2-40B4-BE49-F238E27FC236}">
                <a16:creationId xmlns:a16="http://schemas.microsoft.com/office/drawing/2014/main" id="{91E35C24-8B29-692D-3FBD-4309DC33E582}"/>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8" name="Slide Number Placeholder 17">
            <a:extLst>
              <a:ext uri="{FF2B5EF4-FFF2-40B4-BE49-F238E27FC236}">
                <a16:creationId xmlns:a16="http://schemas.microsoft.com/office/drawing/2014/main" id="{8A1CDE37-DE2C-CA58-3EA0-37CE056F4AAE}"/>
              </a:ext>
            </a:extLst>
          </p:cNvPr>
          <p:cNvSpPr>
            <a:spLocks noGrp="1"/>
          </p:cNvSpPr>
          <p:nvPr>
            <p:ph type="sldNum" sz="quarter" idx="4"/>
          </p:nvPr>
        </p:nvSpPr>
        <p:spPr/>
        <p:txBody>
          <a:bodyPr/>
          <a:lstStyle/>
          <a:p>
            <a:fld id="{08D6B0A0-5113-456A-82B3-EA8CCD6D43D8}" type="slidenum">
              <a:rPr lang="en-US" smtClean="0">
                <a:latin typeface="+mj-lt"/>
              </a:rPr>
              <a:t>27</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145597" y="530099"/>
            <a:ext cx="2279754" cy="356592"/>
          </a:xfrm>
          <a:prstGeom prst="roundRect">
            <a:avLst>
              <a:gd name="adj" fmla="val 22137"/>
            </a:avLst>
          </a:prstGeom>
          <a:noFill/>
          <a:ln w="4763">
            <a:solidFill>
              <a:srgbClr val="C91313"/>
            </a:solidFill>
            <a:prstDash val="solid"/>
          </a:ln>
        </p:spPr>
        <p:txBody>
          <a:bodyPr/>
          <a:lstStyle/>
          <a:p>
            <a:endParaRPr lang="en-US" sz="2400">
              <a:latin typeface="+mj-lt"/>
            </a:endParaRPr>
          </a:p>
        </p:txBody>
      </p:sp>
      <p:sp>
        <p:nvSpPr>
          <p:cNvPr id="3" name="Text 1"/>
          <p:cNvSpPr/>
          <p:nvPr/>
        </p:nvSpPr>
        <p:spPr>
          <a:xfrm>
            <a:off x="2282216" y="609600"/>
            <a:ext cx="1624766" cy="277091"/>
          </a:xfrm>
          <a:prstGeom prst="rect">
            <a:avLst/>
          </a:prstGeom>
          <a:noFill/>
          <a:ln/>
        </p:spPr>
        <p:txBody>
          <a:bodyPr wrap="none" lIns="0" tIns="0" rIns="0" bIns="0" rtlCol="0" anchor="t"/>
          <a:lstStyle/>
          <a:p>
            <a:pPr>
              <a:lnSpc>
                <a:spcPct val="96000"/>
              </a:lnSpc>
            </a:pPr>
            <a:r>
              <a:rPr lang="en-US" sz="1400" dirty="0">
                <a:solidFill>
                  <a:srgbClr val="C91313"/>
                </a:solidFill>
                <a:latin typeface="+mj-lt"/>
                <a:ea typeface="DM Sans" pitchFamily="34" charset="-122"/>
                <a:cs typeface="DM Sans" pitchFamily="34" charset="-120"/>
              </a:rPr>
              <a:t>PHASE 07 : EVIDENCE</a:t>
            </a:r>
            <a:endParaRPr lang="en-US" sz="1400" dirty="0">
              <a:latin typeface="+mj-lt"/>
            </a:endParaRPr>
          </a:p>
        </p:txBody>
      </p:sp>
      <p:sp>
        <p:nvSpPr>
          <p:cNvPr id="4" name="Text 2"/>
          <p:cNvSpPr/>
          <p:nvPr/>
        </p:nvSpPr>
        <p:spPr>
          <a:xfrm>
            <a:off x="686000" y="1160165"/>
            <a:ext cx="4569491" cy="622453"/>
          </a:xfrm>
          <a:prstGeom prst="rect">
            <a:avLst/>
          </a:prstGeom>
          <a:noFill/>
          <a:ln/>
        </p:spPr>
        <p:txBody>
          <a:bodyPr wrap="none" lIns="0" tIns="0" rIns="0" bIns="0" rtlCol="0" anchor="t"/>
          <a:lstStyle/>
          <a:p>
            <a:pPr>
              <a:lnSpc>
                <a:spcPct val="104000"/>
              </a:lnSpc>
            </a:pPr>
            <a:r>
              <a:rPr lang="en-US" sz="4000" dirty="0">
                <a:solidFill>
                  <a:srgbClr val="FAEBEB"/>
                </a:solidFill>
                <a:latin typeface="+mj-lt"/>
                <a:ea typeface="Dela Gothic One" pitchFamily="34" charset="-122"/>
                <a:cs typeface="Dela Gothic One" pitchFamily="34" charset="-120"/>
              </a:rPr>
              <a:t>Web Shell in Action</a:t>
            </a:r>
            <a:endParaRPr lang="en-US" sz="4000" dirty="0">
              <a:latin typeface="+mj-lt"/>
            </a:endParaRPr>
          </a:p>
        </p:txBody>
      </p:sp>
      <p:sp>
        <p:nvSpPr>
          <p:cNvPr id="5" name="Text 3"/>
          <p:cNvSpPr/>
          <p:nvPr/>
        </p:nvSpPr>
        <p:spPr>
          <a:xfrm>
            <a:off x="502616" y="2503705"/>
            <a:ext cx="2813239" cy="356592"/>
          </a:xfrm>
          <a:prstGeom prst="rect">
            <a:avLst/>
          </a:prstGeom>
          <a:noFill/>
          <a:ln/>
        </p:spPr>
        <p:txBody>
          <a:bodyPr wrap="none" lIns="0" tIns="0" rIns="0" bIns="0" rtlCol="0" anchor="t"/>
          <a:lstStyle/>
          <a:p>
            <a:pPr>
              <a:lnSpc>
                <a:spcPct val="104000"/>
              </a:lnSpc>
            </a:pPr>
            <a:r>
              <a:rPr lang="en-US" sz="2000" dirty="0">
                <a:solidFill>
                  <a:srgbClr val="FAEBEB"/>
                </a:solidFill>
                <a:latin typeface="+mj-lt"/>
                <a:ea typeface="Dela Gothic One" pitchFamily="34" charset="-122"/>
                <a:cs typeface="Dela Gothic One" pitchFamily="34" charset="-120"/>
              </a:rPr>
              <a:t>What Was Observed</a:t>
            </a:r>
            <a:endParaRPr lang="en-US" sz="2000" dirty="0">
              <a:latin typeface="+mj-lt"/>
            </a:endParaRPr>
          </a:p>
        </p:txBody>
      </p:sp>
      <p:sp>
        <p:nvSpPr>
          <p:cNvPr id="6" name="Text 4"/>
          <p:cNvSpPr/>
          <p:nvPr/>
        </p:nvSpPr>
        <p:spPr>
          <a:xfrm>
            <a:off x="502616" y="2860297"/>
            <a:ext cx="5353943" cy="622453"/>
          </a:xfrm>
          <a:prstGeom prst="rect">
            <a:avLst/>
          </a:prstGeom>
          <a:noFill/>
          <a:ln/>
        </p:spPr>
        <p:txBody>
          <a:bodyPr wrap="square" lIns="0" tIns="0" rIns="0" bIns="0" rtlCol="0" anchor="t">
            <a:noAutofit/>
          </a:bodyPr>
          <a:lstStyle/>
          <a:p>
            <a:r>
              <a:rPr lang="en-US" sz="1200" dirty="0">
                <a:solidFill>
                  <a:srgbClr val="FFE5E5"/>
                </a:solidFill>
                <a:ea typeface="DM Sans" pitchFamily="34" charset="-122"/>
                <a:cs typeface="DM Sans" pitchFamily="34" charset="-120"/>
              </a:rPr>
              <a:t>A web shell was successfully deployed and executed commands on the compromised host demonstrating how an attacker can operate remotely without a persistent interactive session.</a:t>
            </a:r>
            <a:endParaRPr lang="en-US" sz="1200" dirty="0"/>
          </a:p>
        </p:txBody>
      </p:sp>
      <p:sp>
        <p:nvSpPr>
          <p:cNvPr id="7" name="Text 5"/>
          <p:cNvSpPr/>
          <p:nvPr/>
        </p:nvSpPr>
        <p:spPr>
          <a:xfrm>
            <a:off x="631925" y="3805336"/>
            <a:ext cx="3406675" cy="711245"/>
          </a:xfrm>
          <a:prstGeom prst="rect">
            <a:avLst/>
          </a:prstGeom>
          <a:noFill/>
          <a:ln/>
        </p:spPr>
        <p:txBody>
          <a:bodyPr wrap="square" lIns="0" tIns="0" rIns="0" bIns="0" rtlCol="0" anchor="t">
            <a:normAutofit/>
          </a:bodyPr>
          <a:lstStyle/>
          <a:p>
            <a:pPr marL="135463" indent="-135463">
              <a:buSzPct val="100000"/>
              <a:buChar char="•"/>
            </a:pPr>
            <a:r>
              <a:rPr lang="en-US" sz="1400" dirty="0">
                <a:solidFill>
                  <a:srgbClr val="FFE5E5"/>
                </a:solidFill>
                <a:ea typeface="DM Sans" pitchFamily="34" charset="-122"/>
                <a:cs typeface="DM Sans" pitchFamily="34" charset="-120"/>
              </a:rPr>
              <a:t>Commands executed via HTTP/HTTPS</a:t>
            </a:r>
            <a:endParaRPr lang="en-US" sz="1400" dirty="0"/>
          </a:p>
          <a:p>
            <a:pPr marL="135463" indent="-135463">
              <a:buSzPct val="100000"/>
              <a:buChar char="•"/>
            </a:pPr>
            <a:r>
              <a:rPr lang="en-US" sz="1400" dirty="0">
                <a:solidFill>
                  <a:srgbClr val="FFE5E5"/>
                </a:solidFill>
                <a:ea typeface="DM Sans" pitchFamily="34" charset="-122"/>
                <a:cs typeface="DM Sans" pitchFamily="34" charset="-120"/>
              </a:rPr>
              <a:t>File upload and download capability</a:t>
            </a:r>
            <a:endParaRPr lang="en-US" sz="1400" dirty="0"/>
          </a:p>
          <a:p>
            <a:pPr marL="135463" indent="-135463">
              <a:buSzPct val="100000"/>
              <a:buChar char="•"/>
            </a:pPr>
            <a:r>
              <a:rPr lang="en-US" sz="1400" dirty="0">
                <a:solidFill>
                  <a:srgbClr val="FFE5E5"/>
                </a:solidFill>
                <a:ea typeface="DM Sans" pitchFamily="34" charset="-122"/>
                <a:cs typeface="DM Sans" pitchFamily="34" charset="-120"/>
              </a:rPr>
              <a:t>Session survives web service restarts</a:t>
            </a:r>
            <a:endParaRPr lang="en-US" sz="1400" dirty="0"/>
          </a:p>
        </p:txBody>
      </p:sp>
      <p:pic>
        <p:nvPicPr>
          <p:cNvPr id="8" name="Image 0" descr="preencoded.png"/>
          <p:cNvPicPr>
            <a:picLocks noChangeAspect="1"/>
          </p:cNvPicPr>
          <p:nvPr/>
        </p:nvPicPr>
        <p:blipFill>
          <a:blip r:embed="rId3"/>
          <a:stretch>
            <a:fillRect/>
          </a:stretch>
        </p:blipFill>
        <p:spPr>
          <a:xfrm>
            <a:off x="6212483" y="286328"/>
            <a:ext cx="5711662" cy="6070022"/>
          </a:xfrm>
          <a:prstGeom prst="rect">
            <a:avLst/>
          </a:prstGeom>
        </p:spPr>
      </p:pic>
      <p:sp>
        <p:nvSpPr>
          <p:cNvPr id="11" name="Footer Placeholder 10">
            <a:extLst>
              <a:ext uri="{FF2B5EF4-FFF2-40B4-BE49-F238E27FC236}">
                <a16:creationId xmlns:a16="http://schemas.microsoft.com/office/drawing/2014/main" id="{7C57CA40-C0BD-BF91-2039-32C144265110}"/>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2" name="Slide Number Placeholder 11">
            <a:extLst>
              <a:ext uri="{FF2B5EF4-FFF2-40B4-BE49-F238E27FC236}">
                <a16:creationId xmlns:a16="http://schemas.microsoft.com/office/drawing/2014/main" id="{8762817A-80F4-671E-D7A7-041844FA8C43}"/>
              </a:ext>
            </a:extLst>
          </p:cNvPr>
          <p:cNvSpPr>
            <a:spLocks noGrp="1"/>
          </p:cNvSpPr>
          <p:nvPr>
            <p:ph type="sldNum" sz="quarter" idx="4"/>
          </p:nvPr>
        </p:nvSpPr>
        <p:spPr/>
        <p:txBody>
          <a:bodyPr/>
          <a:lstStyle/>
          <a:p>
            <a:fld id="{08D6B0A0-5113-456A-82B3-EA8CCD6D43D8}" type="slidenum">
              <a:rPr lang="en-US" smtClean="0">
                <a:latin typeface="+mj-lt"/>
              </a:rPr>
              <a:t>28</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24" y="982960"/>
            <a:ext cx="1783471" cy="238127"/>
          </a:xfrm>
          <a:prstGeom prst="roundRect">
            <a:avLst>
              <a:gd name="adj" fmla="val 22121"/>
            </a:avLst>
          </a:prstGeom>
          <a:noFill/>
          <a:ln w="4763">
            <a:solidFill>
              <a:srgbClr val="C91313"/>
            </a:solidFill>
            <a:prstDash val="solid"/>
          </a:ln>
        </p:spPr>
        <p:txBody>
          <a:bodyPr/>
          <a:lstStyle/>
          <a:p>
            <a:endParaRPr lang="en-US" sz="2400">
              <a:latin typeface="+mj-lt"/>
            </a:endParaRPr>
          </a:p>
        </p:txBody>
      </p:sp>
      <p:sp>
        <p:nvSpPr>
          <p:cNvPr id="3" name="Text 1"/>
          <p:cNvSpPr/>
          <p:nvPr/>
        </p:nvSpPr>
        <p:spPr>
          <a:xfrm>
            <a:off x="740173" y="1037035"/>
            <a:ext cx="2072580" cy="166092"/>
          </a:xfrm>
          <a:prstGeom prst="rect">
            <a:avLst/>
          </a:prstGeom>
          <a:noFill/>
          <a:ln/>
        </p:spPr>
        <p:txBody>
          <a:bodyPr wrap="none" lIns="0" tIns="0" rIns="0" bIns="0" rtlCol="0" anchor="t"/>
          <a:lstStyle/>
          <a:p>
            <a:pPr>
              <a:lnSpc>
                <a:spcPct val="96000"/>
              </a:lnSpc>
            </a:pPr>
            <a:r>
              <a:rPr lang="en-US" sz="1133" dirty="0">
                <a:solidFill>
                  <a:srgbClr val="C91313"/>
                </a:solidFill>
                <a:latin typeface="+mj-lt"/>
                <a:ea typeface="DM Sans" pitchFamily="34" charset="-122"/>
                <a:cs typeface="DM Sans" pitchFamily="34" charset="-120"/>
              </a:rPr>
              <a:t>PHASE 07 : DEFENSE</a:t>
            </a:r>
            <a:endParaRPr lang="en-US" sz="1133" dirty="0">
              <a:latin typeface="+mj-lt"/>
            </a:endParaRPr>
          </a:p>
        </p:txBody>
      </p:sp>
      <p:sp>
        <p:nvSpPr>
          <p:cNvPr id="4" name="Text 2"/>
          <p:cNvSpPr/>
          <p:nvPr/>
        </p:nvSpPr>
        <p:spPr>
          <a:xfrm>
            <a:off x="631924" y="1329334"/>
            <a:ext cx="6028235"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Security Considerations</a:t>
            </a:r>
            <a:endParaRPr lang="en-US" sz="3733" dirty="0">
              <a:latin typeface="+mj-lt"/>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4" y="2194024"/>
            <a:ext cx="451347" cy="451347"/>
          </a:xfrm>
          <a:prstGeom prst="rect">
            <a:avLst/>
          </a:prstGeom>
        </p:spPr>
      </p:pic>
      <p:sp>
        <p:nvSpPr>
          <p:cNvPr id="6" name="Text 3"/>
          <p:cNvSpPr/>
          <p:nvPr/>
        </p:nvSpPr>
        <p:spPr>
          <a:xfrm>
            <a:off x="631924" y="2870994"/>
            <a:ext cx="3103168"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File Integrity Monitoring</a:t>
            </a:r>
            <a:endParaRPr lang="en-US" sz="1867" dirty="0">
              <a:latin typeface="+mj-lt"/>
            </a:endParaRPr>
          </a:p>
        </p:txBody>
      </p:sp>
      <p:sp>
        <p:nvSpPr>
          <p:cNvPr id="7" name="Text 4"/>
          <p:cNvSpPr/>
          <p:nvPr/>
        </p:nvSpPr>
        <p:spPr>
          <a:xfrm>
            <a:off x="631924" y="3276104"/>
            <a:ext cx="5351264"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Alert on unauthorized changes to web directories, startup scripts, and system binaries.</a:t>
            </a:r>
            <a:endParaRPr lang="en-US" sz="14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08812" y="2194024"/>
            <a:ext cx="451347" cy="451347"/>
          </a:xfrm>
          <a:prstGeom prst="rect">
            <a:avLst/>
          </a:prstGeom>
        </p:spPr>
      </p:pic>
      <p:sp>
        <p:nvSpPr>
          <p:cNvPr id="9" name="Text 5"/>
          <p:cNvSpPr/>
          <p:nvPr/>
        </p:nvSpPr>
        <p:spPr>
          <a:xfrm>
            <a:off x="6208812" y="2870994"/>
            <a:ext cx="2935188"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Continuous Monitoring</a:t>
            </a:r>
            <a:endParaRPr lang="en-US" sz="1867" dirty="0">
              <a:latin typeface="+mj-lt"/>
            </a:endParaRPr>
          </a:p>
        </p:txBody>
      </p:sp>
      <p:sp>
        <p:nvSpPr>
          <p:cNvPr id="10" name="Text 6"/>
          <p:cNvSpPr/>
          <p:nvPr/>
        </p:nvSpPr>
        <p:spPr>
          <a:xfrm>
            <a:off x="6208812" y="3276104"/>
            <a:ext cx="5351264"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Deploy EDR and network monitoring to detect anomalous process and connection behavior.</a:t>
            </a:r>
            <a:endParaRPr lang="en-US" sz="14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1924" y="4215011"/>
            <a:ext cx="451347" cy="451347"/>
          </a:xfrm>
          <a:prstGeom prst="rect">
            <a:avLst/>
          </a:prstGeom>
        </p:spPr>
      </p:pic>
      <p:sp>
        <p:nvSpPr>
          <p:cNvPr id="12" name="Text 7"/>
          <p:cNvSpPr/>
          <p:nvPr/>
        </p:nvSpPr>
        <p:spPr>
          <a:xfrm>
            <a:off x="631924" y="4891981"/>
            <a:ext cx="1615330"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Log Analysis</a:t>
            </a:r>
            <a:endParaRPr lang="en-US" sz="1867" dirty="0">
              <a:latin typeface="+mj-lt"/>
            </a:endParaRPr>
          </a:p>
        </p:txBody>
      </p:sp>
      <p:sp>
        <p:nvSpPr>
          <p:cNvPr id="13" name="Text 8"/>
          <p:cNvSpPr/>
          <p:nvPr/>
        </p:nvSpPr>
        <p:spPr>
          <a:xfrm>
            <a:off x="631924" y="5297091"/>
            <a:ext cx="5351264"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Centralize and review web server, authentication, and system logs for indicators of persistence.</a:t>
            </a:r>
            <a:endParaRPr lang="en-US" sz="14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08812" y="4215011"/>
            <a:ext cx="451347" cy="451347"/>
          </a:xfrm>
          <a:prstGeom prst="rect">
            <a:avLst/>
          </a:prstGeom>
        </p:spPr>
      </p:pic>
      <p:sp>
        <p:nvSpPr>
          <p:cNvPr id="15" name="Text 9"/>
          <p:cNvSpPr/>
          <p:nvPr/>
        </p:nvSpPr>
        <p:spPr>
          <a:xfrm>
            <a:off x="6208812" y="4891981"/>
            <a:ext cx="2935188"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Configuration Auditing</a:t>
            </a:r>
            <a:endParaRPr lang="en-US" sz="1867" dirty="0">
              <a:latin typeface="+mj-lt"/>
            </a:endParaRPr>
          </a:p>
        </p:txBody>
      </p:sp>
      <p:sp>
        <p:nvSpPr>
          <p:cNvPr id="16" name="Text 10"/>
          <p:cNvSpPr/>
          <p:nvPr/>
        </p:nvSpPr>
        <p:spPr>
          <a:xfrm>
            <a:off x="6208812" y="5297091"/>
            <a:ext cx="5351264"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Regularly audit startup items, scheduled tasks, and service configs for unauthorized entries.</a:t>
            </a:r>
            <a:endParaRPr lang="en-US" sz="1400" dirty="0"/>
          </a:p>
        </p:txBody>
      </p:sp>
      <p:sp>
        <p:nvSpPr>
          <p:cNvPr id="19" name="Footer Placeholder 18">
            <a:extLst>
              <a:ext uri="{FF2B5EF4-FFF2-40B4-BE49-F238E27FC236}">
                <a16:creationId xmlns:a16="http://schemas.microsoft.com/office/drawing/2014/main" id="{E073774D-9727-8851-E23F-1510D0145E7A}"/>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20" name="Slide Number Placeholder 19">
            <a:extLst>
              <a:ext uri="{FF2B5EF4-FFF2-40B4-BE49-F238E27FC236}">
                <a16:creationId xmlns:a16="http://schemas.microsoft.com/office/drawing/2014/main" id="{69068E29-5AE3-B7BB-E797-6C47C85C50AB}"/>
              </a:ext>
            </a:extLst>
          </p:cNvPr>
          <p:cNvSpPr>
            <a:spLocks noGrp="1"/>
          </p:cNvSpPr>
          <p:nvPr>
            <p:ph type="sldNum" sz="quarter" idx="4"/>
          </p:nvPr>
        </p:nvSpPr>
        <p:spPr/>
        <p:txBody>
          <a:bodyPr/>
          <a:lstStyle/>
          <a:p>
            <a:fld id="{08D6B0A0-5113-456A-82B3-EA8CCD6D43D8}" type="slidenum">
              <a:rPr lang="en-US" smtClean="0">
                <a:latin typeface="+mj-lt"/>
              </a:rPr>
              <a:t>29</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25" y="1452265"/>
            <a:ext cx="1170996" cy="260450"/>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740173" y="1506339"/>
            <a:ext cx="1436588"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LAB REPORT</a:t>
            </a:r>
            <a:endParaRPr lang="en-US" sz="1133" dirty="0">
              <a:latin typeface="+mj-lt"/>
            </a:endParaRPr>
          </a:p>
        </p:txBody>
      </p:sp>
      <p:sp>
        <p:nvSpPr>
          <p:cNvPr id="4" name="Text 2"/>
          <p:cNvSpPr/>
          <p:nvPr/>
        </p:nvSpPr>
        <p:spPr>
          <a:xfrm>
            <a:off x="631924" y="1798638"/>
            <a:ext cx="4660512"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Phase 08</a:t>
            </a:r>
            <a:r>
              <a:rPr lang="ar-EG" sz="3733" dirty="0">
                <a:solidFill>
                  <a:srgbClr val="FAEBEB"/>
                </a:solidFill>
                <a:latin typeface="+mj-lt"/>
                <a:ea typeface="Dela Gothic One" pitchFamily="34" charset="-122"/>
                <a:cs typeface="Dela Gothic One" pitchFamily="34" charset="-120"/>
              </a:rPr>
              <a:t> </a:t>
            </a:r>
            <a:r>
              <a:rPr lang="en-US" sz="3733" dirty="0">
                <a:solidFill>
                  <a:srgbClr val="FAEBEB"/>
                </a:solidFill>
                <a:latin typeface="+mj-lt"/>
                <a:ea typeface="Dela Gothic One" pitchFamily="34" charset="-122"/>
                <a:cs typeface="Dela Gothic One" pitchFamily="34" charset="-120"/>
              </a:rPr>
              <a:t>: Defense</a:t>
            </a:r>
            <a:endParaRPr lang="en-US" sz="3733" dirty="0">
              <a:latin typeface="+mj-lt"/>
            </a:endParaRPr>
          </a:p>
        </p:txBody>
      </p:sp>
      <p:sp>
        <p:nvSpPr>
          <p:cNvPr id="5" name="Text 3"/>
          <p:cNvSpPr/>
          <p:nvPr/>
        </p:nvSpPr>
        <p:spPr>
          <a:xfrm>
            <a:off x="631924" y="2663329"/>
            <a:ext cx="10928152"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The laboratory shifted from offensive operations to implementing multiple defensive security layers hardening the environment and validating detection capabilities.</a:t>
            </a:r>
            <a:endParaRPr lang="en-US" sz="1400" dirty="0"/>
          </a:p>
        </p:txBody>
      </p:sp>
      <p:sp>
        <p:nvSpPr>
          <p:cNvPr id="6" name="Shape 4"/>
          <p:cNvSpPr/>
          <p:nvPr/>
        </p:nvSpPr>
        <p:spPr>
          <a:xfrm>
            <a:off x="631924" y="3444280"/>
            <a:ext cx="3522365" cy="1961456"/>
          </a:xfrm>
          <a:prstGeom prst="roundRect">
            <a:avLst>
              <a:gd name="adj" fmla="val 3866"/>
            </a:avLst>
          </a:prstGeom>
          <a:solidFill>
            <a:srgbClr val="740B0B"/>
          </a:solidFill>
          <a:ln w="4763">
            <a:solidFill>
              <a:srgbClr val="8D2424"/>
            </a:solidFill>
            <a:prstDash val="solid"/>
          </a:ln>
        </p:spPr>
        <p:txBody>
          <a:bodyPr/>
          <a:lstStyle/>
          <a:p>
            <a:endParaRPr lang="en-US" sz="2400">
              <a:latin typeface="+mj-lt"/>
            </a:endParaRPr>
          </a:p>
        </p:txBody>
      </p:sp>
      <p:sp>
        <p:nvSpPr>
          <p:cNvPr id="7" name="Text 5"/>
          <p:cNvSpPr/>
          <p:nvPr/>
        </p:nvSpPr>
        <p:spPr>
          <a:xfrm>
            <a:off x="818753" y="3631108"/>
            <a:ext cx="3148707" cy="315912"/>
          </a:xfrm>
          <a:prstGeom prst="rect">
            <a:avLst/>
          </a:prstGeom>
          <a:noFill/>
          <a:ln/>
        </p:spPr>
        <p:txBody>
          <a:bodyPr wrap="none" lIns="0" tIns="0" rIns="0" bIns="0" rtlCol="0" anchor="t"/>
          <a:lstStyle/>
          <a:p>
            <a:pPr>
              <a:lnSpc>
                <a:spcPct val="104000"/>
              </a:lnSpc>
            </a:pPr>
            <a:r>
              <a:rPr lang="en-US" sz="1867" dirty="0">
                <a:solidFill>
                  <a:srgbClr val="000000"/>
                </a:solidFill>
                <a:latin typeface="+mj-lt"/>
                <a:ea typeface="Dela Gothic One" pitchFamily="34" charset="-122"/>
                <a:cs typeface="Dela Gothic One" pitchFamily="34" charset="-120"/>
              </a:rPr>
              <a:t>🔒</a:t>
            </a:r>
            <a:r>
              <a:rPr lang="en-US" sz="1867" dirty="0">
                <a:solidFill>
                  <a:srgbClr val="FFE5E5"/>
                </a:solidFill>
                <a:latin typeface="+mj-lt"/>
                <a:ea typeface="Dela Gothic One" pitchFamily="34" charset="-122"/>
                <a:cs typeface="Dela Gothic One" pitchFamily="34" charset="-120"/>
              </a:rPr>
              <a:t> Security Hardening</a:t>
            </a:r>
            <a:endParaRPr lang="en-US" sz="1867" dirty="0">
              <a:latin typeface="+mj-lt"/>
            </a:endParaRPr>
          </a:p>
        </p:txBody>
      </p:sp>
      <p:sp>
        <p:nvSpPr>
          <p:cNvPr id="8" name="Text 6"/>
          <p:cNvSpPr/>
          <p:nvPr/>
        </p:nvSpPr>
        <p:spPr>
          <a:xfrm>
            <a:off x="818753" y="4425514"/>
            <a:ext cx="3148707" cy="866775"/>
          </a:xfrm>
          <a:prstGeom prst="rect">
            <a:avLst/>
          </a:prstGeom>
          <a:noFill/>
          <a:ln/>
        </p:spPr>
        <p:txBody>
          <a:bodyPr wrap="square" lIns="0" tIns="0" rIns="0" bIns="0" rtlCol="0" anchor="t">
            <a:normAutofit fontScale="92500"/>
          </a:bodyPr>
          <a:lstStyle/>
          <a:p>
            <a:pPr>
              <a:lnSpc>
                <a:spcPct val="133000"/>
              </a:lnSpc>
            </a:pPr>
            <a:r>
              <a:rPr lang="en-US" sz="1400" dirty="0">
                <a:solidFill>
                  <a:srgbClr val="FFE5E5"/>
                </a:solidFill>
                <a:latin typeface="+mj-lt"/>
                <a:ea typeface="DM Sans" pitchFamily="34" charset="-122"/>
                <a:cs typeface="DM Sans" pitchFamily="34" charset="-120"/>
              </a:rPr>
              <a:t>Close attack surface through configuration changes, patching, and access control improvements.</a:t>
            </a:r>
            <a:endParaRPr lang="en-US" sz="1400" dirty="0">
              <a:latin typeface="+mj-lt"/>
            </a:endParaRPr>
          </a:p>
        </p:txBody>
      </p:sp>
      <p:sp>
        <p:nvSpPr>
          <p:cNvPr id="9" name="Shape 7"/>
          <p:cNvSpPr/>
          <p:nvPr/>
        </p:nvSpPr>
        <p:spPr>
          <a:xfrm>
            <a:off x="4334768" y="3444280"/>
            <a:ext cx="3522365" cy="1961456"/>
          </a:xfrm>
          <a:prstGeom prst="roundRect">
            <a:avLst>
              <a:gd name="adj" fmla="val 3866"/>
            </a:avLst>
          </a:prstGeom>
          <a:solidFill>
            <a:srgbClr val="740B0B"/>
          </a:solidFill>
          <a:ln w="4763">
            <a:solidFill>
              <a:srgbClr val="8D2424"/>
            </a:solidFill>
            <a:prstDash val="solid"/>
          </a:ln>
        </p:spPr>
        <p:txBody>
          <a:bodyPr/>
          <a:lstStyle/>
          <a:p>
            <a:endParaRPr lang="en-US" sz="2400">
              <a:latin typeface="+mj-lt"/>
            </a:endParaRPr>
          </a:p>
        </p:txBody>
      </p:sp>
      <p:sp>
        <p:nvSpPr>
          <p:cNvPr id="10" name="Text 8"/>
          <p:cNvSpPr/>
          <p:nvPr/>
        </p:nvSpPr>
        <p:spPr>
          <a:xfrm>
            <a:off x="4521597" y="3631108"/>
            <a:ext cx="3148707" cy="315912"/>
          </a:xfrm>
          <a:prstGeom prst="rect">
            <a:avLst/>
          </a:prstGeom>
          <a:noFill/>
          <a:ln/>
        </p:spPr>
        <p:txBody>
          <a:bodyPr wrap="none" lIns="0" tIns="0" rIns="0" bIns="0" rtlCol="0" anchor="t"/>
          <a:lstStyle/>
          <a:p>
            <a:pPr>
              <a:lnSpc>
                <a:spcPct val="104000"/>
              </a:lnSpc>
            </a:pPr>
            <a:r>
              <a:rPr lang="en-US" sz="1867" dirty="0">
                <a:solidFill>
                  <a:srgbClr val="000000"/>
                </a:solidFill>
                <a:latin typeface="+mj-lt"/>
                <a:ea typeface="Dela Gothic One" pitchFamily="34" charset="-122"/>
                <a:cs typeface="Dela Gothic One" pitchFamily="34" charset="-120"/>
              </a:rPr>
              <a:t>🛡️</a:t>
            </a:r>
            <a:r>
              <a:rPr lang="en-US" sz="1867" dirty="0">
                <a:solidFill>
                  <a:srgbClr val="FFE5E5"/>
                </a:solidFill>
                <a:latin typeface="+mj-lt"/>
                <a:ea typeface="Dela Gothic One" pitchFamily="34" charset="-122"/>
                <a:cs typeface="Dela Gothic One" pitchFamily="34" charset="-120"/>
              </a:rPr>
              <a:t> Layered Defense</a:t>
            </a:r>
            <a:endParaRPr lang="en-US" sz="1867" dirty="0">
              <a:latin typeface="+mj-lt"/>
            </a:endParaRPr>
          </a:p>
        </p:txBody>
      </p:sp>
      <p:sp>
        <p:nvSpPr>
          <p:cNvPr id="11" name="Text 9"/>
          <p:cNvSpPr/>
          <p:nvPr/>
        </p:nvSpPr>
        <p:spPr>
          <a:xfrm>
            <a:off x="4521597" y="4425514"/>
            <a:ext cx="3148707" cy="866775"/>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Implement defense</a:t>
            </a:r>
            <a:r>
              <a:rPr lang="ar-EG" sz="1400" dirty="0">
                <a:solidFill>
                  <a:srgbClr val="FFE5E5"/>
                </a:solidFill>
                <a:latin typeface="+mj-lt"/>
                <a:ea typeface="DM Sans" pitchFamily="34" charset="-122"/>
                <a:cs typeface="DM Sans" pitchFamily="34" charset="-120"/>
              </a:rPr>
              <a:t> </a:t>
            </a:r>
            <a:r>
              <a:rPr lang="en-US" sz="1400" dirty="0">
                <a:solidFill>
                  <a:srgbClr val="FFE5E5"/>
                </a:solidFill>
                <a:latin typeface="+mj-lt"/>
                <a:ea typeface="DM Sans" pitchFamily="34" charset="-122"/>
                <a:cs typeface="DM Sans" pitchFamily="34" charset="-120"/>
              </a:rPr>
              <a:t>in</a:t>
            </a:r>
            <a:r>
              <a:rPr lang="ar-EG" sz="1400" dirty="0">
                <a:solidFill>
                  <a:srgbClr val="FFE5E5"/>
                </a:solidFill>
                <a:latin typeface="+mj-lt"/>
                <a:ea typeface="DM Sans" pitchFamily="34" charset="-122"/>
                <a:cs typeface="DM Sans" pitchFamily="34" charset="-120"/>
              </a:rPr>
              <a:t> </a:t>
            </a:r>
            <a:r>
              <a:rPr lang="en-US" sz="1400" dirty="0">
                <a:solidFill>
                  <a:srgbClr val="FFE5E5"/>
                </a:solidFill>
                <a:latin typeface="+mj-lt"/>
                <a:ea typeface="DM Sans" pitchFamily="34" charset="-122"/>
                <a:cs typeface="DM Sans" pitchFamily="34" charset="-120"/>
              </a:rPr>
              <a:t>depth across network, host, application, and data layers.</a:t>
            </a:r>
            <a:endParaRPr lang="en-US" sz="1400" dirty="0">
              <a:latin typeface="+mj-lt"/>
            </a:endParaRPr>
          </a:p>
        </p:txBody>
      </p:sp>
      <p:sp>
        <p:nvSpPr>
          <p:cNvPr id="12" name="Shape 10"/>
          <p:cNvSpPr/>
          <p:nvPr/>
        </p:nvSpPr>
        <p:spPr>
          <a:xfrm>
            <a:off x="8037612" y="3444280"/>
            <a:ext cx="3522464" cy="1961456"/>
          </a:xfrm>
          <a:prstGeom prst="roundRect">
            <a:avLst>
              <a:gd name="adj" fmla="val 3866"/>
            </a:avLst>
          </a:prstGeom>
          <a:solidFill>
            <a:srgbClr val="740B0B"/>
          </a:solidFill>
          <a:ln w="4763">
            <a:solidFill>
              <a:srgbClr val="8D2424"/>
            </a:solidFill>
            <a:prstDash val="solid"/>
          </a:ln>
        </p:spPr>
        <p:txBody>
          <a:bodyPr/>
          <a:lstStyle/>
          <a:p>
            <a:endParaRPr lang="en-US" sz="2400">
              <a:latin typeface="+mj-lt"/>
            </a:endParaRPr>
          </a:p>
        </p:txBody>
      </p:sp>
      <p:sp>
        <p:nvSpPr>
          <p:cNvPr id="13" name="Text 11"/>
          <p:cNvSpPr/>
          <p:nvPr/>
        </p:nvSpPr>
        <p:spPr>
          <a:xfrm>
            <a:off x="8224441" y="3631109"/>
            <a:ext cx="3335635" cy="424161"/>
          </a:xfrm>
          <a:prstGeom prst="rect">
            <a:avLst/>
          </a:prstGeom>
          <a:noFill/>
          <a:ln/>
        </p:spPr>
        <p:txBody>
          <a:bodyPr wrap="square" lIns="0" tIns="0" rIns="0" bIns="0" rtlCol="0" anchor="t">
            <a:normAutofit/>
          </a:bodyPr>
          <a:lstStyle/>
          <a:p>
            <a:pPr>
              <a:lnSpc>
                <a:spcPct val="104000"/>
              </a:lnSpc>
            </a:pPr>
            <a:r>
              <a:rPr lang="en-US" sz="1867" dirty="0">
                <a:solidFill>
                  <a:srgbClr val="000000"/>
                </a:solidFill>
                <a:latin typeface="+mj-lt"/>
                <a:ea typeface="Dela Gothic One" pitchFamily="34" charset="-122"/>
                <a:cs typeface="Dela Gothic One" pitchFamily="34" charset="-120"/>
              </a:rPr>
              <a:t>📋</a:t>
            </a:r>
            <a:r>
              <a:rPr lang="en-US" sz="1867" dirty="0">
                <a:solidFill>
                  <a:srgbClr val="FFE5E5"/>
                </a:solidFill>
                <a:latin typeface="+mj-lt"/>
                <a:ea typeface="Dela Gothic One" pitchFamily="34" charset="-122"/>
                <a:cs typeface="Dela Gothic One" pitchFamily="34" charset="-120"/>
              </a:rPr>
              <a:t> Compliance Validation</a:t>
            </a:r>
            <a:endParaRPr lang="en-US" sz="1867" dirty="0">
              <a:latin typeface="+mj-lt"/>
            </a:endParaRPr>
          </a:p>
        </p:txBody>
      </p:sp>
      <p:sp>
        <p:nvSpPr>
          <p:cNvPr id="14" name="Text 12"/>
          <p:cNvSpPr/>
          <p:nvPr/>
        </p:nvSpPr>
        <p:spPr>
          <a:xfrm>
            <a:off x="8224441" y="4352131"/>
            <a:ext cx="3148807" cy="866775"/>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Verify controls meet regulatory and policy requirements through structured testing.</a:t>
            </a:r>
            <a:endParaRPr lang="en-US" sz="1400" dirty="0">
              <a:latin typeface="+mj-lt"/>
            </a:endParaRPr>
          </a:p>
        </p:txBody>
      </p:sp>
      <p:sp>
        <p:nvSpPr>
          <p:cNvPr id="17" name="Footer Placeholder 16">
            <a:extLst>
              <a:ext uri="{FF2B5EF4-FFF2-40B4-BE49-F238E27FC236}">
                <a16:creationId xmlns:a16="http://schemas.microsoft.com/office/drawing/2014/main" id="{5E422232-052E-38F0-F5B1-F8FA1403D579}"/>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8" name="Slide Number Placeholder 17">
            <a:extLst>
              <a:ext uri="{FF2B5EF4-FFF2-40B4-BE49-F238E27FC236}">
                <a16:creationId xmlns:a16="http://schemas.microsoft.com/office/drawing/2014/main" id="{EEA071B2-B137-AC1C-58D6-5F241712FD04}"/>
              </a:ext>
            </a:extLst>
          </p:cNvPr>
          <p:cNvSpPr>
            <a:spLocks noGrp="1"/>
          </p:cNvSpPr>
          <p:nvPr>
            <p:ph type="sldNum" sz="quarter" idx="4"/>
          </p:nvPr>
        </p:nvSpPr>
        <p:spPr/>
        <p:txBody>
          <a:bodyPr/>
          <a:lstStyle/>
          <a:p>
            <a:fld id="{08D6B0A0-5113-456A-82B3-EA8CCD6D43D8}" type="slidenum">
              <a:rPr lang="en-US" smtClean="0">
                <a:latin typeface="+mj-lt"/>
              </a:rPr>
              <a:t>30</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525380" y="424873"/>
            <a:ext cx="1513220" cy="287057"/>
          </a:xfrm>
          <a:prstGeom prst="roundRect">
            <a:avLst>
              <a:gd name="adj" fmla="val 22137"/>
            </a:avLst>
          </a:prstGeom>
          <a:noFill/>
          <a:ln w="4763">
            <a:solidFill>
              <a:srgbClr val="C91313"/>
            </a:solidFill>
            <a:prstDash val="solid"/>
          </a:ln>
        </p:spPr>
        <p:txBody>
          <a:bodyPr/>
          <a:lstStyle/>
          <a:p>
            <a:endParaRPr lang="en-US" sz="2400">
              <a:latin typeface="+mj-lt"/>
            </a:endParaRPr>
          </a:p>
        </p:txBody>
      </p:sp>
      <p:sp>
        <p:nvSpPr>
          <p:cNvPr id="3" name="Text 1"/>
          <p:cNvSpPr/>
          <p:nvPr/>
        </p:nvSpPr>
        <p:spPr>
          <a:xfrm>
            <a:off x="2664279" y="450043"/>
            <a:ext cx="1419892" cy="212922"/>
          </a:xfrm>
          <a:prstGeom prst="rect">
            <a:avLst/>
          </a:prstGeom>
          <a:noFill/>
          <a:ln/>
        </p:spPr>
        <p:txBody>
          <a:bodyPr wrap="none" lIns="0" tIns="0" rIns="0" bIns="0" rtlCol="0" anchor="t"/>
          <a:lstStyle/>
          <a:p>
            <a:pPr>
              <a:lnSpc>
                <a:spcPct val="96000"/>
              </a:lnSpc>
            </a:pPr>
            <a:r>
              <a:rPr lang="en-US" dirty="0">
                <a:solidFill>
                  <a:srgbClr val="C91313"/>
                </a:solidFill>
                <a:latin typeface="+mj-lt"/>
                <a:ea typeface="DM Sans" pitchFamily="34" charset="-122"/>
                <a:cs typeface="DM Sans" pitchFamily="34" charset="-120"/>
              </a:rPr>
              <a:t>PHASE : 08</a:t>
            </a:r>
            <a:endParaRPr lang="en-US" dirty="0">
              <a:latin typeface="+mj-lt"/>
            </a:endParaRPr>
          </a:p>
        </p:txBody>
      </p:sp>
      <p:sp>
        <p:nvSpPr>
          <p:cNvPr id="4" name="Text 2"/>
          <p:cNvSpPr/>
          <p:nvPr/>
        </p:nvSpPr>
        <p:spPr>
          <a:xfrm>
            <a:off x="373306" y="1114626"/>
            <a:ext cx="5353944" cy="775790"/>
          </a:xfrm>
          <a:prstGeom prst="rect">
            <a:avLst/>
          </a:prstGeom>
          <a:noFill/>
          <a:ln/>
        </p:spPr>
        <p:txBody>
          <a:bodyPr wrap="none" lIns="0" tIns="0" rIns="0" bIns="0" rtlCol="0" anchor="t"/>
          <a:lstStyle/>
          <a:p>
            <a:pPr>
              <a:lnSpc>
                <a:spcPct val="104000"/>
              </a:lnSpc>
            </a:pPr>
            <a:r>
              <a:rPr lang="en-US" sz="4000" dirty="0">
                <a:solidFill>
                  <a:srgbClr val="FAEBEB"/>
                </a:solidFill>
                <a:latin typeface="+mj-lt"/>
                <a:ea typeface="Dela Gothic One" pitchFamily="34" charset="-122"/>
                <a:cs typeface="Dela Gothic One" pitchFamily="34" charset="-120"/>
              </a:rPr>
              <a:t>Defensive Activities</a:t>
            </a:r>
            <a:endParaRPr lang="en-US" sz="4000" dirty="0">
              <a:latin typeface="+mj-lt"/>
            </a:endParaRPr>
          </a:p>
        </p:txBody>
      </p:sp>
      <p:grpSp>
        <p:nvGrpSpPr>
          <p:cNvPr id="25" name="Group 24">
            <a:extLst>
              <a:ext uri="{FF2B5EF4-FFF2-40B4-BE49-F238E27FC236}">
                <a16:creationId xmlns:a16="http://schemas.microsoft.com/office/drawing/2014/main" id="{2237C0F5-42D2-9DB0-13E0-E5E22024C484}"/>
              </a:ext>
            </a:extLst>
          </p:cNvPr>
          <p:cNvGrpSpPr/>
          <p:nvPr/>
        </p:nvGrpSpPr>
        <p:grpSpPr>
          <a:xfrm>
            <a:off x="373307" y="2124364"/>
            <a:ext cx="5612562" cy="3619010"/>
            <a:chOff x="631925" y="3105151"/>
            <a:chExt cx="5353943" cy="1276944"/>
          </a:xfrm>
        </p:grpSpPr>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5" y="3105151"/>
              <a:ext cx="2654399" cy="615949"/>
            </a:xfrm>
            <a:prstGeom prst="rect">
              <a:avLst/>
            </a:prstGeom>
          </p:spPr>
        </p:pic>
        <p:sp>
          <p:nvSpPr>
            <p:cNvPr id="6" name="Text 3"/>
            <p:cNvSpPr/>
            <p:nvPr/>
          </p:nvSpPr>
          <p:spPr>
            <a:xfrm>
              <a:off x="785615" y="3150194"/>
              <a:ext cx="1807436" cy="57847"/>
            </a:xfrm>
            <a:prstGeom prst="rect">
              <a:avLst/>
            </a:prstGeom>
            <a:noFill/>
            <a:ln/>
          </p:spPr>
          <p:txBody>
            <a:bodyPr wrap="none" lIns="0" tIns="0" rIns="0" bIns="0" rtlCol="0" anchor="t"/>
            <a:lstStyle/>
            <a:p>
              <a:pPr>
                <a:lnSpc>
                  <a:spcPct val="104000"/>
                </a:lnSpc>
              </a:pPr>
              <a:r>
                <a:rPr lang="en-US" sz="1200" dirty="0">
                  <a:solidFill>
                    <a:srgbClr val="FFE5E5"/>
                  </a:solidFill>
                  <a:latin typeface="+mj-lt"/>
                  <a:ea typeface="Dela Gothic One" pitchFamily="34" charset="-122"/>
                  <a:cs typeface="Dela Gothic One" pitchFamily="34" charset="-120"/>
                </a:rPr>
                <a:t>Firewall Configuration</a:t>
              </a:r>
              <a:endParaRPr lang="en-US" sz="1200" dirty="0">
                <a:latin typeface="+mj-lt"/>
              </a:endParaRPr>
            </a:p>
          </p:txBody>
        </p:sp>
        <p:sp>
          <p:nvSpPr>
            <p:cNvPr id="7" name="Text 4"/>
            <p:cNvSpPr/>
            <p:nvPr/>
          </p:nvSpPr>
          <p:spPr>
            <a:xfrm>
              <a:off x="785615" y="3401516"/>
              <a:ext cx="2397820" cy="216693"/>
            </a:xfrm>
            <a:prstGeom prst="rect">
              <a:avLst/>
            </a:prstGeom>
            <a:noFill/>
            <a:ln/>
          </p:spPr>
          <p:txBody>
            <a:bodyPr wrap="square" lIns="0" tIns="0" rIns="0" bIns="0" rtlCol="0" anchor="t">
              <a:normAutofit/>
            </a:bodyPr>
            <a:lstStyle/>
            <a:p>
              <a:r>
                <a:rPr lang="en-US" sz="1100" dirty="0">
                  <a:solidFill>
                    <a:srgbClr val="FFE5E5"/>
                  </a:solidFill>
                  <a:latin typeface="+mj-lt"/>
                  <a:ea typeface="DM Sans" pitchFamily="34" charset="-122"/>
                  <a:cs typeface="DM Sans" pitchFamily="34" charset="-120"/>
                </a:rPr>
                <a:t>Restricted inbound and outbound traffic to only necessary ports and services.</a:t>
              </a:r>
              <a:endParaRPr lang="en-US" sz="1100" dirty="0">
                <a:latin typeface="+mj-lt"/>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1369" y="3105151"/>
              <a:ext cx="2654499" cy="615949"/>
            </a:xfrm>
            <a:prstGeom prst="rect">
              <a:avLst/>
            </a:prstGeom>
          </p:spPr>
        </p:pic>
        <p:sp>
          <p:nvSpPr>
            <p:cNvPr id="9" name="Text 5"/>
            <p:cNvSpPr/>
            <p:nvPr/>
          </p:nvSpPr>
          <p:spPr>
            <a:xfrm>
              <a:off x="3459255" y="3148796"/>
              <a:ext cx="2397919" cy="90093"/>
            </a:xfrm>
            <a:prstGeom prst="rect">
              <a:avLst/>
            </a:prstGeom>
            <a:noFill/>
            <a:ln/>
          </p:spPr>
          <p:txBody>
            <a:bodyPr wrap="none" lIns="0" tIns="0" rIns="0" bIns="0" rtlCol="0" anchor="t"/>
            <a:lstStyle/>
            <a:p>
              <a:pPr>
                <a:lnSpc>
                  <a:spcPct val="104000"/>
                </a:lnSpc>
              </a:pPr>
              <a:r>
                <a:rPr lang="en-US" sz="1200" dirty="0">
                  <a:solidFill>
                    <a:srgbClr val="FFE5E5"/>
                  </a:solidFill>
                  <a:latin typeface="+mj-lt"/>
                  <a:ea typeface="Dela Gothic One" pitchFamily="34" charset="-122"/>
                  <a:cs typeface="Dela Gothic One" pitchFamily="34" charset="-120"/>
                </a:rPr>
                <a:t>Access Control Implementation</a:t>
              </a:r>
              <a:endParaRPr lang="en-US" sz="1200" dirty="0">
                <a:latin typeface="+mj-lt"/>
              </a:endParaRPr>
            </a:p>
          </p:txBody>
        </p:sp>
        <p:sp>
          <p:nvSpPr>
            <p:cNvPr id="10" name="Text 6"/>
            <p:cNvSpPr/>
            <p:nvPr/>
          </p:nvSpPr>
          <p:spPr>
            <a:xfrm>
              <a:off x="3485059" y="3401516"/>
              <a:ext cx="2397919" cy="216693"/>
            </a:xfrm>
            <a:prstGeom prst="rect">
              <a:avLst/>
            </a:prstGeom>
            <a:noFill/>
            <a:ln/>
          </p:spPr>
          <p:txBody>
            <a:bodyPr wrap="square" lIns="0" tIns="0" rIns="0" bIns="0" rtlCol="0" anchor="t">
              <a:normAutofit/>
            </a:bodyPr>
            <a:lstStyle/>
            <a:p>
              <a:r>
                <a:rPr lang="en-US" sz="1100" dirty="0">
                  <a:solidFill>
                    <a:srgbClr val="FFE5E5"/>
                  </a:solidFill>
                  <a:latin typeface="+mj-lt"/>
                  <a:ea typeface="DM Sans" pitchFamily="34" charset="-122"/>
                  <a:cs typeface="DM Sans" pitchFamily="34" charset="-120"/>
                </a:rPr>
                <a:t>Enforced least-privilege principles across users, services, and applications.</a:t>
              </a:r>
              <a:endParaRPr lang="en-US" sz="1100" dirty="0">
                <a:latin typeface="+mj-lt"/>
              </a:endParaRPr>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5" y="3766146"/>
              <a:ext cx="2654399" cy="615949"/>
            </a:xfrm>
            <a:prstGeom prst="rect">
              <a:avLst/>
            </a:prstGeom>
          </p:spPr>
        </p:pic>
        <p:sp>
          <p:nvSpPr>
            <p:cNvPr id="12" name="Text 7"/>
            <p:cNvSpPr/>
            <p:nvPr/>
          </p:nvSpPr>
          <p:spPr>
            <a:xfrm>
              <a:off x="760214" y="3811191"/>
              <a:ext cx="2238131" cy="103383"/>
            </a:xfrm>
            <a:prstGeom prst="rect">
              <a:avLst/>
            </a:prstGeom>
            <a:noFill/>
            <a:ln/>
          </p:spPr>
          <p:txBody>
            <a:bodyPr wrap="none" lIns="0" tIns="0" rIns="0" bIns="0" rtlCol="0" anchor="t"/>
            <a:lstStyle/>
            <a:p>
              <a:pPr>
                <a:lnSpc>
                  <a:spcPct val="104000"/>
                </a:lnSpc>
              </a:pPr>
              <a:r>
                <a:rPr lang="en-US" sz="1200" dirty="0">
                  <a:solidFill>
                    <a:srgbClr val="FFE5E5"/>
                  </a:solidFill>
                  <a:latin typeface="+mj-lt"/>
                  <a:ea typeface="Dela Gothic One" pitchFamily="34" charset="-122"/>
                  <a:cs typeface="Dela Gothic One" pitchFamily="34" charset="-120"/>
                </a:rPr>
                <a:t>Security Policy Development</a:t>
              </a:r>
              <a:endParaRPr lang="en-US" sz="1200" dirty="0">
                <a:latin typeface="+mj-lt"/>
              </a:endParaRPr>
            </a:p>
          </p:txBody>
        </p:sp>
        <p:sp>
          <p:nvSpPr>
            <p:cNvPr id="13" name="Text 8"/>
            <p:cNvSpPr/>
            <p:nvPr/>
          </p:nvSpPr>
          <p:spPr>
            <a:xfrm>
              <a:off x="785615" y="4062512"/>
              <a:ext cx="2397820" cy="216693"/>
            </a:xfrm>
            <a:prstGeom prst="rect">
              <a:avLst/>
            </a:prstGeom>
            <a:noFill/>
            <a:ln/>
          </p:spPr>
          <p:txBody>
            <a:bodyPr wrap="square" lIns="0" tIns="0" rIns="0" bIns="0" rtlCol="0" anchor="t">
              <a:normAutofit/>
            </a:bodyPr>
            <a:lstStyle/>
            <a:p>
              <a:r>
                <a:rPr lang="en-US" sz="1100" dirty="0">
                  <a:solidFill>
                    <a:srgbClr val="FFE5E5"/>
                  </a:solidFill>
                  <a:latin typeface="+mj-lt"/>
                  <a:ea typeface="DM Sans" pitchFamily="34" charset="-122"/>
                  <a:cs typeface="DM Sans" pitchFamily="34" charset="-120"/>
                </a:rPr>
                <a:t>Established formal policies governing authentication, logging, and incident response.</a:t>
              </a:r>
              <a:endParaRPr lang="en-US" sz="1100" dirty="0">
                <a:latin typeface="+mj-lt"/>
              </a:endParaRPr>
            </a:p>
          </p:txBody>
        </p:sp>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1369" y="3766146"/>
              <a:ext cx="2654499" cy="615949"/>
            </a:xfrm>
            <a:prstGeom prst="rect">
              <a:avLst/>
            </a:prstGeom>
          </p:spPr>
        </p:pic>
        <p:sp>
          <p:nvSpPr>
            <p:cNvPr id="15" name="Text 9"/>
            <p:cNvSpPr/>
            <p:nvPr/>
          </p:nvSpPr>
          <p:spPr>
            <a:xfrm>
              <a:off x="3459254" y="3811191"/>
              <a:ext cx="1389353" cy="72536"/>
            </a:xfrm>
            <a:prstGeom prst="rect">
              <a:avLst/>
            </a:prstGeom>
            <a:noFill/>
            <a:ln/>
          </p:spPr>
          <p:txBody>
            <a:bodyPr wrap="none" lIns="0" tIns="0" rIns="0" bIns="0" rtlCol="0" anchor="t"/>
            <a:lstStyle/>
            <a:p>
              <a:pPr>
                <a:lnSpc>
                  <a:spcPct val="104000"/>
                </a:lnSpc>
              </a:pPr>
              <a:r>
                <a:rPr lang="en-US" sz="1200" dirty="0">
                  <a:solidFill>
                    <a:srgbClr val="FFE5E5"/>
                  </a:solidFill>
                  <a:latin typeface="+mj-lt"/>
                  <a:ea typeface="Dela Gothic One" pitchFamily="34" charset="-122"/>
                  <a:cs typeface="Dela Gothic One" pitchFamily="34" charset="-120"/>
                </a:rPr>
                <a:t>Monitoring Setup</a:t>
              </a:r>
              <a:endParaRPr lang="en-US" sz="1200" dirty="0">
                <a:latin typeface="+mj-lt"/>
              </a:endParaRPr>
            </a:p>
          </p:txBody>
        </p:sp>
        <p:sp>
          <p:nvSpPr>
            <p:cNvPr id="16" name="Text 10"/>
            <p:cNvSpPr/>
            <p:nvPr/>
          </p:nvSpPr>
          <p:spPr>
            <a:xfrm>
              <a:off x="3485059" y="4062512"/>
              <a:ext cx="2397919" cy="216693"/>
            </a:xfrm>
            <a:prstGeom prst="rect">
              <a:avLst/>
            </a:prstGeom>
            <a:noFill/>
            <a:ln/>
          </p:spPr>
          <p:txBody>
            <a:bodyPr wrap="square" lIns="0" tIns="0" rIns="0" bIns="0" rtlCol="0" anchor="t">
              <a:normAutofit/>
            </a:bodyPr>
            <a:lstStyle/>
            <a:p>
              <a:r>
                <a:rPr lang="en-US" sz="1100" dirty="0">
                  <a:solidFill>
                    <a:srgbClr val="FFE5E5"/>
                  </a:solidFill>
                  <a:latin typeface="+mj-lt"/>
                  <a:ea typeface="DM Sans" pitchFamily="34" charset="-122"/>
                  <a:cs typeface="DM Sans" pitchFamily="34" charset="-120"/>
                </a:rPr>
                <a:t>Deployed logging and alerting to detect future intrusion attempts.</a:t>
              </a:r>
              <a:endParaRPr lang="en-US" sz="1100" dirty="0">
                <a:latin typeface="+mj-lt"/>
              </a:endParaRPr>
            </a:p>
          </p:txBody>
        </p:sp>
      </p:grpSp>
      <p:pic>
        <p:nvPicPr>
          <p:cNvPr id="17" name="Image 4" descr="preencoded.png"/>
          <p:cNvPicPr>
            <a:picLocks noChangeAspect="1"/>
          </p:cNvPicPr>
          <p:nvPr/>
        </p:nvPicPr>
        <p:blipFill>
          <a:blip r:embed="rId4"/>
          <a:stretch>
            <a:fillRect/>
          </a:stretch>
        </p:blipFill>
        <p:spPr>
          <a:xfrm>
            <a:off x="6212483" y="341746"/>
            <a:ext cx="5785553" cy="5929745"/>
          </a:xfrm>
          <a:prstGeom prst="rect">
            <a:avLst/>
          </a:prstGeom>
        </p:spPr>
      </p:pic>
      <p:sp>
        <p:nvSpPr>
          <p:cNvPr id="23" name="Footer Placeholder 22">
            <a:extLst>
              <a:ext uri="{FF2B5EF4-FFF2-40B4-BE49-F238E27FC236}">
                <a16:creationId xmlns:a16="http://schemas.microsoft.com/office/drawing/2014/main" id="{FDA440DD-FA02-675D-2B37-2C123F063170}"/>
              </a:ext>
            </a:extLst>
          </p:cNvPr>
          <p:cNvSpPr>
            <a:spLocks noGrp="1"/>
          </p:cNvSpPr>
          <p:nvPr>
            <p:ph type="ftr" sz="quarter" idx="3"/>
          </p:nvPr>
        </p:nvSpPr>
        <p:spPr/>
        <p:txBody>
          <a:bodyPr/>
          <a:lstStyle/>
          <a:p>
            <a:r>
              <a:rPr lang="en-US" dirty="0">
                <a:latin typeface="+mj-lt"/>
              </a:rPr>
              <a:t>Zero Trace Imperium</a:t>
            </a:r>
          </a:p>
        </p:txBody>
      </p:sp>
      <p:sp>
        <p:nvSpPr>
          <p:cNvPr id="24" name="Slide Number Placeholder 23">
            <a:extLst>
              <a:ext uri="{FF2B5EF4-FFF2-40B4-BE49-F238E27FC236}">
                <a16:creationId xmlns:a16="http://schemas.microsoft.com/office/drawing/2014/main" id="{6429871C-EFE2-EE40-DC91-A2A3EA354E3D}"/>
              </a:ext>
            </a:extLst>
          </p:cNvPr>
          <p:cNvSpPr>
            <a:spLocks noGrp="1"/>
          </p:cNvSpPr>
          <p:nvPr>
            <p:ph type="sldNum" sz="quarter" idx="4"/>
          </p:nvPr>
        </p:nvSpPr>
        <p:spPr/>
        <p:txBody>
          <a:bodyPr/>
          <a:lstStyle/>
          <a:p>
            <a:fld id="{08D6B0A0-5113-456A-82B3-EA8CCD6D43D8}" type="slidenum">
              <a:rPr lang="en-US" smtClean="0">
                <a:latin typeface="+mj-lt"/>
              </a:rPr>
              <a:t>31</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0"/>
          <p:cNvSpPr/>
          <p:nvPr/>
        </p:nvSpPr>
        <p:spPr>
          <a:xfrm>
            <a:off x="631923" y="1084957"/>
            <a:ext cx="963963" cy="267951"/>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712464" y="1139031"/>
            <a:ext cx="1280616"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PHASE : 09</a:t>
            </a:r>
            <a:endParaRPr lang="en-US" sz="1133" dirty="0">
              <a:latin typeface="+mj-lt"/>
            </a:endParaRPr>
          </a:p>
        </p:txBody>
      </p:sp>
      <p:sp>
        <p:nvSpPr>
          <p:cNvPr id="4" name="Text 2"/>
          <p:cNvSpPr/>
          <p:nvPr/>
        </p:nvSpPr>
        <p:spPr>
          <a:xfrm>
            <a:off x="631924" y="1431330"/>
            <a:ext cx="6028235"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Detection &amp; Monitoring</a:t>
            </a:r>
            <a:endParaRPr lang="en-US" sz="3733" dirty="0">
              <a:latin typeface="+mj-lt"/>
            </a:endParaRPr>
          </a:p>
        </p:txBody>
      </p:sp>
      <p:sp>
        <p:nvSpPr>
          <p:cNvPr id="5" name="Text 3"/>
          <p:cNvSpPr/>
          <p:nvPr/>
        </p:nvSpPr>
        <p:spPr>
          <a:xfrm>
            <a:off x="631924" y="2097386"/>
            <a:ext cx="2794767" cy="296863"/>
          </a:xfrm>
          <a:prstGeom prst="rect">
            <a:avLst/>
          </a:prstGeom>
          <a:noFill/>
          <a:ln/>
        </p:spPr>
        <p:txBody>
          <a:bodyPr wrap="none" lIns="0" tIns="0" rIns="0" bIns="0" rtlCol="0" anchor="t"/>
          <a:lstStyle/>
          <a:p>
            <a:pPr>
              <a:lnSpc>
                <a:spcPct val="104000"/>
              </a:lnSpc>
            </a:pPr>
            <a:r>
              <a:rPr lang="en-US" sz="1867" dirty="0">
                <a:solidFill>
                  <a:srgbClr val="FAEBEB"/>
                </a:solidFill>
                <a:latin typeface="+mj-lt"/>
                <a:ea typeface="Dela Gothic One" pitchFamily="34" charset="-122"/>
                <a:cs typeface="Dela Gothic One" pitchFamily="34" charset="-120"/>
              </a:rPr>
              <a:t>Blue Team Visibility</a:t>
            </a:r>
            <a:endParaRPr lang="en-US" sz="1867" dirty="0">
              <a:latin typeface="+mj-lt"/>
            </a:endParaRPr>
          </a:p>
        </p:txBody>
      </p:sp>
      <p:sp>
        <p:nvSpPr>
          <p:cNvPr id="6" name="Text 4"/>
          <p:cNvSpPr/>
          <p:nvPr/>
        </p:nvSpPr>
        <p:spPr>
          <a:xfrm>
            <a:off x="631924" y="2665016"/>
            <a:ext cx="10928152"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The blue team validated defensive controls by monitoring network traffic, authentication events, and service logs to detect and analyze adversarial activity in near real</a:t>
            </a:r>
            <a:r>
              <a:rPr lang="ar-EG" sz="1400" dirty="0">
                <a:solidFill>
                  <a:srgbClr val="FFE5E5"/>
                </a:solidFill>
                <a:ea typeface="DM Sans" pitchFamily="34" charset="-122"/>
                <a:cs typeface="DM Sans" pitchFamily="34" charset="-120"/>
              </a:rPr>
              <a:t> </a:t>
            </a:r>
            <a:r>
              <a:rPr lang="en-US" sz="1400" dirty="0">
                <a:solidFill>
                  <a:srgbClr val="FFE5E5"/>
                </a:solidFill>
                <a:ea typeface="DM Sans" pitchFamily="34" charset="-122"/>
                <a:cs typeface="DM Sans" pitchFamily="34" charset="-120"/>
              </a:rPr>
              <a:t>time.</a:t>
            </a:r>
            <a:endParaRPr lang="en-US" sz="14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4" y="3445967"/>
            <a:ext cx="451347" cy="451347"/>
          </a:xfrm>
          <a:prstGeom prst="rect">
            <a:avLst/>
          </a:prstGeom>
        </p:spPr>
      </p:pic>
      <p:sp>
        <p:nvSpPr>
          <p:cNvPr id="8" name="Text 5"/>
          <p:cNvSpPr/>
          <p:nvPr/>
        </p:nvSpPr>
        <p:spPr>
          <a:xfrm>
            <a:off x="1308895" y="3445967"/>
            <a:ext cx="1378888"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Wireshark</a:t>
            </a:r>
            <a:endParaRPr lang="en-US" sz="1867" dirty="0">
              <a:latin typeface="+mj-lt"/>
            </a:endParaRPr>
          </a:p>
        </p:txBody>
      </p:sp>
      <p:sp>
        <p:nvSpPr>
          <p:cNvPr id="9" name="Text 6"/>
          <p:cNvSpPr/>
          <p:nvPr/>
        </p:nvSpPr>
        <p:spPr>
          <a:xfrm>
            <a:off x="1308894" y="3851076"/>
            <a:ext cx="4674295"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Live packet capture and protocol analysis to detect anomalous traffic patterns.</a:t>
            </a:r>
            <a:endParaRPr lang="en-US" sz="140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08812" y="3445967"/>
            <a:ext cx="451347" cy="451347"/>
          </a:xfrm>
          <a:prstGeom prst="rect">
            <a:avLst/>
          </a:prstGeom>
        </p:spPr>
      </p:pic>
      <p:sp>
        <p:nvSpPr>
          <p:cNvPr id="11" name="Text 7"/>
          <p:cNvSpPr/>
          <p:nvPr/>
        </p:nvSpPr>
        <p:spPr>
          <a:xfrm>
            <a:off x="6885782" y="3445967"/>
            <a:ext cx="1676327"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Apache Logs</a:t>
            </a:r>
            <a:endParaRPr lang="en-US" sz="1867" dirty="0">
              <a:latin typeface="+mj-lt"/>
            </a:endParaRPr>
          </a:p>
        </p:txBody>
      </p:sp>
      <p:sp>
        <p:nvSpPr>
          <p:cNvPr id="12" name="Text 8"/>
          <p:cNvSpPr/>
          <p:nvPr/>
        </p:nvSpPr>
        <p:spPr>
          <a:xfrm>
            <a:off x="6885782" y="3851076"/>
            <a:ext cx="4674295"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Web server access logs reviewed for exploit attempts and reconnaissance activity.</a:t>
            </a:r>
            <a:endParaRPr lang="en-US" sz="14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1924" y="4789984"/>
            <a:ext cx="451347" cy="451347"/>
          </a:xfrm>
          <a:prstGeom prst="rect">
            <a:avLst/>
          </a:prstGeom>
        </p:spPr>
      </p:pic>
      <p:sp>
        <p:nvSpPr>
          <p:cNvPr id="14" name="Text 9"/>
          <p:cNvSpPr/>
          <p:nvPr/>
        </p:nvSpPr>
        <p:spPr>
          <a:xfrm>
            <a:off x="1308895" y="4789985"/>
            <a:ext cx="1794524"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Fail2Ban Logs</a:t>
            </a:r>
            <a:endParaRPr lang="en-US" sz="1867" dirty="0">
              <a:latin typeface="+mj-lt"/>
            </a:endParaRPr>
          </a:p>
        </p:txBody>
      </p:sp>
      <p:sp>
        <p:nvSpPr>
          <p:cNvPr id="15" name="Text 10"/>
          <p:cNvSpPr/>
          <p:nvPr/>
        </p:nvSpPr>
        <p:spPr>
          <a:xfrm>
            <a:off x="1308894" y="5195093"/>
            <a:ext cx="4674295"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Brute-</a:t>
            </a:r>
            <a:r>
              <a:rPr lang="en-US" sz="1400" dirty="0" err="1">
                <a:solidFill>
                  <a:srgbClr val="FFE5E5"/>
                </a:solidFill>
                <a:ea typeface="DM Sans" pitchFamily="34" charset="-122"/>
                <a:cs typeface="DM Sans" pitchFamily="34" charset="-120"/>
              </a:rPr>
              <a:t>forceautomated</a:t>
            </a:r>
            <a:r>
              <a:rPr lang="en-US" sz="1400" dirty="0">
                <a:solidFill>
                  <a:srgbClr val="FFE5E5"/>
                </a:solidFill>
                <a:ea typeface="DM Sans" pitchFamily="34" charset="-122"/>
                <a:cs typeface="DM Sans" pitchFamily="34" charset="-120"/>
              </a:rPr>
              <a:t> mitigation events tracked to validate blocking rules.</a:t>
            </a:r>
            <a:endParaRPr lang="en-US" sz="14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08812" y="4789984"/>
            <a:ext cx="451347" cy="451347"/>
          </a:xfrm>
          <a:prstGeom prst="rect">
            <a:avLst/>
          </a:prstGeom>
        </p:spPr>
      </p:pic>
      <p:sp>
        <p:nvSpPr>
          <p:cNvPr id="17" name="Text 11"/>
          <p:cNvSpPr/>
          <p:nvPr/>
        </p:nvSpPr>
        <p:spPr>
          <a:xfrm>
            <a:off x="6885783" y="4789985"/>
            <a:ext cx="1343178"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Auth Logs</a:t>
            </a:r>
            <a:endParaRPr lang="en-US" sz="1867" dirty="0">
              <a:latin typeface="+mj-lt"/>
            </a:endParaRPr>
          </a:p>
        </p:txBody>
      </p:sp>
      <p:sp>
        <p:nvSpPr>
          <p:cNvPr id="18" name="Text 12"/>
          <p:cNvSpPr/>
          <p:nvPr/>
        </p:nvSpPr>
        <p:spPr>
          <a:xfrm>
            <a:off x="6885782" y="5195093"/>
            <a:ext cx="4674295"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Authentication records analyzed to identify failed login patterns and lateral movement.</a:t>
            </a:r>
            <a:endParaRPr lang="en-US" sz="1400" dirty="0"/>
          </a:p>
        </p:txBody>
      </p:sp>
      <p:sp>
        <p:nvSpPr>
          <p:cNvPr id="19" name="Slide Number Placeholder 23">
            <a:extLst>
              <a:ext uri="{FF2B5EF4-FFF2-40B4-BE49-F238E27FC236}">
                <a16:creationId xmlns:a16="http://schemas.microsoft.com/office/drawing/2014/main" id="{A87B55D4-758D-411A-71EB-97A53EB82420}"/>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8D6B0A0-5113-456A-82B3-EA8CCD6D43D8}" type="slidenum">
              <a:rPr lang="en-US" sz="1200" smtClean="0">
                <a:solidFill>
                  <a:schemeClr val="bg2">
                    <a:lumMod val="25000"/>
                  </a:schemeClr>
                </a:solidFill>
                <a:latin typeface="+mj-lt"/>
              </a:rPr>
              <a:pPr algn="r"/>
              <a:t>32</a:t>
            </a:fld>
            <a:endParaRPr lang="en-US" sz="1200" dirty="0">
              <a:solidFill>
                <a:schemeClr val="bg2">
                  <a:lumMod val="25000"/>
                </a:schemeClr>
              </a:solidFill>
              <a:latin typeface="+mj-lt"/>
            </a:endParaRPr>
          </a:p>
        </p:txBody>
      </p:sp>
      <p:sp>
        <p:nvSpPr>
          <p:cNvPr id="21" name="Footer Placeholder 22">
            <a:extLst>
              <a:ext uri="{FF2B5EF4-FFF2-40B4-BE49-F238E27FC236}">
                <a16:creationId xmlns:a16="http://schemas.microsoft.com/office/drawing/2014/main" id="{BF66E0A7-87A8-F299-598F-52D2BA87D108}"/>
              </a:ext>
            </a:extLst>
          </p:cNvPr>
          <p:cNvSpPr txBox="1">
            <a:spLocks/>
          </p:cNvSpPr>
          <p:nvPr/>
        </p:nvSpPr>
        <p:spPr>
          <a:xfrm>
            <a:off x="4038600" y="6356350"/>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solidFill>
                  <a:schemeClr val="bg2">
                    <a:lumMod val="25000"/>
                  </a:schemeClr>
                </a:solidFill>
                <a:latin typeface="+mj-lt"/>
              </a:rPr>
              <a:t>Zero Trace Imperium</a:t>
            </a:r>
          </a:p>
        </p:txBody>
      </p:sp>
      <p:pic>
        <p:nvPicPr>
          <p:cNvPr id="23" name="Picture 22">
            <a:extLst>
              <a:ext uri="{FF2B5EF4-FFF2-40B4-BE49-F238E27FC236}">
                <a16:creationId xmlns:a16="http://schemas.microsoft.com/office/drawing/2014/main" id="{20EC478C-9C27-CE95-BE16-3869A6FEE91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9058"/>
            <a:ext cx="704088" cy="70408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0"/>
          <p:cNvSpPr/>
          <p:nvPr/>
        </p:nvSpPr>
        <p:spPr>
          <a:xfrm>
            <a:off x="1311563" y="369541"/>
            <a:ext cx="1231141" cy="261699"/>
          </a:xfrm>
          <a:prstGeom prst="roundRect">
            <a:avLst>
              <a:gd name="adj" fmla="val 22137"/>
            </a:avLst>
          </a:prstGeom>
          <a:solidFill>
            <a:srgbClr val="460707"/>
          </a:solidFill>
          <a:ln/>
        </p:spPr>
        <p:txBody>
          <a:bodyPr/>
          <a:lstStyle/>
          <a:p>
            <a:endParaRPr lang="en-US" sz="2400">
              <a:latin typeface="+mj-lt"/>
            </a:endParaRPr>
          </a:p>
        </p:txBody>
      </p:sp>
      <p:sp>
        <p:nvSpPr>
          <p:cNvPr id="3" name="Text 1"/>
          <p:cNvSpPr/>
          <p:nvPr/>
        </p:nvSpPr>
        <p:spPr>
          <a:xfrm>
            <a:off x="1413745" y="392064"/>
            <a:ext cx="922139" cy="261700"/>
          </a:xfrm>
          <a:prstGeom prst="rect">
            <a:avLst/>
          </a:prstGeom>
          <a:noFill/>
          <a:ln/>
        </p:spPr>
        <p:txBody>
          <a:bodyPr wrap="none" lIns="0" tIns="0" rIns="0" bIns="0" rtlCol="0" anchor="t"/>
          <a:lstStyle/>
          <a:p>
            <a:pPr>
              <a:lnSpc>
                <a:spcPct val="96000"/>
              </a:lnSpc>
            </a:pPr>
            <a:r>
              <a:rPr lang="en-US" sz="1400" dirty="0">
                <a:solidFill>
                  <a:srgbClr val="FFE5E5"/>
                </a:solidFill>
                <a:latin typeface="+mj-lt"/>
                <a:ea typeface="DM Sans" pitchFamily="34" charset="-122"/>
                <a:cs typeface="DM Sans" pitchFamily="34" charset="-120"/>
              </a:rPr>
              <a:t>PHASE : 10</a:t>
            </a:r>
            <a:endParaRPr lang="en-US" sz="1400" dirty="0">
              <a:latin typeface="+mj-lt"/>
            </a:endParaRPr>
          </a:p>
        </p:txBody>
      </p:sp>
      <p:sp>
        <p:nvSpPr>
          <p:cNvPr id="4" name="Text 2"/>
          <p:cNvSpPr/>
          <p:nvPr/>
        </p:nvSpPr>
        <p:spPr>
          <a:xfrm>
            <a:off x="704088" y="703408"/>
            <a:ext cx="4682255" cy="596570"/>
          </a:xfrm>
          <a:prstGeom prst="rect">
            <a:avLst/>
          </a:prstGeom>
          <a:noFill/>
          <a:ln/>
        </p:spPr>
        <p:txBody>
          <a:bodyPr wrap="none" lIns="0" tIns="0" rIns="0" bIns="0" rtlCol="0" anchor="t"/>
          <a:lstStyle/>
          <a:p>
            <a:pPr>
              <a:lnSpc>
                <a:spcPct val="104000"/>
              </a:lnSpc>
            </a:pPr>
            <a:r>
              <a:rPr lang="en-US" sz="4000" dirty="0">
                <a:solidFill>
                  <a:srgbClr val="FAEBEB"/>
                </a:solidFill>
                <a:latin typeface="+mj-lt"/>
                <a:ea typeface="Dela Gothic One" pitchFamily="34" charset="-122"/>
                <a:cs typeface="Dela Gothic One" pitchFamily="34" charset="-120"/>
              </a:rPr>
              <a:t>Cowrie Honeypot</a:t>
            </a:r>
            <a:endParaRPr lang="en-US" sz="4000" dirty="0">
              <a:latin typeface="+mj-lt"/>
            </a:endParaRPr>
          </a:p>
        </p:txBody>
      </p:sp>
      <p:sp>
        <p:nvSpPr>
          <p:cNvPr id="5" name="Text 3"/>
          <p:cNvSpPr/>
          <p:nvPr/>
        </p:nvSpPr>
        <p:spPr>
          <a:xfrm>
            <a:off x="1636333" y="1395307"/>
            <a:ext cx="2141340" cy="291114"/>
          </a:xfrm>
          <a:prstGeom prst="rect">
            <a:avLst/>
          </a:prstGeom>
          <a:noFill/>
          <a:ln/>
        </p:spPr>
        <p:txBody>
          <a:bodyPr wrap="none" lIns="0" tIns="0" rIns="0" bIns="0" rtlCol="0" anchor="t"/>
          <a:lstStyle/>
          <a:p>
            <a:pPr>
              <a:lnSpc>
                <a:spcPct val="104000"/>
              </a:lnSpc>
            </a:pPr>
            <a:r>
              <a:rPr lang="en-US" sz="1200" dirty="0">
                <a:solidFill>
                  <a:srgbClr val="FAEBEB"/>
                </a:solidFill>
                <a:latin typeface="+mj-lt"/>
                <a:ea typeface="Dela Gothic One" pitchFamily="34" charset="-122"/>
                <a:cs typeface="Dela Gothic One" pitchFamily="34" charset="-120"/>
              </a:rPr>
              <a:t>Threat Intelligence Collection</a:t>
            </a:r>
            <a:endParaRPr lang="en-US" sz="1200" dirty="0">
              <a:latin typeface="+mj-lt"/>
            </a:endParaRPr>
          </a:p>
        </p:txBody>
      </p:sp>
      <p:sp>
        <p:nvSpPr>
          <p:cNvPr id="6" name="Text 4"/>
          <p:cNvSpPr/>
          <p:nvPr/>
        </p:nvSpPr>
        <p:spPr>
          <a:xfrm>
            <a:off x="724166" y="2142578"/>
            <a:ext cx="1270889" cy="360161"/>
          </a:xfrm>
          <a:prstGeom prst="rect">
            <a:avLst/>
          </a:prstGeom>
          <a:noFill/>
          <a:ln/>
        </p:spPr>
        <p:txBody>
          <a:bodyPr wrap="none" lIns="0" tIns="0" rIns="0" bIns="0" rtlCol="0" anchor="t"/>
          <a:lstStyle/>
          <a:p>
            <a:pPr>
              <a:lnSpc>
                <a:spcPct val="104000"/>
              </a:lnSpc>
            </a:pPr>
            <a:r>
              <a:rPr lang="en-US" sz="2000" dirty="0">
                <a:solidFill>
                  <a:srgbClr val="FAEBEB"/>
                </a:solidFill>
                <a:latin typeface="+mj-lt"/>
                <a:ea typeface="Dela Gothic One" pitchFamily="34" charset="-122"/>
                <a:cs typeface="Dela Gothic One" pitchFamily="34" charset="-120"/>
              </a:rPr>
              <a:t>Objectives</a:t>
            </a:r>
            <a:endParaRPr lang="en-US" sz="2000" dirty="0">
              <a:latin typeface="+mj-lt"/>
            </a:endParaRPr>
          </a:p>
        </p:txBody>
      </p:sp>
      <p:sp>
        <p:nvSpPr>
          <p:cNvPr id="7" name="Text 5"/>
          <p:cNvSpPr/>
          <p:nvPr/>
        </p:nvSpPr>
        <p:spPr>
          <a:xfrm>
            <a:off x="659634" y="2679577"/>
            <a:ext cx="2905603" cy="811287"/>
          </a:xfrm>
          <a:prstGeom prst="rect">
            <a:avLst/>
          </a:prstGeom>
          <a:noFill/>
          <a:ln/>
        </p:spPr>
        <p:txBody>
          <a:bodyPr wrap="square" lIns="0" tIns="0" rIns="0" bIns="0" rtlCol="0" anchor="t">
            <a:normAutofit/>
          </a:bodyPr>
          <a:lstStyle/>
          <a:p>
            <a:pPr marL="135463" indent="-135463">
              <a:buSzPct val="100000"/>
              <a:buChar char="•"/>
            </a:pPr>
            <a:r>
              <a:rPr lang="en-US" sz="1200" dirty="0">
                <a:solidFill>
                  <a:srgbClr val="FFE5E5"/>
                </a:solidFill>
                <a:ea typeface="DM Sans" pitchFamily="34" charset="-122"/>
                <a:cs typeface="DM Sans" pitchFamily="34" charset="-120"/>
              </a:rPr>
              <a:t>Capture brute-force login attempts</a:t>
            </a:r>
            <a:endParaRPr lang="en-US" sz="1200" dirty="0"/>
          </a:p>
          <a:p>
            <a:pPr marL="135463" indent="-135463">
              <a:buSzPct val="100000"/>
              <a:buChar char="•"/>
            </a:pPr>
            <a:r>
              <a:rPr lang="en-US" sz="1200" dirty="0">
                <a:solidFill>
                  <a:srgbClr val="FFE5E5"/>
                </a:solidFill>
                <a:ea typeface="DM Sans" pitchFamily="34" charset="-122"/>
                <a:cs typeface="DM Sans" pitchFamily="34" charset="-120"/>
              </a:rPr>
              <a:t>Record attacker-executed commands</a:t>
            </a:r>
            <a:endParaRPr lang="en-US" sz="1200" dirty="0"/>
          </a:p>
          <a:p>
            <a:pPr marL="135463" indent="-135463">
              <a:buSzPct val="100000"/>
              <a:buChar char="•"/>
            </a:pPr>
            <a:r>
              <a:rPr lang="en-US" sz="1200" dirty="0">
                <a:solidFill>
                  <a:srgbClr val="FFE5E5"/>
                </a:solidFill>
                <a:ea typeface="DM Sans" pitchFamily="34" charset="-122"/>
                <a:cs typeface="DM Sans" pitchFamily="34" charset="-120"/>
              </a:rPr>
              <a:t>Observe real world attacker behavior</a:t>
            </a:r>
            <a:endParaRPr lang="en-US" sz="1200" dirty="0"/>
          </a:p>
          <a:p>
            <a:pPr marL="135463" indent="-135463">
              <a:buSzPct val="100000"/>
              <a:buChar char="•"/>
            </a:pPr>
            <a:r>
              <a:rPr lang="en-US" sz="1200" dirty="0">
                <a:solidFill>
                  <a:srgbClr val="FFE5E5"/>
                </a:solidFill>
                <a:ea typeface="DM Sans" pitchFamily="34" charset="-122"/>
                <a:cs typeface="DM Sans" pitchFamily="34" charset="-120"/>
              </a:rPr>
              <a:t>Collect actionable threat intelligence</a:t>
            </a:r>
            <a:endParaRPr lang="en-US" sz="1200" dirty="0"/>
          </a:p>
        </p:txBody>
      </p:sp>
      <p:sp>
        <p:nvSpPr>
          <p:cNvPr id="8" name="Text 6"/>
          <p:cNvSpPr/>
          <p:nvPr/>
        </p:nvSpPr>
        <p:spPr>
          <a:xfrm>
            <a:off x="659634" y="3984926"/>
            <a:ext cx="929020" cy="356592"/>
          </a:xfrm>
          <a:prstGeom prst="rect">
            <a:avLst/>
          </a:prstGeom>
          <a:noFill/>
          <a:ln/>
        </p:spPr>
        <p:txBody>
          <a:bodyPr wrap="none" lIns="0" tIns="0" rIns="0" bIns="0" rtlCol="0" anchor="t"/>
          <a:lstStyle/>
          <a:p>
            <a:pPr>
              <a:lnSpc>
                <a:spcPct val="104000"/>
              </a:lnSpc>
            </a:pPr>
            <a:r>
              <a:rPr lang="en-US" sz="2000" dirty="0">
                <a:solidFill>
                  <a:srgbClr val="FAEBEB"/>
                </a:solidFill>
                <a:latin typeface="+mj-lt"/>
                <a:ea typeface="Dela Gothic One" pitchFamily="34" charset="-122"/>
                <a:cs typeface="Dela Gothic One" pitchFamily="34" charset="-120"/>
              </a:rPr>
              <a:t>Benefits</a:t>
            </a:r>
            <a:endParaRPr lang="en-US" sz="2000" dirty="0">
              <a:latin typeface="+mj-lt"/>
            </a:endParaRPr>
          </a:p>
        </p:txBody>
      </p:sp>
      <p:sp>
        <p:nvSpPr>
          <p:cNvPr id="9" name="Text 7"/>
          <p:cNvSpPr/>
          <p:nvPr/>
        </p:nvSpPr>
        <p:spPr>
          <a:xfrm>
            <a:off x="613452" y="4518356"/>
            <a:ext cx="4974548" cy="686850"/>
          </a:xfrm>
          <a:prstGeom prst="rect">
            <a:avLst/>
          </a:prstGeom>
          <a:noFill/>
          <a:ln/>
        </p:spPr>
        <p:txBody>
          <a:bodyPr wrap="square" lIns="0" tIns="0" rIns="0" bIns="0" rtlCol="0" anchor="t">
            <a:noAutofit/>
          </a:bodyPr>
          <a:lstStyle/>
          <a:p>
            <a:pPr marL="135463" indent="-135463">
              <a:buSzPct val="100000"/>
              <a:buChar char="•"/>
            </a:pPr>
            <a:r>
              <a:rPr lang="en-US" sz="1200" b="1" dirty="0">
                <a:solidFill>
                  <a:srgbClr val="FFE5E5"/>
                </a:solidFill>
                <a:ea typeface="DM Sans Bold" pitchFamily="34" charset="-122"/>
                <a:cs typeface="DM Sans Bold" pitchFamily="34" charset="-120"/>
              </a:rPr>
              <a:t>Threat Visibility</a:t>
            </a:r>
            <a:r>
              <a:rPr lang="en-US" sz="1200" dirty="0">
                <a:solidFill>
                  <a:srgbClr val="FFE5E5"/>
                </a:solidFill>
                <a:ea typeface="DM Sans" pitchFamily="34" charset="-122"/>
                <a:cs typeface="DM Sans" pitchFamily="34" charset="-120"/>
              </a:rPr>
              <a:t> : early warning of active adversary TTPs</a:t>
            </a:r>
            <a:endParaRPr lang="en-US" sz="1200" dirty="0"/>
          </a:p>
          <a:p>
            <a:pPr marL="135463" indent="-135463">
              <a:buSzPct val="100000"/>
              <a:buChar char="•"/>
            </a:pPr>
            <a:r>
              <a:rPr lang="en-US" sz="1200" b="1" dirty="0">
                <a:solidFill>
                  <a:srgbClr val="FFE5E5"/>
                </a:solidFill>
                <a:ea typeface="DM Sans Bold" pitchFamily="34" charset="-122"/>
                <a:cs typeface="DM Sans Bold" pitchFamily="34" charset="-120"/>
              </a:rPr>
              <a:t>Security Awareness</a:t>
            </a:r>
            <a:r>
              <a:rPr lang="en-US" sz="1200" dirty="0">
                <a:solidFill>
                  <a:srgbClr val="FFE5E5"/>
                </a:solidFill>
                <a:ea typeface="DM Sans" pitchFamily="34" charset="-122"/>
                <a:cs typeface="DM Sans" pitchFamily="34" charset="-120"/>
              </a:rPr>
              <a:t> : informs detection rule development</a:t>
            </a:r>
            <a:endParaRPr lang="en-US" sz="1200" dirty="0"/>
          </a:p>
          <a:p>
            <a:pPr marL="135463" indent="-135463">
              <a:buSzPct val="100000"/>
              <a:buChar char="•"/>
            </a:pPr>
            <a:r>
              <a:rPr lang="en-US" sz="1200" b="1" dirty="0">
                <a:solidFill>
                  <a:srgbClr val="FFE5E5"/>
                </a:solidFill>
                <a:ea typeface="DM Sans Bold" pitchFamily="34" charset="-122"/>
                <a:cs typeface="DM Sans Bold" pitchFamily="34" charset="-120"/>
              </a:rPr>
              <a:t>Incident Analysis</a:t>
            </a:r>
            <a:r>
              <a:rPr lang="en-US" sz="1200" dirty="0">
                <a:solidFill>
                  <a:srgbClr val="FFE5E5"/>
                </a:solidFill>
                <a:ea typeface="DM Sans" pitchFamily="34" charset="-122"/>
                <a:cs typeface="DM Sans" pitchFamily="34" charset="-120"/>
              </a:rPr>
              <a:t> : supports forensic investigation and reporting</a:t>
            </a:r>
            <a:endParaRPr lang="en-US" sz="1200" dirty="0"/>
          </a:p>
        </p:txBody>
      </p:sp>
      <p:pic>
        <p:nvPicPr>
          <p:cNvPr id="10" name="Image 0" descr="preencoded.png"/>
          <p:cNvPicPr>
            <a:picLocks noChangeAspect="1"/>
          </p:cNvPicPr>
          <p:nvPr/>
        </p:nvPicPr>
        <p:blipFill>
          <a:blip r:embed="rId3"/>
          <a:stretch>
            <a:fillRect/>
          </a:stretch>
        </p:blipFill>
        <p:spPr>
          <a:xfrm>
            <a:off x="5616290" y="207854"/>
            <a:ext cx="6363274" cy="6035928"/>
          </a:xfrm>
          <a:prstGeom prst="rect">
            <a:avLst/>
          </a:prstGeom>
        </p:spPr>
      </p:pic>
      <p:sp>
        <p:nvSpPr>
          <p:cNvPr id="11" name="Footer Placeholder 22">
            <a:extLst>
              <a:ext uri="{FF2B5EF4-FFF2-40B4-BE49-F238E27FC236}">
                <a16:creationId xmlns:a16="http://schemas.microsoft.com/office/drawing/2014/main" id="{FAE7BE60-2FC2-3583-5B19-886170EF5DE2}"/>
              </a:ext>
            </a:extLst>
          </p:cNvPr>
          <p:cNvSpPr txBox="1">
            <a:spLocks/>
          </p:cNvSpPr>
          <p:nvPr/>
        </p:nvSpPr>
        <p:spPr>
          <a:xfrm>
            <a:off x="4038600" y="6356350"/>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solidFill>
                  <a:schemeClr val="bg2">
                    <a:lumMod val="25000"/>
                  </a:schemeClr>
                </a:solidFill>
                <a:latin typeface="+mj-lt"/>
              </a:rPr>
              <a:t>Zero Trace Imperium</a:t>
            </a:r>
          </a:p>
        </p:txBody>
      </p:sp>
      <p:sp>
        <p:nvSpPr>
          <p:cNvPr id="13" name="Slide Number Placeholder 23">
            <a:extLst>
              <a:ext uri="{FF2B5EF4-FFF2-40B4-BE49-F238E27FC236}">
                <a16:creationId xmlns:a16="http://schemas.microsoft.com/office/drawing/2014/main" id="{6FE8E4C5-A27E-04BE-AF15-62C941E7232C}"/>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8D6B0A0-5113-456A-82B3-EA8CCD6D43D8}" type="slidenum">
              <a:rPr lang="en-US" sz="1200" smtClean="0">
                <a:solidFill>
                  <a:schemeClr val="bg2">
                    <a:lumMod val="25000"/>
                  </a:schemeClr>
                </a:solidFill>
                <a:latin typeface="+mj-lt"/>
              </a:rPr>
              <a:pPr algn="r"/>
              <a:t>33</a:t>
            </a:fld>
            <a:endParaRPr lang="en-US" sz="1200" dirty="0">
              <a:solidFill>
                <a:schemeClr val="bg2">
                  <a:lumMod val="25000"/>
                </a:schemeClr>
              </a:solidFill>
              <a:latin typeface="+mj-lt"/>
            </a:endParaRPr>
          </a:p>
        </p:txBody>
      </p:sp>
      <p:pic>
        <p:nvPicPr>
          <p:cNvPr id="15" name="Picture 14">
            <a:extLst>
              <a:ext uri="{FF2B5EF4-FFF2-40B4-BE49-F238E27FC236}">
                <a16:creationId xmlns:a16="http://schemas.microsoft.com/office/drawing/2014/main" id="{5F541BED-289F-0FAE-47A7-79D96DFB7D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9058"/>
            <a:ext cx="704088" cy="70408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0469" y="2238980"/>
            <a:ext cx="954814" cy="299037"/>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856357" y="2293055"/>
            <a:ext cx="1235075"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PHASE : 11</a:t>
            </a:r>
            <a:endParaRPr lang="en-US" sz="1133" dirty="0">
              <a:latin typeface="+mj-lt"/>
            </a:endParaRPr>
          </a:p>
        </p:txBody>
      </p:sp>
      <p:sp>
        <p:nvSpPr>
          <p:cNvPr id="4" name="Text 2"/>
          <p:cNvSpPr/>
          <p:nvPr/>
        </p:nvSpPr>
        <p:spPr>
          <a:xfrm>
            <a:off x="631924" y="2808783"/>
            <a:ext cx="3016440" cy="666058"/>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Verification</a:t>
            </a:r>
            <a:endParaRPr lang="en-US" sz="3733" dirty="0">
              <a:latin typeface="+mj-lt"/>
            </a:endParaRPr>
          </a:p>
        </p:txBody>
      </p:sp>
      <p:sp>
        <p:nvSpPr>
          <p:cNvPr id="5" name="Text 3"/>
          <p:cNvSpPr/>
          <p:nvPr/>
        </p:nvSpPr>
        <p:spPr>
          <a:xfrm>
            <a:off x="631924" y="3745606"/>
            <a:ext cx="10793458" cy="1278975"/>
          </a:xfrm>
          <a:prstGeom prst="rect">
            <a:avLst/>
          </a:prstGeom>
          <a:noFill/>
          <a:ln/>
        </p:spPr>
        <p:txBody>
          <a:bodyPr wrap="square" lIns="0" tIns="0" rIns="0" bIns="0" rtlCol="0" anchor="t">
            <a:noAutofit/>
          </a:bodyPr>
          <a:lstStyle/>
          <a:p>
            <a:pPr>
              <a:lnSpc>
                <a:spcPct val="133000"/>
              </a:lnSpc>
            </a:pPr>
            <a:r>
              <a:rPr lang="en-US" sz="2000" dirty="0">
                <a:solidFill>
                  <a:srgbClr val="FFE5E5"/>
                </a:solidFill>
                <a:latin typeface="+mj-lt"/>
                <a:ea typeface="DM Sans" pitchFamily="34" charset="-122"/>
                <a:cs typeface="DM Sans" pitchFamily="34" charset="-120"/>
              </a:rPr>
              <a:t>After implementing all defensive controls, the laboratory was reassessed to verify that the identified weaknesses had been successfully mitigated confirming the effectiveness of the hardening measures applied throughout the assessment.</a:t>
            </a:r>
            <a:endParaRPr lang="en-US" sz="2000" dirty="0">
              <a:latin typeface="+mj-lt"/>
            </a:endParaRPr>
          </a:p>
        </p:txBody>
      </p:sp>
      <p:sp>
        <p:nvSpPr>
          <p:cNvPr id="8" name="Footer Placeholder 7">
            <a:extLst>
              <a:ext uri="{FF2B5EF4-FFF2-40B4-BE49-F238E27FC236}">
                <a16:creationId xmlns:a16="http://schemas.microsoft.com/office/drawing/2014/main" id="{1CDEF834-32E2-5669-6A06-2921B20E3F3B}"/>
              </a:ext>
            </a:extLst>
          </p:cNvPr>
          <p:cNvSpPr>
            <a:spLocks noGrp="1"/>
          </p:cNvSpPr>
          <p:nvPr>
            <p:ph type="ftr" sz="quarter" idx="3"/>
          </p:nvPr>
        </p:nvSpPr>
        <p:spPr/>
        <p:txBody>
          <a:bodyPr/>
          <a:lstStyle/>
          <a:p>
            <a:r>
              <a:rPr lang="en-US" dirty="0">
                <a:latin typeface="+mj-lt"/>
              </a:rPr>
              <a:t>Zero Trace Imperium</a:t>
            </a:r>
          </a:p>
        </p:txBody>
      </p:sp>
      <p:sp>
        <p:nvSpPr>
          <p:cNvPr id="9" name="Slide Number Placeholder 8">
            <a:extLst>
              <a:ext uri="{FF2B5EF4-FFF2-40B4-BE49-F238E27FC236}">
                <a16:creationId xmlns:a16="http://schemas.microsoft.com/office/drawing/2014/main" id="{7A4267B3-6360-3C14-6C20-D36BCD9356C6}"/>
              </a:ext>
            </a:extLst>
          </p:cNvPr>
          <p:cNvSpPr>
            <a:spLocks noGrp="1"/>
          </p:cNvSpPr>
          <p:nvPr>
            <p:ph type="sldNum" sz="quarter" idx="4"/>
          </p:nvPr>
        </p:nvSpPr>
        <p:spPr/>
        <p:txBody>
          <a:bodyPr/>
          <a:lstStyle/>
          <a:p>
            <a:fld id="{08D6B0A0-5113-456A-82B3-EA8CCD6D43D8}" type="slidenum">
              <a:rPr lang="en-US" smtClean="0">
                <a:latin typeface="+mj-lt"/>
              </a:rPr>
              <a:t>34</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075382" y="520005"/>
            <a:ext cx="5186873" cy="575271"/>
          </a:xfrm>
          <a:prstGeom prst="rect">
            <a:avLst/>
          </a:prstGeom>
          <a:noFill/>
          <a:ln/>
        </p:spPr>
        <p:txBody>
          <a:bodyPr wrap="none" lIns="0" tIns="0" rIns="0" bIns="0" rtlCol="0" anchor="t"/>
          <a:lstStyle/>
          <a:p>
            <a:pPr>
              <a:lnSpc>
                <a:spcPct val="104000"/>
              </a:lnSpc>
            </a:pPr>
            <a:r>
              <a:rPr lang="en-US" sz="3600" dirty="0">
                <a:solidFill>
                  <a:srgbClr val="FAEBEB"/>
                </a:solidFill>
                <a:latin typeface="+mj-lt"/>
                <a:ea typeface="Dela Gothic One" pitchFamily="34" charset="-122"/>
                <a:cs typeface="Dela Gothic One" pitchFamily="34" charset="-120"/>
              </a:rPr>
              <a:t>Verification Activities</a:t>
            </a:r>
            <a:endParaRPr lang="en-US" sz="3600" dirty="0">
              <a:latin typeface="+mj-lt"/>
            </a:endParaRPr>
          </a:p>
        </p:txBody>
      </p:sp>
      <p:sp>
        <p:nvSpPr>
          <p:cNvPr id="3" name="Text 1"/>
          <p:cNvSpPr/>
          <p:nvPr/>
        </p:nvSpPr>
        <p:spPr>
          <a:xfrm>
            <a:off x="631924" y="1434009"/>
            <a:ext cx="8188803" cy="275431"/>
          </a:xfrm>
          <a:prstGeom prst="rect">
            <a:avLst/>
          </a:prstGeom>
          <a:noFill/>
          <a:ln/>
        </p:spPr>
        <p:txBody>
          <a:bodyPr wrap="none" lIns="0" tIns="0" rIns="0" bIns="0" rtlCol="0" anchor="t"/>
          <a:lstStyle/>
          <a:p>
            <a:pPr>
              <a:lnSpc>
                <a:spcPct val="131000"/>
              </a:lnSpc>
            </a:pPr>
            <a:r>
              <a:rPr lang="en-US" sz="1400" dirty="0">
                <a:solidFill>
                  <a:srgbClr val="FFE5E5"/>
                </a:solidFill>
                <a:ea typeface="DM Sans" pitchFamily="34" charset="-122"/>
                <a:cs typeface="DM Sans" pitchFamily="34" charset="-120"/>
              </a:rPr>
              <a:t>Five targeted testing activities validated each defensive control against the original attack vectors.</a:t>
            </a:r>
            <a:endParaRPr lang="en-US" sz="1400" dirty="0"/>
          </a:p>
        </p:txBody>
      </p:sp>
      <p:sp>
        <p:nvSpPr>
          <p:cNvPr id="4" name="Shape 2"/>
          <p:cNvSpPr/>
          <p:nvPr/>
        </p:nvSpPr>
        <p:spPr>
          <a:xfrm>
            <a:off x="631925" y="1900039"/>
            <a:ext cx="3529807" cy="2272011"/>
          </a:xfrm>
          <a:prstGeom prst="roundRect">
            <a:avLst>
              <a:gd name="adj" fmla="val 3233"/>
            </a:avLst>
          </a:prstGeom>
          <a:solidFill>
            <a:srgbClr val="740B0B"/>
          </a:solidFill>
          <a:ln w="4763">
            <a:solidFill>
              <a:srgbClr val="8D2424"/>
            </a:solidFill>
            <a:prstDash val="solid"/>
          </a:ln>
        </p:spPr>
        <p:txBody>
          <a:bodyPr/>
          <a:lstStyle/>
          <a:p>
            <a:endParaRPr lang="en-US" sz="2400">
              <a:latin typeface="+mj-lt"/>
            </a:endParaRPr>
          </a:p>
        </p:txBody>
      </p:sp>
      <p:sp>
        <p:nvSpPr>
          <p:cNvPr id="5" name="Shape 3"/>
          <p:cNvSpPr/>
          <p:nvPr/>
        </p:nvSpPr>
        <p:spPr>
          <a:xfrm>
            <a:off x="813098" y="2081212"/>
            <a:ext cx="524669" cy="524669"/>
          </a:xfrm>
          <a:prstGeom prst="ellipse">
            <a:avLst/>
          </a:prstGeom>
          <a:solidFill>
            <a:srgbClr val="C91313"/>
          </a:solidFill>
          <a:ln/>
        </p:spPr>
        <p:txBody>
          <a:bodyPr/>
          <a:lstStyle/>
          <a:p>
            <a:endParaRPr lang="en-US" sz="2400">
              <a:latin typeface="+mj-lt"/>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7362" y="2225477"/>
            <a:ext cx="236041" cy="236041"/>
          </a:xfrm>
          <a:prstGeom prst="rect">
            <a:avLst/>
          </a:prstGeom>
        </p:spPr>
      </p:pic>
      <p:sp>
        <p:nvSpPr>
          <p:cNvPr id="7" name="Text 4"/>
          <p:cNvSpPr/>
          <p:nvPr/>
        </p:nvSpPr>
        <p:spPr>
          <a:xfrm>
            <a:off x="813098" y="2775249"/>
            <a:ext cx="3167460" cy="287735"/>
          </a:xfrm>
          <a:prstGeom prst="rect">
            <a:avLst/>
          </a:prstGeom>
          <a:noFill/>
          <a:ln/>
        </p:spPr>
        <p:txBody>
          <a:bodyPr wrap="none" lIns="0" tIns="0" rIns="0" bIns="0" rtlCol="0" anchor="t"/>
          <a:lstStyle/>
          <a:p>
            <a:pPr>
              <a:lnSpc>
                <a:spcPct val="104000"/>
              </a:lnSpc>
            </a:pPr>
            <a:r>
              <a:rPr lang="en-US" dirty="0">
                <a:solidFill>
                  <a:srgbClr val="FFE5E5"/>
                </a:solidFill>
                <a:latin typeface="+mj-lt"/>
                <a:ea typeface="Dela Gothic One" pitchFamily="34" charset="-122"/>
                <a:cs typeface="Dela Gothic One" pitchFamily="34" charset="-120"/>
              </a:rPr>
              <a:t>Network Scanning</a:t>
            </a:r>
            <a:endParaRPr lang="en-US" dirty="0">
              <a:latin typeface="+mj-lt"/>
            </a:endParaRPr>
          </a:p>
        </p:txBody>
      </p:sp>
      <p:sp>
        <p:nvSpPr>
          <p:cNvPr id="8" name="Text 5"/>
          <p:cNvSpPr/>
          <p:nvPr/>
        </p:nvSpPr>
        <p:spPr>
          <a:xfrm>
            <a:off x="813098" y="3164583"/>
            <a:ext cx="3167460" cy="826293"/>
          </a:xfrm>
          <a:prstGeom prst="rect">
            <a:avLst/>
          </a:prstGeom>
          <a:noFill/>
          <a:ln/>
        </p:spPr>
        <p:txBody>
          <a:bodyPr wrap="square" lIns="0" tIns="0" rIns="0" bIns="0" rtlCol="0" anchor="t">
            <a:normAutofit/>
          </a:bodyPr>
          <a:lstStyle/>
          <a:p>
            <a:pPr>
              <a:lnSpc>
                <a:spcPct val="131000"/>
              </a:lnSpc>
            </a:pPr>
            <a:r>
              <a:rPr lang="en-US" sz="1333" dirty="0">
                <a:solidFill>
                  <a:srgbClr val="FFE5E5"/>
                </a:solidFill>
                <a:latin typeface="+mj-lt"/>
                <a:ea typeface="DM Sans" pitchFamily="34" charset="-122"/>
                <a:cs typeface="DM Sans" pitchFamily="34" charset="-120"/>
              </a:rPr>
              <a:t>Rescanned the environment to confirm reduced exposure and closed ports.</a:t>
            </a:r>
            <a:endParaRPr lang="en-US" sz="1333" dirty="0">
              <a:latin typeface="+mj-lt"/>
            </a:endParaRPr>
          </a:p>
        </p:txBody>
      </p:sp>
      <p:sp>
        <p:nvSpPr>
          <p:cNvPr id="9" name="Shape 6"/>
          <p:cNvSpPr/>
          <p:nvPr/>
        </p:nvSpPr>
        <p:spPr>
          <a:xfrm>
            <a:off x="4331098" y="1900039"/>
            <a:ext cx="3529807" cy="2272011"/>
          </a:xfrm>
          <a:prstGeom prst="roundRect">
            <a:avLst>
              <a:gd name="adj" fmla="val 3233"/>
            </a:avLst>
          </a:prstGeom>
          <a:solidFill>
            <a:srgbClr val="740B0B"/>
          </a:solidFill>
          <a:ln w="4763">
            <a:solidFill>
              <a:srgbClr val="8D2424"/>
            </a:solidFill>
            <a:prstDash val="solid"/>
          </a:ln>
        </p:spPr>
        <p:txBody>
          <a:bodyPr/>
          <a:lstStyle/>
          <a:p>
            <a:endParaRPr lang="en-US" sz="2400">
              <a:latin typeface="+mj-lt"/>
            </a:endParaRPr>
          </a:p>
        </p:txBody>
      </p:sp>
      <p:sp>
        <p:nvSpPr>
          <p:cNvPr id="10" name="Shape 7"/>
          <p:cNvSpPr/>
          <p:nvPr/>
        </p:nvSpPr>
        <p:spPr>
          <a:xfrm>
            <a:off x="4512271" y="2081212"/>
            <a:ext cx="524669" cy="524669"/>
          </a:xfrm>
          <a:prstGeom prst="ellipse">
            <a:avLst/>
          </a:prstGeom>
          <a:solidFill>
            <a:srgbClr val="C91313"/>
          </a:solidFill>
          <a:ln/>
        </p:spPr>
        <p:txBody>
          <a:bodyPr/>
          <a:lstStyle/>
          <a:p>
            <a:endParaRPr lang="en-US" sz="2400">
              <a:latin typeface="+mj-lt"/>
            </a:endParaRPr>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6536" y="2225477"/>
            <a:ext cx="236041" cy="236041"/>
          </a:xfrm>
          <a:prstGeom prst="rect">
            <a:avLst/>
          </a:prstGeom>
        </p:spPr>
      </p:pic>
      <p:sp>
        <p:nvSpPr>
          <p:cNvPr id="12" name="Text 8"/>
          <p:cNvSpPr/>
          <p:nvPr/>
        </p:nvSpPr>
        <p:spPr>
          <a:xfrm>
            <a:off x="4512271" y="2775249"/>
            <a:ext cx="3167460" cy="287735"/>
          </a:xfrm>
          <a:prstGeom prst="rect">
            <a:avLst/>
          </a:prstGeom>
          <a:noFill/>
          <a:ln/>
        </p:spPr>
        <p:txBody>
          <a:bodyPr wrap="none" lIns="0" tIns="0" rIns="0" bIns="0" rtlCol="0" anchor="t"/>
          <a:lstStyle/>
          <a:p>
            <a:pPr>
              <a:lnSpc>
                <a:spcPct val="104000"/>
              </a:lnSpc>
            </a:pPr>
            <a:r>
              <a:rPr lang="en-US" dirty="0">
                <a:solidFill>
                  <a:srgbClr val="FFE5E5"/>
                </a:solidFill>
                <a:latin typeface="+mj-lt"/>
                <a:ea typeface="Dela Gothic One" pitchFamily="34" charset="-122"/>
                <a:cs typeface="Dela Gothic One" pitchFamily="34" charset="-120"/>
              </a:rPr>
              <a:t>Firewall Validation</a:t>
            </a:r>
            <a:endParaRPr lang="en-US" dirty="0">
              <a:latin typeface="+mj-lt"/>
            </a:endParaRPr>
          </a:p>
        </p:txBody>
      </p:sp>
      <p:sp>
        <p:nvSpPr>
          <p:cNvPr id="13" name="Text 9"/>
          <p:cNvSpPr/>
          <p:nvPr/>
        </p:nvSpPr>
        <p:spPr>
          <a:xfrm>
            <a:off x="4512271" y="3164583"/>
            <a:ext cx="3167460" cy="826293"/>
          </a:xfrm>
          <a:prstGeom prst="rect">
            <a:avLst/>
          </a:prstGeom>
          <a:noFill/>
          <a:ln/>
        </p:spPr>
        <p:txBody>
          <a:bodyPr wrap="square" lIns="0" tIns="0" rIns="0" bIns="0" rtlCol="0" anchor="t">
            <a:normAutofit/>
          </a:bodyPr>
          <a:lstStyle/>
          <a:p>
            <a:pPr>
              <a:lnSpc>
                <a:spcPct val="131000"/>
              </a:lnSpc>
            </a:pPr>
            <a:r>
              <a:rPr lang="en-US" sz="1333" dirty="0">
                <a:solidFill>
                  <a:srgbClr val="FFE5E5"/>
                </a:solidFill>
                <a:latin typeface="+mj-lt"/>
                <a:ea typeface="DM Sans" pitchFamily="34" charset="-122"/>
                <a:cs typeface="DM Sans" pitchFamily="34" charset="-120"/>
              </a:rPr>
              <a:t>Verified rule enforcement and confirmed unauthorized access attempts were blocked.</a:t>
            </a:r>
            <a:endParaRPr lang="en-US" sz="1333" dirty="0">
              <a:latin typeface="+mj-lt"/>
            </a:endParaRPr>
          </a:p>
        </p:txBody>
      </p:sp>
      <p:sp>
        <p:nvSpPr>
          <p:cNvPr id="14" name="Shape 10"/>
          <p:cNvSpPr/>
          <p:nvPr/>
        </p:nvSpPr>
        <p:spPr>
          <a:xfrm>
            <a:off x="8030270" y="1900039"/>
            <a:ext cx="3529807" cy="2272011"/>
          </a:xfrm>
          <a:prstGeom prst="roundRect">
            <a:avLst>
              <a:gd name="adj" fmla="val 3233"/>
            </a:avLst>
          </a:prstGeom>
          <a:solidFill>
            <a:srgbClr val="740B0B"/>
          </a:solidFill>
          <a:ln w="4763">
            <a:solidFill>
              <a:srgbClr val="8D2424"/>
            </a:solidFill>
            <a:prstDash val="solid"/>
          </a:ln>
        </p:spPr>
        <p:txBody>
          <a:bodyPr/>
          <a:lstStyle/>
          <a:p>
            <a:endParaRPr lang="en-US" sz="2400">
              <a:latin typeface="+mj-lt"/>
            </a:endParaRPr>
          </a:p>
        </p:txBody>
      </p:sp>
      <p:sp>
        <p:nvSpPr>
          <p:cNvPr id="15" name="Shape 11"/>
          <p:cNvSpPr/>
          <p:nvPr/>
        </p:nvSpPr>
        <p:spPr>
          <a:xfrm>
            <a:off x="8211443" y="2081212"/>
            <a:ext cx="524669" cy="524669"/>
          </a:xfrm>
          <a:prstGeom prst="ellipse">
            <a:avLst/>
          </a:prstGeom>
          <a:solidFill>
            <a:srgbClr val="C91313"/>
          </a:solidFill>
          <a:ln/>
        </p:spPr>
        <p:txBody>
          <a:bodyPr/>
          <a:lstStyle/>
          <a:p>
            <a:endParaRPr lang="en-US" sz="2400">
              <a:latin typeface="+mj-lt"/>
            </a:endParaRPr>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5708" y="2225477"/>
            <a:ext cx="236041" cy="236041"/>
          </a:xfrm>
          <a:prstGeom prst="rect">
            <a:avLst/>
          </a:prstGeom>
        </p:spPr>
      </p:pic>
      <p:sp>
        <p:nvSpPr>
          <p:cNvPr id="17" name="Text 12"/>
          <p:cNvSpPr/>
          <p:nvPr/>
        </p:nvSpPr>
        <p:spPr>
          <a:xfrm>
            <a:off x="8211443" y="2775249"/>
            <a:ext cx="3167460" cy="287735"/>
          </a:xfrm>
          <a:prstGeom prst="rect">
            <a:avLst/>
          </a:prstGeom>
          <a:noFill/>
          <a:ln/>
        </p:spPr>
        <p:txBody>
          <a:bodyPr wrap="none" lIns="0" tIns="0" rIns="0" bIns="0" rtlCol="0" anchor="t"/>
          <a:lstStyle/>
          <a:p>
            <a:pPr>
              <a:lnSpc>
                <a:spcPct val="104000"/>
              </a:lnSpc>
            </a:pPr>
            <a:r>
              <a:rPr lang="en-US" dirty="0">
                <a:solidFill>
                  <a:srgbClr val="FFE5E5"/>
                </a:solidFill>
                <a:latin typeface="+mj-lt"/>
                <a:ea typeface="Dela Gothic One" pitchFamily="34" charset="-122"/>
                <a:cs typeface="Dela Gothic One" pitchFamily="34" charset="-120"/>
              </a:rPr>
              <a:t>Brute Force Protection</a:t>
            </a:r>
            <a:endParaRPr lang="en-US" dirty="0">
              <a:latin typeface="+mj-lt"/>
            </a:endParaRPr>
          </a:p>
        </p:txBody>
      </p:sp>
      <p:sp>
        <p:nvSpPr>
          <p:cNvPr id="18" name="Text 13"/>
          <p:cNvSpPr/>
          <p:nvPr/>
        </p:nvSpPr>
        <p:spPr>
          <a:xfrm>
            <a:off x="8211443" y="3164583"/>
            <a:ext cx="3167460" cy="826293"/>
          </a:xfrm>
          <a:prstGeom prst="rect">
            <a:avLst/>
          </a:prstGeom>
          <a:noFill/>
          <a:ln/>
        </p:spPr>
        <p:txBody>
          <a:bodyPr wrap="square" lIns="0" tIns="0" rIns="0" bIns="0" rtlCol="0" anchor="t">
            <a:normAutofit/>
          </a:bodyPr>
          <a:lstStyle/>
          <a:p>
            <a:pPr>
              <a:lnSpc>
                <a:spcPct val="131000"/>
              </a:lnSpc>
            </a:pPr>
            <a:r>
              <a:rPr lang="en-US" sz="1333" dirty="0">
                <a:solidFill>
                  <a:srgbClr val="FFE5E5"/>
                </a:solidFill>
                <a:latin typeface="+mj-lt"/>
                <a:ea typeface="DM Sans" pitchFamily="34" charset="-122"/>
                <a:cs typeface="DM Sans" pitchFamily="34" charset="-120"/>
              </a:rPr>
              <a:t>Tested rate limiting and account lockout mechanisms against credential attacks.</a:t>
            </a:r>
            <a:endParaRPr lang="en-US" sz="1333" dirty="0">
              <a:latin typeface="+mj-lt"/>
            </a:endParaRPr>
          </a:p>
        </p:txBody>
      </p:sp>
      <p:sp>
        <p:nvSpPr>
          <p:cNvPr id="19" name="Shape 14"/>
          <p:cNvSpPr/>
          <p:nvPr/>
        </p:nvSpPr>
        <p:spPr>
          <a:xfrm>
            <a:off x="631925" y="4341416"/>
            <a:ext cx="5379343" cy="1996579"/>
          </a:xfrm>
          <a:prstGeom prst="roundRect">
            <a:avLst>
              <a:gd name="adj" fmla="val 3679"/>
            </a:avLst>
          </a:prstGeom>
          <a:solidFill>
            <a:srgbClr val="740B0B"/>
          </a:solidFill>
          <a:ln w="4763">
            <a:solidFill>
              <a:srgbClr val="8D2424"/>
            </a:solidFill>
            <a:prstDash val="solid"/>
          </a:ln>
        </p:spPr>
        <p:txBody>
          <a:bodyPr/>
          <a:lstStyle/>
          <a:p>
            <a:endParaRPr lang="en-US" sz="2400">
              <a:latin typeface="+mj-lt"/>
            </a:endParaRPr>
          </a:p>
        </p:txBody>
      </p:sp>
      <p:sp>
        <p:nvSpPr>
          <p:cNvPr id="20" name="Shape 15"/>
          <p:cNvSpPr/>
          <p:nvPr/>
        </p:nvSpPr>
        <p:spPr>
          <a:xfrm>
            <a:off x="813098" y="4522590"/>
            <a:ext cx="524669" cy="524669"/>
          </a:xfrm>
          <a:prstGeom prst="ellipse">
            <a:avLst/>
          </a:prstGeom>
          <a:solidFill>
            <a:srgbClr val="C91313"/>
          </a:solidFill>
          <a:ln/>
        </p:spPr>
        <p:txBody>
          <a:bodyPr/>
          <a:lstStyle/>
          <a:p>
            <a:endParaRPr lang="en-US" sz="2400">
              <a:latin typeface="+mj-lt"/>
            </a:endParaRPr>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7362" y="4666854"/>
            <a:ext cx="236041" cy="236041"/>
          </a:xfrm>
          <a:prstGeom prst="rect">
            <a:avLst/>
          </a:prstGeom>
        </p:spPr>
      </p:pic>
      <p:sp>
        <p:nvSpPr>
          <p:cNvPr id="22" name="Text 16"/>
          <p:cNvSpPr/>
          <p:nvPr/>
        </p:nvSpPr>
        <p:spPr>
          <a:xfrm>
            <a:off x="813098" y="5216625"/>
            <a:ext cx="5016996" cy="287735"/>
          </a:xfrm>
          <a:prstGeom prst="rect">
            <a:avLst/>
          </a:prstGeom>
          <a:noFill/>
          <a:ln/>
        </p:spPr>
        <p:txBody>
          <a:bodyPr wrap="none" lIns="0" tIns="0" rIns="0" bIns="0" rtlCol="0" anchor="t"/>
          <a:lstStyle/>
          <a:p>
            <a:pPr>
              <a:lnSpc>
                <a:spcPct val="104000"/>
              </a:lnSpc>
            </a:pPr>
            <a:r>
              <a:rPr lang="en-US" dirty="0">
                <a:solidFill>
                  <a:srgbClr val="FFE5E5"/>
                </a:solidFill>
                <a:latin typeface="+mj-lt"/>
                <a:ea typeface="Dela Gothic One" pitchFamily="34" charset="-122"/>
                <a:cs typeface="Dela Gothic One" pitchFamily="34" charset="-120"/>
              </a:rPr>
              <a:t>WAF Testing</a:t>
            </a:r>
            <a:endParaRPr lang="en-US" dirty="0">
              <a:latin typeface="+mj-lt"/>
            </a:endParaRPr>
          </a:p>
        </p:txBody>
      </p:sp>
      <p:sp>
        <p:nvSpPr>
          <p:cNvPr id="23" name="Text 17"/>
          <p:cNvSpPr/>
          <p:nvPr/>
        </p:nvSpPr>
        <p:spPr>
          <a:xfrm>
            <a:off x="813098" y="5605959"/>
            <a:ext cx="5016996" cy="550863"/>
          </a:xfrm>
          <a:prstGeom prst="rect">
            <a:avLst/>
          </a:prstGeom>
          <a:noFill/>
          <a:ln/>
        </p:spPr>
        <p:txBody>
          <a:bodyPr wrap="square" lIns="0" tIns="0" rIns="0" bIns="0" rtlCol="0" anchor="t">
            <a:normAutofit/>
          </a:bodyPr>
          <a:lstStyle/>
          <a:p>
            <a:pPr>
              <a:lnSpc>
                <a:spcPct val="131000"/>
              </a:lnSpc>
            </a:pPr>
            <a:r>
              <a:rPr lang="en-US" sz="1333" dirty="0">
                <a:solidFill>
                  <a:srgbClr val="FFE5E5"/>
                </a:solidFill>
                <a:latin typeface="+mj-lt"/>
                <a:ea typeface="DM Sans" pitchFamily="34" charset="-122"/>
                <a:cs typeface="DM Sans" pitchFamily="34" charset="-120"/>
              </a:rPr>
              <a:t>Simulated web based attacks to confirm the WAF detected and blocked malicious traffic.</a:t>
            </a:r>
            <a:endParaRPr lang="en-US" sz="1333" dirty="0">
              <a:latin typeface="+mj-lt"/>
            </a:endParaRPr>
          </a:p>
        </p:txBody>
      </p:sp>
      <p:sp>
        <p:nvSpPr>
          <p:cNvPr id="24" name="Shape 18"/>
          <p:cNvSpPr/>
          <p:nvPr/>
        </p:nvSpPr>
        <p:spPr>
          <a:xfrm>
            <a:off x="6180633" y="4341416"/>
            <a:ext cx="5379443" cy="1996579"/>
          </a:xfrm>
          <a:prstGeom prst="roundRect">
            <a:avLst>
              <a:gd name="adj" fmla="val 3679"/>
            </a:avLst>
          </a:prstGeom>
          <a:solidFill>
            <a:srgbClr val="740B0B"/>
          </a:solidFill>
          <a:ln w="4763">
            <a:solidFill>
              <a:srgbClr val="8D2424"/>
            </a:solidFill>
            <a:prstDash val="solid"/>
          </a:ln>
        </p:spPr>
        <p:txBody>
          <a:bodyPr/>
          <a:lstStyle/>
          <a:p>
            <a:endParaRPr lang="en-US" sz="2400">
              <a:latin typeface="+mj-lt"/>
            </a:endParaRPr>
          </a:p>
        </p:txBody>
      </p:sp>
      <p:sp>
        <p:nvSpPr>
          <p:cNvPr id="25" name="Shape 19"/>
          <p:cNvSpPr/>
          <p:nvPr/>
        </p:nvSpPr>
        <p:spPr>
          <a:xfrm>
            <a:off x="6361807" y="4522590"/>
            <a:ext cx="524669" cy="524669"/>
          </a:xfrm>
          <a:prstGeom prst="ellipse">
            <a:avLst/>
          </a:prstGeom>
          <a:solidFill>
            <a:srgbClr val="C91313"/>
          </a:solidFill>
          <a:ln/>
        </p:spPr>
        <p:txBody>
          <a:bodyPr/>
          <a:lstStyle/>
          <a:p>
            <a:endParaRPr lang="en-US" sz="2400">
              <a:latin typeface="+mj-lt"/>
            </a:endParaRPr>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06072" y="4666854"/>
            <a:ext cx="236041" cy="236041"/>
          </a:xfrm>
          <a:prstGeom prst="rect">
            <a:avLst/>
          </a:prstGeom>
        </p:spPr>
      </p:pic>
      <p:sp>
        <p:nvSpPr>
          <p:cNvPr id="27" name="Text 20"/>
          <p:cNvSpPr/>
          <p:nvPr/>
        </p:nvSpPr>
        <p:spPr>
          <a:xfrm>
            <a:off x="6361807" y="5216625"/>
            <a:ext cx="5017095" cy="287735"/>
          </a:xfrm>
          <a:prstGeom prst="rect">
            <a:avLst/>
          </a:prstGeom>
          <a:noFill/>
          <a:ln/>
        </p:spPr>
        <p:txBody>
          <a:bodyPr wrap="none" lIns="0" tIns="0" rIns="0" bIns="0" rtlCol="0" anchor="t"/>
          <a:lstStyle/>
          <a:p>
            <a:pPr>
              <a:lnSpc>
                <a:spcPct val="104000"/>
              </a:lnSpc>
            </a:pPr>
            <a:r>
              <a:rPr lang="en-US" dirty="0">
                <a:solidFill>
                  <a:srgbClr val="FFE5E5"/>
                </a:solidFill>
                <a:latin typeface="+mj-lt"/>
                <a:ea typeface="Dela Gothic One" pitchFamily="34" charset="-122"/>
                <a:cs typeface="Dela Gothic One" pitchFamily="34" charset="-120"/>
              </a:rPr>
              <a:t>Service Availability</a:t>
            </a:r>
            <a:endParaRPr lang="en-US" dirty="0">
              <a:latin typeface="+mj-lt"/>
            </a:endParaRPr>
          </a:p>
        </p:txBody>
      </p:sp>
      <p:sp>
        <p:nvSpPr>
          <p:cNvPr id="28" name="Text 21"/>
          <p:cNvSpPr/>
          <p:nvPr/>
        </p:nvSpPr>
        <p:spPr>
          <a:xfrm>
            <a:off x="6361807" y="5605959"/>
            <a:ext cx="5017095" cy="550863"/>
          </a:xfrm>
          <a:prstGeom prst="rect">
            <a:avLst/>
          </a:prstGeom>
          <a:noFill/>
          <a:ln/>
        </p:spPr>
        <p:txBody>
          <a:bodyPr wrap="square" lIns="0" tIns="0" rIns="0" bIns="0" rtlCol="0" anchor="t">
            <a:normAutofit/>
          </a:bodyPr>
          <a:lstStyle/>
          <a:p>
            <a:pPr>
              <a:lnSpc>
                <a:spcPct val="131000"/>
              </a:lnSpc>
            </a:pPr>
            <a:r>
              <a:rPr lang="en-US" sz="1333" dirty="0">
                <a:solidFill>
                  <a:srgbClr val="FFE5E5"/>
                </a:solidFill>
                <a:latin typeface="+mj-lt"/>
                <a:ea typeface="DM Sans" pitchFamily="34" charset="-122"/>
                <a:cs typeface="DM Sans" pitchFamily="34" charset="-120"/>
              </a:rPr>
              <a:t>Confirmed all hardened services remained stable and operational post</a:t>
            </a:r>
            <a:r>
              <a:rPr lang="ar-EG" sz="1333" dirty="0">
                <a:solidFill>
                  <a:srgbClr val="FFE5E5"/>
                </a:solidFill>
                <a:latin typeface="+mj-lt"/>
                <a:ea typeface="DM Sans" pitchFamily="34" charset="-122"/>
                <a:cs typeface="DM Sans" pitchFamily="34" charset="-120"/>
              </a:rPr>
              <a:t> </a:t>
            </a:r>
            <a:r>
              <a:rPr lang="en-US" sz="1333" dirty="0">
                <a:solidFill>
                  <a:srgbClr val="FFE5E5"/>
                </a:solidFill>
                <a:latin typeface="+mj-lt"/>
                <a:ea typeface="DM Sans" pitchFamily="34" charset="-122"/>
                <a:cs typeface="DM Sans" pitchFamily="34" charset="-120"/>
              </a:rPr>
              <a:t>mitigation.</a:t>
            </a:r>
            <a:endParaRPr lang="en-US" sz="1333" dirty="0">
              <a:latin typeface="+mj-lt"/>
            </a:endParaRPr>
          </a:p>
        </p:txBody>
      </p:sp>
      <p:sp>
        <p:nvSpPr>
          <p:cNvPr id="31" name="Footer Placeholder 30">
            <a:extLst>
              <a:ext uri="{FF2B5EF4-FFF2-40B4-BE49-F238E27FC236}">
                <a16:creationId xmlns:a16="http://schemas.microsoft.com/office/drawing/2014/main" id="{72171499-D57B-8416-BE50-B5667185A087}"/>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32" name="Slide Number Placeholder 31">
            <a:extLst>
              <a:ext uri="{FF2B5EF4-FFF2-40B4-BE49-F238E27FC236}">
                <a16:creationId xmlns:a16="http://schemas.microsoft.com/office/drawing/2014/main" id="{DFA2B147-6C66-B751-1D1E-24E68779D85F}"/>
              </a:ext>
            </a:extLst>
          </p:cNvPr>
          <p:cNvSpPr>
            <a:spLocks noGrp="1"/>
          </p:cNvSpPr>
          <p:nvPr>
            <p:ph type="sldNum" sz="quarter" idx="4"/>
          </p:nvPr>
        </p:nvSpPr>
        <p:spPr/>
        <p:txBody>
          <a:bodyPr/>
          <a:lstStyle/>
          <a:p>
            <a:fld id="{08D6B0A0-5113-456A-82B3-EA8CCD6D43D8}" type="slidenum">
              <a:rPr lang="en-US" smtClean="0">
                <a:latin typeface="+mj-lt"/>
              </a:rPr>
              <a:t>35</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4744" y="478641"/>
            <a:ext cx="4660897" cy="660697"/>
          </a:xfrm>
          <a:prstGeom prst="rect">
            <a:avLst/>
          </a:prstGeom>
          <a:noFill/>
          <a:ln/>
        </p:spPr>
        <p:txBody>
          <a:bodyPr wrap="none" lIns="0" tIns="0" rIns="0" bIns="0" rtlCol="0" anchor="t"/>
          <a:lstStyle/>
          <a:p>
            <a:pPr>
              <a:lnSpc>
                <a:spcPct val="104000"/>
              </a:lnSpc>
            </a:pPr>
            <a:r>
              <a:rPr lang="en-US" sz="3600" dirty="0">
                <a:solidFill>
                  <a:srgbClr val="FAEBEB"/>
                </a:solidFill>
                <a:latin typeface="+mj-lt"/>
                <a:ea typeface="Dela Gothic One" pitchFamily="34" charset="-122"/>
                <a:cs typeface="Dela Gothic One" pitchFamily="34" charset="-120"/>
              </a:rPr>
              <a:t>Verification Results</a:t>
            </a:r>
            <a:endParaRPr lang="en-US" sz="3600" dirty="0">
              <a:latin typeface="+mj-lt"/>
            </a:endParaRPr>
          </a:p>
        </p:txBody>
      </p:sp>
      <p:grpSp>
        <p:nvGrpSpPr>
          <p:cNvPr id="20" name="Group 19">
            <a:extLst>
              <a:ext uri="{FF2B5EF4-FFF2-40B4-BE49-F238E27FC236}">
                <a16:creationId xmlns:a16="http://schemas.microsoft.com/office/drawing/2014/main" id="{0CCDBDB6-2B53-430C-DEFB-CB9A2EAB261E}"/>
              </a:ext>
            </a:extLst>
          </p:cNvPr>
          <p:cNvGrpSpPr/>
          <p:nvPr/>
        </p:nvGrpSpPr>
        <p:grpSpPr>
          <a:xfrm>
            <a:off x="277091" y="1579418"/>
            <a:ext cx="5347097" cy="3777673"/>
            <a:chOff x="631925" y="2938761"/>
            <a:chExt cx="5347096" cy="1372294"/>
          </a:xfrm>
        </p:grpSpPr>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5" y="2938761"/>
              <a:ext cx="2648049" cy="660697"/>
            </a:xfrm>
            <a:prstGeom prst="rect">
              <a:avLst/>
            </a:prstGeom>
          </p:spPr>
        </p:pic>
        <p:sp>
          <p:nvSpPr>
            <p:cNvPr id="4" name="Text 1"/>
            <p:cNvSpPr/>
            <p:nvPr/>
          </p:nvSpPr>
          <p:spPr>
            <a:xfrm>
              <a:off x="791270" y="3047306"/>
              <a:ext cx="2380159" cy="157757"/>
            </a:xfrm>
            <a:prstGeom prst="rect">
              <a:avLst/>
            </a:prstGeom>
            <a:noFill/>
            <a:ln/>
          </p:spPr>
          <p:txBody>
            <a:bodyPr wrap="none" lIns="0" tIns="0" rIns="0" bIns="0" rtlCol="0" anchor="t"/>
            <a:lstStyle/>
            <a:p>
              <a:pPr>
                <a:lnSpc>
                  <a:spcPct val="104000"/>
                </a:lnSpc>
              </a:pPr>
              <a:r>
                <a:rPr lang="en-US" sz="1400" dirty="0">
                  <a:solidFill>
                    <a:srgbClr val="FFE5E5"/>
                  </a:solidFill>
                  <a:latin typeface="+mj-lt"/>
                  <a:ea typeface="Dela Gothic One" pitchFamily="34" charset="-122"/>
                  <a:cs typeface="Dela Gothic One" pitchFamily="34" charset="-120"/>
                </a:rPr>
                <a:t>Reduced Attack Surface</a:t>
              </a:r>
              <a:endParaRPr lang="en-US" sz="1400" dirty="0">
                <a:latin typeface="+mj-lt"/>
              </a:endParaRPr>
            </a:p>
          </p:txBody>
        </p:sp>
        <p:sp>
          <p:nvSpPr>
            <p:cNvPr id="5" name="Text 2"/>
            <p:cNvSpPr/>
            <p:nvPr/>
          </p:nvSpPr>
          <p:spPr>
            <a:xfrm>
              <a:off x="791270" y="3255963"/>
              <a:ext cx="2380159" cy="234951"/>
            </a:xfrm>
            <a:prstGeom prst="rect">
              <a:avLst/>
            </a:prstGeom>
            <a:noFill/>
            <a:ln/>
          </p:spPr>
          <p:txBody>
            <a:bodyPr wrap="square" lIns="0" tIns="0" rIns="0" bIns="0" rtlCol="0" anchor="t">
              <a:noAutofit/>
            </a:bodyPr>
            <a:lstStyle/>
            <a:p>
              <a:pPr>
                <a:lnSpc>
                  <a:spcPct val="102000"/>
                </a:lnSpc>
              </a:pPr>
              <a:r>
                <a:rPr lang="en-US" sz="1200" dirty="0">
                  <a:solidFill>
                    <a:srgbClr val="FFE5E5"/>
                  </a:solidFill>
                  <a:latin typeface="+mj-lt"/>
                  <a:ea typeface="DM Sans" pitchFamily="34" charset="-122"/>
                  <a:cs typeface="DM Sans" pitchFamily="34" charset="-120"/>
                </a:rPr>
                <a:t>Unnecessary services were disabled and ports closed, significantly limiting the exploitable footprint.</a:t>
              </a:r>
              <a:endParaRPr lang="en-US" sz="1200" dirty="0">
                <a:latin typeface="+mj-lt"/>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30873" y="2938762"/>
              <a:ext cx="2648148" cy="660697"/>
            </a:xfrm>
            <a:prstGeom prst="rect">
              <a:avLst/>
            </a:prstGeom>
          </p:spPr>
        </p:pic>
        <p:sp>
          <p:nvSpPr>
            <p:cNvPr id="7" name="Text 3"/>
            <p:cNvSpPr/>
            <p:nvPr/>
          </p:nvSpPr>
          <p:spPr>
            <a:xfrm>
              <a:off x="3490218" y="3047306"/>
              <a:ext cx="2380257" cy="157757"/>
            </a:xfrm>
            <a:prstGeom prst="rect">
              <a:avLst/>
            </a:prstGeom>
            <a:noFill/>
            <a:ln/>
          </p:spPr>
          <p:txBody>
            <a:bodyPr wrap="none" lIns="0" tIns="0" rIns="0" bIns="0" rtlCol="0" anchor="t"/>
            <a:lstStyle/>
            <a:p>
              <a:pPr>
                <a:lnSpc>
                  <a:spcPct val="104000"/>
                </a:lnSpc>
              </a:pPr>
              <a:r>
                <a:rPr lang="en-US" sz="1400" dirty="0">
                  <a:solidFill>
                    <a:srgbClr val="FFE5E5"/>
                  </a:solidFill>
                  <a:latin typeface="+mj-lt"/>
                  <a:ea typeface="Dela Gothic One" pitchFamily="34" charset="-122"/>
                  <a:cs typeface="Dela Gothic One" pitchFamily="34" charset="-120"/>
                </a:rPr>
                <a:t>Successful Mitigation</a:t>
              </a:r>
              <a:endParaRPr lang="en-US" sz="1400" dirty="0">
                <a:latin typeface="+mj-lt"/>
              </a:endParaRPr>
            </a:p>
          </p:txBody>
        </p:sp>
        <p:sp>
          <p:nvSpPr>
            <p:cNvPr id="8" name="Text 4"/>
            <p:cNvSpPr/>
            <p:nvPr/>
          </p:nvSpPr>
          <p:spPr>
            <a:xfrm>
              <a:off x="3490218" y="3255963"/>
              <a:ext cx="2380257" cy="234951"/>
            </a:xfrm>
            <a:prstGeom prst="rect">
              <a:avLst/>
            </a:prstGeom>
            <a:noFill/>
            <a:ln/>
          </p:spPr>
          <p:txBody>
            <a:bodyPr wrap="square" lIns="0" tIns="0" rIns="0" bIns="0" rtlCol="0" anchor="t">
              <a:normAutofit fontScale="92500"/>
            </a:bodyPr>
            <a:lstStyle/>
            <a:p>
              <a:pPr>
                <a:lnSpc>
                  <a:spcPct val="102000"/>
                </a:lnSpc>
              </a:pPr>
              <a:r>
                <a:rPr lang="en-US" sz="1200" dirty="0">
                  <a:solidFill>
                    <a:srgbClr val="FFE5E5"/>
                  </a:solidFill>
                  <a:latin typeface="+mj-lt"/>
                  <a:ea typeface="DM Sans" pitchFamily="34" charset="-122"/>
                  <a:cs typeface="DM Sans" pitchFamily="34" charset="-120"/>
                </a:rPr>
                <a:t>All previously identified vulnerabilities were confirmed remediated through retesting.</a:t>
              </a:r>
              <a:endParaRPr lang="en-US" sz="1200" dirty="0">
                <a:latin typeface="+mj-lt"/>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25" y="3650358"/>
              <a:ext cx="2648049" cy="660697"/>
            </a:xfrm>
            <a:prstGeom prst="rect">
              <a:avLst/>
            </a:prstGeom>
          </p:spPr>
        </p:pic>
        <p:sp>
          <p:nvSpPr>
            <p:cNvPr id="10" name="Text 5"/>
            <p:cNvSpPr/>
            <p:nvPr/>
          </p:nvSpPr>
          <p:spPr>
            <a:xfrm>
              <a:off x="760891" y="3730081"/>
              <a:ext cx="2380159" cy="157757"/>
            </a:xfrm>
            <a:prstGeom prst="rect">
              <a:avLst/>
            </a:prstGeom>
            <a:noFill/>
            <a:ln/>
          </p:spPr>
          <p:txBody>
            <a:bodyPr wrap="none" lIns="0" tIns="0" rIns="0" bIns="0" rtlCol="0" anchor="t"/>
            <a:lstStyle/>
            <a:p>
              <a:pPr>
                <a:lnSpc>
                  <a:spcPct val="104000"/>
                </a:lnSpc>
              </a:pPr>
              <a:r>
                <a:rPr lang="en-US" sz="1200" dirty="0">
                  <a:solidFill>
                    <a:srgbClr val="FFE5E5"/>
                  </a:solidFill>
                  <a:latin typeface="+mj-lt"/>
                  <a:ea typeface="Dela Gothic One" pitchFamily="34" charset="-122"/>
                  <a:cs typeface="Dela Gothic One" pitchFamily="34" charset="-120"/>
                </a:rPr>
                <a:t>Improved Security Posture</a:t>
              </a:r>
              <a:endParaRPr lang="en-US" sz="1200" dirty="0">
                <a:latin typeface="+mj-lt"/>
              </a:endParaRPr>
            </a:p>
          </p:txBody>
        </p:sp>
        <p:sp>
          <p:nvSpPr>
            <p:cNvPr id="11" name="Text 6"/>
            <p:cNvSpPr/>
            <p:nvPr/>
          </p:nvSpPr>
          <p:spPr>
            <a:xfrm>
              <a:off x="760891" y="3967561"/>
              <a:ext cx="2380159" cy="332139"/>
            </a:xfrm>
            <a:prstGeom prst="rect">
              <a:avLst/>
            </a:prstGeom>
            <a:noFill/>
            <a:ln/>
          </p:spPr>
          <p:txBody>
            <a:bodyPr wrap="square" lIns="0" tIns="0" rIns="0" bIns="0" rtlCol="0" anchor="t">
              <a:normAutofit/>
            </a:bodyPr>
            <a:lstStyle/>
            <a:p>
              <a:pPr>
                <a:lnSpc>
                  <a:spcPct val="102000"/>
                </a:lnSpc>
              </a:pPr>
              <a:r>
                <a:rPr lang="en-US" sz="1200" dirty="0">
                  <a:solidFill>
                    <a:srgbClr val="FFE5E5"/>
                  </a:solidFill>
                  <a:latin typeface="+mj-lt"/>
                  <a:ea typeface="DM Sans" pitchFamily="34" charset="-122"/>
                  <a:cs typeface="DM Sans" pitchFamily="34" charset="-120"/>
                </a:rPr>
                <a:t>Defense in depth controls raised the overall resilience of the lab environment.</a:t>
              </a:r>
              <a:endParaRPr lang="en-US" sz="1200" dirty="0">
                <a:latin typeface="+mj-lt"/>
              </a:endParaRPr>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30873" y="3650358"/>
              <a:ext cx="2648148" cy="660697"/>
            </a:xfrm>
            <a:prstGeom prst="rect">
              <a:avLst/>
            </a:prstGeom>
          </p:spPr>
        </p:pic>
        <p:sp>
          <p:nvSpPr>
            <p:cNvPr id="13" name="Text 7"/>
            <p:cNvSpPr/>
            <p:nvPr/>
          </p:nvSpPr>
          <p:spPr>
            <a:xfrm>
              <a:off x="3490218" y="3758903"/>
              <a:ext cx="2380257" cy="157757"/>
            </a:xfrm>
            <a:prstGeom prst="rect">
              <a:avLst/>
            </a:prstGeom>
            <a:noFill/>
            <a:ln/>
          </p:spPr>
          <p:txBody>
            <a:bodyPr wrap="none" lIns="0" tIns="0" rIns="0" bIns="0" rtlCol="0" anchor="t"/>
            <a:lstStyle/>
            <a:p>
              <a:pPr>
                <a:lnSpc>
                  <a:spcPct val="104000"/>
                </a:lnSpc>
              </a:pPr>
              <a:r>
                <a:rPr lang="en-US" sz="1400" dirty="0">
                  <a:solidFill>
                    <a:srgbClr val="FFE5E5"/>
                  </a:solidFill>
                  <a:latin typeface="+mj-lt"/>
                  <a:ea typeface="Dela Gothic One" pitchFamily="34" charset="-122"/>
                  <a:cs typeface="Dela Gothic One" pitchFamily="34" charset="-120"/>
                </a:rPr>
                <a:t>Stable Infrastructure</a:t>
              </a:r>
              <a:endParaRPr lang="en-US" sz="1400" dirty="0">
                <a:latin typeface="+mj-lt"/>
              </a:endParaRPr>
            </a:p>
          </p:txBody>
        </p:sp>
        <p:sp>
          <p:nvSpPr>
            <p:cNvPr id="14" name="Text 8"/>
            <p:cNvSpPr/>
            <p:nvPr/>
          </p:nvSpPr>
          <p:spPr>
            <a:xfrm>
              <a:off x="3490218" y="3967561"/>
              <a:ext cx="2380257" cy="234951"/>
            </a:xfrm>
            <a:prstGeom prst="rect">
              <a:avLst/>
            </a:prstGeom>
            <a:noFill/>
            <a:ln/>
          </p:spPr>
          <p:txBody>
            <a:bodyPr wrap="square" lIns="0" tIns="0" rIns="0" bIns="0" rtlCol="0" anchor="t">
              <a:normAutofit fontScale="92500"/>
            </a:bodyPr>
            <a:lstStyle/>
            <a:p>
              <a:pPr>
                <a:lnSpc>
                  <a:spcPct val="102000"/>
                </a:lnSpc>
              </a:pPr>
              <a:r>
                <a:rPr lang="en-US" sz="1200" dirty="0">
                  <a:solidFill>
                    <a:srgbClr val="FFE5E5"/>
                  </a:solidFill>
                  <a:latin typeface="+mj-lt"/>
                  <a:ea typeface="DM Sans" pitchFamily="34" charset="-122"/>
                  <a:cs typeface="DM Sans" pitchFamily="34" charset="-120"/>
                </a:rPr>
                <a:t>Hardening was applied without introducing service disruptions or configuration regressions.</a:t>
              </a:r>
              <a:endParaRPr lang="en-US" sz="1200" dirty="0">
                <a:latin typeface="+mj-lt"/>
              </a:endParaRPr>
            </a:p>
          </p:txBody>
        </p:sp>
      </p:grpSp>
      <p:pic>
        <p:nvPicPr>
          <p:cNvPr id="15" name="Image 4" descr="preencoded.png"/>
          <p:cNvPicPr>
            <a:picLocks noChangeAspect="1"/>
          </p:cNvPicPr>
          <p:nvPr/>
        </p:nvPicPr>
        <p:blipFill>
          <a:blip r:embed="rId5"/>
          <a:stretch>
            <a:fillRect/>
          </a:stretch>
        </p:blipFill>
        <p:spPr>
          <a:xfrm>
            <a:off x="6003636" y="332510"/>
            <a:ext cx="6040582" cy="5745018"/>
          </a:xfrm>
          <a:prstGeom prst="rect">
            <a:avLst/>
          </a:prstGeom>
        </p:spPr>
      </p:pic>
      <p:sp>
        <p:nvSpPr>
          <p:cNvPr id="18" name="Footer Placeholder 17">
            <a:extLst>
              <a:ext uri="{FF2B5EF4-FFF2-40B4-BE49-F238E27FC236}">
                <a16:creationId xmlns:a16="http://schemas.microsoft.com/office/drawing/2014/main" id="{258AE2FB-2C96-B14B-FF03-A5312A14F22B}"/>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9" name="Slide Number Placeholder 18">
            <a:extLst>
              <a:ext uri="{FF2B5EF4-FFF2-40B4-BE49-F238E27FC236}">
                <a16:creationId xmlns:a16="http://schemas.microsoft.com/office/drawing/2014/main" id="{9752D9D0-9734-EC9E-D778-F98969705834}"/>
              </a:ext>
            </a:extLst>
          </p:cNvPr>
          <p:cNvSpPr>
            <a:spLocks noGrp="1"/>
          </p:cNvSpPr>
          <p:nvPr>
            <p:ph type="sldNum" sz="quarter" idx="4"/>
          </p:nvPr>
        </p:nvSpPr>
        <p:spPr/>
        <p:txBody>
          <a:bodyPr/>
          <a:lstStyle/>
          <a:p>
            <a:fld id="{08D6B0A0-5113-456A-82B3-EA8CCD6D43D8}" type="slidenum">
              <a:rPr lang="en-US" smtClean="0">
                <a:latin typeface="+mj-lt"/>
              </a:rPr>
              <a:t>36</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830" y="136525"/>
            <a:ext cx="10928152"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Verification Evidence</a:t>
            </a:r>
            <a:endParaRPr lang="en-US" sz="3733" dirty="0">
              <a:latin typeface="+mj-lt"/>
            </a:endParaRPr>
          </a:p>
        </p:txBody>
      </p:sp>
      <p:sp>
        <p:nvSpPr>
          <p:cNvPr id="3" name="Text 1"/>
          <p:cNvSpPr/>
          <p:nvPr/>
        </p:nvSpPr>
        <p:spPr>
          <a:xfrm>
            <a:off x="839095" y="730449"/>
            <a:ext cx="11537752" cy="288925"/>
          </a:xfrm>
          <a:prstGeom prst="rect">
            <a:avLst/>
          </a:prstGeom>
          <a:noFill/>
          <a:ln/>
        </p:spPr>
        <p:txBody>
          <a:bodyPr wrap="none" lIns="0" tIns="0" rIns="0" bIns="0" rtlCol="0" anchor="t"/>
          <a:lstStyle/>
          <a:p>
            <a:pPr>
              <a:lnSpc>
                <a:spcPct val="133000"/>
              </a:lnSpc>
            </a:pPr>
            <a:r>
              <a:rPr lang="en-US" sz="1400" dirty="0">
                <a:solidFill>
                  <a:srgbClr val="FFE5E5"/>
                </a:solidFill>
                <a:ea typeface="DM Sans" pitchFamily="34" charset="-122"/>
                <a:cs typeface="DM Sans" pitchFamily="34" charset="-120"/>
              </a:rPr>
              <a:t>Side by side evidence demonstrates the measurable impact of hardening on the lab environment.</a:t>
            </a:r>
            <a:endParaRPr lang="en-US" sz="1400" dirty="0"/>
          </a:p>
        </p:txBody>
      </p:sp>
      <p:grpSp>
        <p:nvGrpSpPr>
          <p:cNvPr id="17" name="Group 16">
            <a:extLst>
              <a:ext uri="{FF2B5EF4-FFF2-40B4-BE49-F238E27FC236}">
                <a16:creationId xmlns:a16="http://schemas.microsoft.com/office/drawing/2014/main" id="{BE887B08-630E-CBB7-5BE4-B8FEF6340C2C}"/>
              </a:ext>
            </a:extLst>
          </p:cNvPr>
          <p:cNvGrpSpPr/>
          <p:nvPr/>
        </p:nvGrpSpPr>
        <p:grpSpPr>
          <a:xfrm>
            <a:off x="631924" y="1144170"/>
            <a:ext cx="10928151" cy="1936353"/>
            <a:chOff x="631924" y="2570957"/>
            <a:chExt cx="10928151" cy="1936353"/>
          </a:xfrm>
        </p:grpSpPr>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4" y="2570957"/>
              <a:ext cx="5373787" cy="1936353"/>
            </a:xfrm>
            <a:prstGeom prst="rect">
              <a:avLst/>
            </a:prstGeom>
          </p:spPr>
        </p:pic>
        <p:sp>
          <p:nvSpPr>
            <p:cNvPr id="5" name="Text 2"/>
            <p:cNvSpPr/>
            <p:nvPr/>
          </p:nvSpPr>
          <p:spPr>
            <a:xfrm>
              <a:off x="837803" y="3318471"/>
              <a:ext cx="4962029"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Security Verification</a:t>
              </a:r>
              <a:endParaRPr lang="en-US" sz="1867" dirty="0">
                <a:latin typeface="+mj-lt"/>
              </a:endParaRPr>
            </a:p>
          </p:txBody>
        </p:sp>
        <p:sp>
          <p:nvSpPr>
            <p:cNvPr id="6" name="Text 3"/>
            <p:cNvSpPr/>
            <p:nvPr/>
          </p:nvSpPr>
          <p:spPr>
            <a:xfrm>
              <a:off x="837803" y="3723580"/>
              <a:ext cx="4962029"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Post hardening validation confirming mitigations are active and effective across the lab.</a:t>
              </a:r>
              <a:endParaRPr lang="en-US" sz="1400" dirty="0">
                <a:latin typeface="+mj-lt"/>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86190" y="2570957"/>
              <a:ext cx="5373885" cy="1936353"/>
            </a:xfrm>
            <a:prstGeom prst="rect">
              <a:avLst/>
            </a:prstGeom>
          </p:spPr>
        </p:pic>
        <p:sp>
          <p:nvSpPr>
            <p:cNvPr id="8" name="Text 4"/>
            <p:cNvSpPr/>
            <p:nvPr/>
          </p:nvSpPr>
          <p:spPr>
            <a:xfrm>
              <a:off x="6392069" y="3318471"/>
              <a:ext cx="4962128"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Nmap After Hardening</a:t>
              </a:r>
              <a:endParaRPr lang="en-US" sz="1867" dirty="0">
                <a:latin typeface="+mj-lt"/>
              </a:endParaRPr>
            </a:p>
          </p:txBody>
        </p:sp>
        <p:sp>
          <p:nvSpPr>
            <p:cNvPr id="9" name="Text 5"/>
            <p:cNvSpPr/>
            <p:nvPr/>
          </p:nvSpPr>
          <p:spPr>
            <a:xfrm>
              <a:off x="6392069" y="3723580"/>
              <a:ext cx="4962128"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Comparative scan results showing closed ports, filtered services, and reduced exposure.</a:t>
              </a:r>
              <a:endParaRPr lang="en-US" sz="1400" dirty="0">
                <a:latin typeface="+mj-lt"/>
              </a:endParaRPr>
            </a:p>
          </p:txBody>
        </p:sp>
      </p:grpSp>
      <p:sp>
        <p:nvSpPr>
          <p:cNvPr id="15" name="Footer Placeholder 14">
            <a:extLst>
              <a:ext uri="{FF2B5EF4-FFF2-40B4-BE49-F238E27FC236}">
                <a16:creationId xmlns:a16="http://schemas.microsoft.com/office/drawing/2014/main" id="{C598ACD6-048C-F227-BD6C-C3E3042E4E65}"/>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6" name="Slide Number Placeholder 15">
            <a:extLst>
              <a:ext uri="{FF2B5EF4-FFF2-40B4-BE49-F238E27FC236}">
                <a16:creationId xmlns:a16="http://schemas.microsoft.com/office/drawing/2014/main" id="{236F8004-1AB5-D8F9-48D9-743D0D0C003D}"/>
              </a:ext>
            </a:extLst>
          </p:cNvPr>
          <p:cNvSpPr>
            <a:spLocks noGrp="1"/>
          </p:cNvSpPr>
          <p:nvPr>
            <p:ph type="sldNum" sz="quarter" idx="4"/>
          </p:nvPr>
        </p:nvSpPr>
        <p:spPr/>
        <p:txBody>
          <a:bodyPr/>
          <a:lstStyle/>
          <a:p>
            <a:fld id="{08D6B0A0-5113-456A-82B3-EA8CCD6D43D8}" type="slidenum">
              <a:rPr lang="en-US" smtClean="0">
                <a:latin typeface="+mj-lt"/>
              </a:rPr>
              <a:t>37</a:t>
            </a:fld>
            <a:endParaRPr lang="en-US" dirty="0">
              <a:latin typeface="+mj-lt"/>
            </a:endParaRPr>
          </a:p>
        </p:txBody>
      </p:sp>
      <p:pic>
        <p:nvPicPr>
          <p:cNvPr id="19" name="Picture 18">
            <a:extLst>
              <a:ext uri="{FF2B5EF4-FFF2-40B4-BE49-F238E27FC236}">
                <a16:creationId xmlns:a16="http://schemas.microsoft.com/office/drawing/2014/main" id="{03F3B570-AB91-6A15-E87F-C9B5AD5A65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1924" y="3188768"/>
            <a:ext cx="5347991" cy="3167582"/>
          </a:xfrm>
          <a:prstGeom prst="rect">
            <a:avLst/>
          </a:prstGeom>
        </p:spPr>
      </p:pic>
      <p:pic>
        <p:nvPicPr>
          <p:cNvPr id="21" name="Picture 20">
            <a:extLst>
              <a:ext uri="{FF2B5EF4-FFF2-40B4-BE49-F238E27FC236}">
                <a16:creationId xmlns:a16="http://schemas.microsoft.com/office/drawing/2014/main" id="{B8DAB2AA-2E64-4085-9F2E-23449C762B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86094" y="3188768"/>
            <a:ext cx="5373885" cy="316758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25" y="2534543"/>
            <a:ext cx="920830" cy="274240"/>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693992" y="2588618"/>
            <a:ext cx="1181299"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PHASE : 12</a:t>
            </a:r>
            <a:endParaRPr lang="en-US" sz="1133" dirty="0">
              <a:latin typeface="+mj-lt"/>
            </a:endParaRPr>
          </a:p>
        </p:txBody>
      </p:sp>
      <p:sp>
        <p:nvSpPr>
          <p:cNvPr id="4" name="Text 2"/>
          <p:cNvSpPr/>
          <p:nvPr/>
        </p:nvSpPr>
        <p:spPr>
          <a:xfrm>
            <a:off x="631924" y="2880917"/>
            <a:ext cx="10928152"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Cleanup &amp; Recovery</a:t>
            </a:r>
            <a:endParaRPr lang="en-US" sz="3733" dirty="0">
              <a:latin typeface="+mj-lt"/>
            </a:endParaRPr>
          </a:p>
        </p:txBody>
      </p:sp>
      <p:sp>
        <p:nvSpPr>
          <p:cNvPr id="5" name="Text 3"/>
          <p:cNvSpPr/>
          <p:nvPr/>
        </p:nvSpPr>
        <p:spPr>
          <a:xfrm>
            <a:off x="631924" y="3745607"/>
            <a:ext cx="10928152"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After completing all assessment activities, the laboratory was systematically restored to a clean, stable, and reusable state ensuring repeatability for future testing cycles.</a:t>
            </a:r>
            <a:endParaRPr lang="en-US" sz="1400" dirty="0">
              <a:latin typeface="+mj-lt"/>
            </a:endParaRPr>
          </a:p>
        </p:txBody>
      </p:sp>
      <p:sp>
        <p:nvSpPr>
          <p:cNvPr id="8" name="Footer Placeholder 7">
            <a:extLst>
              <a:ext uri="{FF2B5EF4-FFF2-40B4-BE49-F238E27FC236}">
                <a16:creationId xmlns:a16="http://schemas.microsoft.com/office/drawing/2014/main" id="{94BE3192-2B95-F65B-5E2B-11819535E5EB}"/>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9" name="Slide Number Placeholder 8">
            <a:extLst>
              <a:ext uri="{FF2B5EF4-FFF2-40B4-BE49-F238E27FC236}">
                <a16:creationId xmlns:a16="http://schemas.microsoft.com/office/drawing/2014/main" id="{654F7800-39DF-F017-B3AC-E9D2A0097F98}"/>
              </a:ext>
            </a:extLst>
          </p:cNvPr>
          <p:cNvSpPr>
            <a:spLocks noGrp="1"/>
          </p:cNvSpPr>
          <p:nvPr>
            <p:ph type="sldNum" sz="quarter" idx="4"/>
          </p:nvPr>
        </p:nvSpPr>
        <p:spPr/>
        <p:txBody>
          <a:bodyPr/>
          <a:lstStyle/>
          <a:p>
            <a:fld id="{08D6B0A0-5113-456A-82B3-EA8CCD6D43D8}" type="slidenum">
              <a:rPr lang="en-US" smtClean="0">
                <a:latin typeface="+mj-lt"/>
              </a:rPr>
              <a:t>38</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1924" y="781745"/>
            <a:ext cx="10928152"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Cleanup Tasks</a:t>
            </a:r>
            <a:endParaRPr lang="en-US" sz="3733" dirty="0">
              <a:latin typeface="+mj-lt"/>
            </a:endParaRPr>
          </a:p>
        </p:txBody>
      </p:sp>
      <p:sp>
        <p:nvSpPr>
          <p:cNvPr id="3" name="Text 1"/>
          <p:cNvSpPr/>
          <p:nvPr/>
        </p:nvSpPr>
        <p:spPr>
          <a:xfrm>
            <a:off x="631924" y="1736726"/>
            <a:ext cx="11537752" cy="288925"/>
          </a:xfrm>
          <a:prstGeom prst="rect">
            <a:avLst/>
          </a:prstGeom>
          <a:noFill/>
          <a:ln/>
        </p:spPr>
        <p:txBody>
          <a:bodyPr wrap="none" lIns="0" tIns="0" rIns="0" bIns="0" rtlCol="0" anchor="t"/>
          <a:lstStyle/>
          <a:p>
            <a:pPr>
              <a:lnSpc>
                <a:spcPct val="133000"/>
              </a:lnSpc>
            </a:pPr>
            <a:r>
              <a:rPr lang="en-US" sz="1400" dirty="0">
                <a:solidFill>
                  <a:srgbClr val="FFE5E5"/>
                </a:solidFill>
                <a:ea typeface="DM Sans" pitchFamily="34" charset="-122"/>
                <a:cs typeface="DM Sans" pitchFamily="34" charset="-120"/>
              </a:rPr>
              <a:t>A structured five step process ensured no residual artifacts remained in the lab environment.</a:t>
            </a:r>
            <a:endParaRPr lang="en-US" sz="1400" dirty="0"/>
          </a:p>
        </p:txBody>
      </p:sp>
      <p:sp>
        <p:nvSpPr>
          <p:cNvPr id="4" name="Text 2"/>
          <p:cNvSpPr/>
          <p:nvPr/>
        </p:nvSpPr>
        <p:spPr>
          <a:xfrm>
            <a:off x="631925" y="2228751"/>
            <a:ext cx="361057" cy="225624"/>
          </a:xfrm>
          <a:prstGeom prst="rect">
            <a:avLst/>
          </a:prstGeom>
          <a:noFill/>
          <a:ln/>
        </p:spPr>
        <p:txBody>
          <a:bodyPr wrap="none" lIns="0" tIns="0" rIns="0" bIns="0" rtlCol="0" anchor="ctr"/>
          <a:lstStyle/>
          <a:p>
            <a:r>
              <a:rPr lang="en-US" sz="1400" dirty="0">
                <a:solidFill>
                  <a:srgbClr val="FFE5E5"/>
                </a:solidFill>
                <a:latin typeface="+mj-lt"/>
                <a:ea typeface="Dela Gothic One Light" pitchFamily="34" charset="-122"/>
                <a:cs typeface="Dela Gothic One Light" pitchFamily="34" charset="-120"/>
              </a:rPr>
              <a:t>01</a:t>
            </a:r>
            <a:endParaRPr lang="en-US" sz="1400" dirty="0">
              <a:latin typeface="+mj-lt"/>
            </a:endParaRPr>
          </a:p>
        </p:txBody>
      </p:sp>
      <p:sp>
        <p:nvSpPr>
          <p:cNvPr id="5" name="Shape 3"/>
          <p:cNvSpPr/>
          <p:nvPr/>
        </p:nvSpPr>
        <p:spPr>
          <a:xfrm>
            <a:off x="631924" y="2510036"/>
            <a:ext cx="3522365" cy="25400"/>
          </a:xfrm>
          <a:prstGeom prst="rect">
            <a:avLst/>
          </a:prstGeom>
          <a:solidFill>
            <a:srgbClr val="C91313"/>
          </a:solidFill>
          <a:ln/>
        </p:spPr>
        <p:txBody>
          <a:bodyPr/>
          <a:lstStyle/>
          <a:p>
            <a:endParaRPr lang="en-US" sz="2400">
              <a:latin typeface="+mj-lt"/>
            </a:endParaRPr>
          </a:p>
        </p:txBody>
      </p:sp>
      <p:sp>
        <p:nvSpPr>
          <p:cNvPr id="6" name="Text 4"/>
          <p:cNvSpPr/>
          <p:nvPr/>
        </p:nvSpPr>
        <p:spPr>
          <a:xfrm>
            <a:off x="631924" y="2651026"/>
            <a:ext cx="3017927" cy="324049"/>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Remove Test Files</a:t>
            </a:r>
            <a:endParaRPr lang="en-US" sz="1867" dirty="0">
              <a:latin typeface="+mj-lt"/>
            </a:endParaRPr>
          </a:p>
        </p:txBody>
      </p:sp>
      <p:sp>
        <p:nvSpPr>
          <p:cNvPr id="7" name="Text 5"/>
          <p:cNvSpPr/>
          <p:nvPr/>
        </p:nvSpPr>
        <p:spPr>
          <a:xfrm>
            <a:off x="631923" y="3406923"/>
            <a:ext cx="3522365"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Deleted all payloads, scripts, and temporary files created during testing.</a:t>
            </a:r>
            <a:endParaRPr lang="en-US" sz="1400" dirty="0"/>
          </a:p>
        </p:txBody>
      </p:sp>
      <p:sp>
        <p:nvSpPr>
          <p:cNvPr id="8" name="Text 6"/>
          <p:cNvSpPr/>
          <p:nvPr/>
        </p:nvSpPr>
        <p:spPr>
          <a:xfrm>
            <a:off x="4334769" y="2228751"/>
            <a:ext cx="361057" cy="225624"/>
          </a:xfrm>
          <a:prstGeom prst="rect">
            <a:avLst/>
          </a:prstGeom>
          <a:noFill/>
          <a:ln/>
        </p:spPr>
        <p:txBody>
          <a:bodyPr wrap="none" lIns="0" tIns="0" rIns="0" bIns="0" rtlCol="0" anchor="ctr"/>
          <a:lstStyle/>
          <a:p>
            <a:r>
              <a:rPr lang="en-US" sz="1400" dirty="0">
                <a:solidFill>
                  <a:srgbClr val="FFE5E5"/>
                </a:solidFill>
                <a:latin typeface="+mj-lt"/>
                <a:ea typeface="Dela Gothic One Light" pitchFamily="34" charset="-122"/>
                <a:cs typeface="Dela Gothic One Light" pitchFamily="34" charset="-120"/>
              </a:rPr>
              <a:t>02</a:t>
            </a:r>
            <a:endParaRPr lang="en-US" sz="1400" dirty="0">
              <a:latin typeface="+mj-lt"/>
            </a:endParaRPr>
          </a:p>
        </p:txBody>
      </p:sp>
      <p:sp>
        <p:nvSpPr>
          <p:cNvPr id="9" name="Shape 7"/>
          <p:cNvSpPr/>
          <p:nvPr/>
        </p:nvSpPr>
        <p:spPr>
          <a:xfrm>
            <a:off x="4334768" y="2510036"/>
            <a:ext cx="3522365" cy="25400"/>
          </a:xfrm>
          <a:prstGeom prst="rect">
            <a:avLst/>
          </a:prstGeom>
          <a:solidFill>
            <a:srgbClr val="C91313"/>
          </a:solidFill>
          <a:ln/>
        </p:spPr>
        <p:txBody>
          <a:bodyPr/>
          <a:lstStyle/>
          <a:p>
            <a:endParaRPr lang="en-US" sz="2400">
              <a:latin typeface="+mj-lt"/>
            </a:endParaRPr>
          </a:p>
        </p:txBody>
      </p:sp>
      <p:sp>
        <p:nvSpPr>
          <p:cNvPr id="10" name="Text 8"/>
          <p:cNvSpPr/>
          <p:nvPr/>
        </p:nvSpPr>
        <p:spPr>
          <a:xfrm>
            <a:off x="4334768" y="2651026"/>
            <a:ext cx="3522365" cy="593725"/>
          </a:xfrm>
          <a:prstGeom prst="rect">
            <a:avLst/>
          </a:prstGeom>
          <a:noFill/>
          <a:ln/>
        </p:spPr>
        <p:txBody>
          <a:bodyPr wrap="square" lIns="0" tIns="0" rIns="0" bIns="0" rtlCol="0" anchor="t">
            <a:normAutofit/>
          </a:bodyPr>
          <a:lstStyle/>
          <a:p>
            <a:pPr>
              <a:lnSpc>
                <a:spcPct val="104000"/>
              </a:lnSpc>
            </a:pPr>
            <a:r>
              <a:rPr lang="en-US" sz="1867" dirty="0">
                <a:solidFill>
                  <a:srgbClr val="FFE5E5"/>
                </a:solidFill>
                <a:latin typeface="+mj-lt"/>
                <a:ea typeface="Dela Gothic One" pitchFamily="34" charset="-122"/>
                <a:cs typeface="Dela Gothic One" pitchFamily="34" charset="-120"/>
              </a:rPr>
              <a:t>Remove Temporary Artifacts</a:t>
            </a:r>
            <a:endParaRPr lang="en-US" sz="1867" dirty="0">
              <a:latin typeface="+mj-lt"/>
            </a:endParaRPr>
          </a:p>
        </p:txBody>
      </p:sp>
      <p:sp>
        <p:nvSpPr>
          <p:cNvPr id="11" name="Text 9"/>
          <p:cNvSpPr/>
          <p:nvPr/>
        </p:nvSpPr>
        <p:spPr>
          <a:xfrm>
            <a:off x="4334768" y="3352999"/>
            <a:ext cx="3522365"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Cleared logs, caches, and transient data from attack and defense activities.</a:t>
            </a:r>
            <a:endParaRPr lang="en-US" sz="1400" dirty="0"/>
          </a:p>
        </p:txBody>
      </p:sp>
      <p:sp>
        <p:nvSpPr>
          <p:cNvPr id="12" name="Text 10"/>
          <p:cNvSpPr/>
          <p:nvPr/>
        </p:nvSpPr>
        <p:spPr>
          <a:xfrm>
            <a:off x="8037613" y="2228751"/>
            <a:ext cx="361057" cy="225624"/>
          </a:xfrm>
          <a:prstGeom prst="rect">
            <a:avLst/>
          </a:prstGeom>
          <a:noFill/>
          <a:ln/>
        </p:spPr>
        <p:txBody>
          <a:bodyPr wrap="none" lIns="0" tIns="0" rIns="0" bIns="0" rtlCol="0" anchor="ctr"/>
          <a:lstStyle/>
          <a:p>
            <a:r>
              <a:rPr lang="en-US" sz="1400" dirty="0">
                <a:solidFill>
                  <a:srgbClr val="FFE5E5"/>
                </a:solidFill>
                <a:latin typeface="+mj-lt"/>
                <a:ea typeface="Dela Gothic One Light" pitchFamily="34" charset="-122"/>
                <a:cs typeface="Dela Gothic One Light" pitchFamily="34" charset="-120"/>
              </a:rPr>
              <a:t>03</a:t>
            </a:r>
            <a:endParaRPr lang="en-US" sz="1400" dirty="0">
              <a:latin typeface="+mj-lt"/>
            </a:endParaRPr>
          </a:p>
        </p:txBody>
      </p:sp>
      <p:sp>
        <p:nvSpPr>
          <p:cNvPr id="13" name="Shape 11"/>
          <p:cNvSpPr/>
          <p:nvPr/>
        </p:nvSpPr>
        <p:spPr>
          <a:xfrm>
            <a:off x="8037612" y="2510036"/>
            <a:ext cx="3522464" cy="25400"/>
          </a:xfrm>
          <a:prstGeom prst="rect">
            <a:avLst/>
          </a:prstGeom>
          <a:solidFill>
            <a:srgbClr val="C91313"/>
          </a:solidFill>
          <a:ln/>
        </p:spPr>
        <p:txBody>
          <a:bodyPr/>
          <a:lstStyle/>
          <a:p>
            <a:endParaRPr lang="en-US" sz="2400">
              <a:latin typeface="+mj-lt"/>
            </a:endParaRPr>
          </a:p>
        </p:txBody>
      </p:sp>
      <p:sp>
        <p:nvSpPr>
          <p:cNvPr id="14" name="Text 12"/>
          <p:cNvSpPr/>
          <p:nvPr/>
        </p:nvSpPr>
        <p:spPr>
          <a:xfrm>
            <a:off x="8037612" y="2651026"/>
            <a:ext cx="3522464" cy="593725"/>
          </a:xfrm>
          <a:prstGeom prst="rect">
            <a:avLst/>
          </a:prstGeom>
          <a:noFill/>
          <a:ln/>
        </p:spPr>
        <p:txBody>
          <a:bodyPr wrap="square" lIns="0" tIns="0" rIns="0" bIns="0" rtlCol="0" anchor="t">
            <a:normAutofit/>
          </a:bodyPr>
          <a:lstStyle/>
          <a:p>
            <a:pPr>
              <a:lnSpc>
                <a:spcPct val="104000"/>
              </a:lnSpc>
            </a:pPr>
            <a:r>
              <a:rPr lang="en-US" sz="1867" dirty="0">
                <a:solidFill>
                  <a:srgbClr val="FFE5E5"/>
                </a:solidFill>
                <a:latin typeface="+mj-lt"/>
                <a:ea typeface="Dela Gothic One" pitchFamily="34" charset="-122"/>
                <a:cs typeface="Dela Gothic One" pitchFamily="34" charset="-120"/>
              </a:rPr>
              <a:t>Restore Original Configurations</a:t>
            </a:r>
            <a:endParaRPr lang="en-US" sz="1867" dirty="0">
              <a:latin typeface="+mj-lt"/>
            </a:endParaRPr>
          </a:p>
        </p:txBody>
      </p:sp>
      <p:sp>
        <p:nvSpPr>
          <p:cNvPr id="15" name="Text 13"/>
          <p:cNvSpPr/>
          <p:nvPr/>
        </p:nvSpPr>
        <p:spPr>
          <a:xfrm>
            <a:off x="8037612" y="3352999"/>
            <a:ext cx="3522464" cy="866775"/>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Reverted configuration changes to baseline settings for a clean starting state.</a:t>
            </a:r>
            <a:endParaRPr lang="en-US" sz="1400" dirty="0"/>
          </a:p>
        </p:txBody>
      </p:sp>
      <p:sp>
        <p:nvSpPr>
          <p:cNvPr id="16" name="Text 14"/>
          <p:cNvSpPr/>
          <p:nvPr/>
        </p:nvSpPr>
        <p:spPr>
          <a:xfrm>
            <a:off x="631925" y="4535587"/>
            <a:ext cx="361057" cy="225624"/>
          </a:xfrm>
          <a:prstGeom prst="rect">
            <a:avLst/>
          </a:prstGeom>
          <a:noFill/>
          <a:ln/>
        </p:spPr>
        <p:txBody>
          <a:bodyPr wrap="none" lIns="0" tIns="0" rIns="0" bIns="0" rtlCol="0" anchor="ctr"/>
          <a:lstStyle/>
          <a:p>
            <a:r>
              <a:rPr lang="en-US" sz="1400" dirty="0">
                <a:solidFill>
                  <a:srgbClr val="FFE5E5"/>
                </a:solidFill>
                <a:latin typeface="+mj-lt"/>
                <a:ea typeface="Dela Gothic One Light" pitchFamily="34" charset="-122"/>
                <a:cs typeface="Dela Gothic One Light" pitchFamily="34" charset="-120"/>
              </a:rPr>
              <a:t>04</a:t>
            </a:r>
            <a:endParaRPr lang="en-US" sz="1400" dirty="0">
              <a:latin typeface="+mj-lt"/>
            </a:endParaRPr>
          </a:p>
        </p:txBody>
      </p:sp>
      <p:sp>
        <p:nvSpPr>
          <p:cNvPr id="17" name="Shape 15"/>
          <p:cNvSpPr/>
          <p:nvPr/>
        </p:nvSpPr>
        <p:spPr>
          <a:xfrm>
            <a:off x="631924" y="4816872"/>
            <a:ext cx="5373787" cy="25400"/>
          </a:xfrm>
          <a:prstGeom prst="rect">
            <a:avLst/>
          </a:prstGeom>
          <a:solidFill>
            <a:srgbClr val="C91313"/>
          </a:solidFill>
          <a:ln/>
        </p:spPr>
        <p:txBody>
          <a:bodyPr/>
          <a:lstStyle/>
          <a:p>
            <a:endParaRPr lang="en-US" sz="2400">
              <a:latin typeface="+mj-lt"/>
            </a:endParaRPr>
          </a:p>
        </p:txBody>
      </p:sp>
      <p:sp>
        <p:nvSpPr>
          <p:cNvPr id="18" name="Text 16"/>
          <p:cNvSpPr/>
          <p:nvPr/>
        </p:nvSpPr>
        <p:spPr>
          <a:xfrm>
            <a:off x="631924" y="4957862"/>
            <a:ext cx="5373787"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Restart Services</a:t>
            </a:r>
            <a:endParaRPr lang="en-US" sz="1867" dirty="0">
              <a:latin typeface="+mj-lt"/>
            </a:endParaRPr>
          </a:p>
        </p:txBody>
      </p:sp>
      <p:sp>
        <p:nvSpPr>
          <p:cNvPr id="19" name="Text 17"/>
          <p:cNvSpPr/>
          <p:nvPr/>
        </p:nvSpPr>
        <p:spPr>
          <a:xfrm>
            <a:off x="631924" y="5362972"/>
            <a:ext cx="5373787"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Gracefully restarted all services to apply restored configurations cleanly.</a:t>
            </a:r>
            <a:endParaRPr lang="en-US" sz="1400" dirty="0"/>
          </a:p>
        </p:txBody>
      </p:sp>
      <p:sp>
        <p:nvSpPr>
          <p:cNvPr id="20" name="Text 18"/>
          <p:cNvSpPr/>
          <p:nvPr/>
        </p:nvSpPr>
        <p:spPr>
          <a:xfrm>
            <a:off x="6186190" y="4535587"/>
            <a:ext cx="361057" cy="225624"/>
          </a:xfrm>
          <a:prstGeom prst="rect">
            <a:avLst/>
          </a:prstGeom>
          <a:noFill/>
          <a:ln/>
        </p:spPr>
        <p:txBody>
          <a:bodyPr wrap="none" lIns="0" tIns="0" rIns="0" bIns="0" rtlCol="0" anchor="ctr"/>
          <a:lstStyle/>
          <a:p>
            <a:r>
              <a:rPr lang="en-US" sz="1400" dirty="0">
                <a:solidFill>
                  <a:srgbClr val="FFE5E5"/>
                </a:solidFill>
                <a:latin typeface="+mj-lt"/>
                <a:ea typeface="Dela Gothic One Light" pitchFamily="34" charset="-122"/>
                <a:cs typeface="Dela Gothic One Light" pitchFamily="34" charset="-120"/>
              </a:rPr>
              <a:t>05</a:t>
            </a:r>
            <a:endParaRPr lang="en-US" sz="1400" dirty="0">
              <a:latin typeface="+mj-lt"/>
            </a:endParaRPr>
          </a:p>
        </p:txBody>
      </p:sp>
      <p:sp>
        <p:nvSpPr>
          <p:cNvPr id="21" name="Shape 19"/>
          <p:cNvSpPr/>
          <p:nvPr/>
        </p:nvSpPr>
        <p:spPr>
          <a:xfrm>
            <a:off x="6186190" y="4816872"/>
            <a:ext cx="5373885" cy="25400"/>
          </a:xfrm>
          <a:prstGeom prst="rect">
            <a:avLst/>
          </a:prstGeom>
          <a:solidFill>
            <a:srgbClr val="C91313"/>
          </a:solidFill>
          <a:ln/>
        </p:spPr>
        <p:txBody>
          <a:bodyPr/>
          <a:lstStyle/>
          <a:p>
            <a:endParaRPr lang="en-US" sz="2400">
              <a:latin typeface="+mj-lt"/>
            </a:endParaRPr>
          </a:p>
        </p:txBody>
      </p:sp>
      <p:sp>
        <p:nvSpPr>
          <p:cNvPr id="22" name="Text 20"/>
          <p:cNvSpPr/>
          <p:nvPr/>
        </p:nvSpPr>
        <p:spPr>
          <a:xfrm>
            <a:off x="6186190" y="4957862"/>
            <a:ext cx="5373885"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Verify System Health</a:t>
            </a:r>
            <a:endParaRPr lang="en-US" sz="1867" dirty="0">
              <a:latin typeface="+mj-lt"/>
            </a:endParaRPr>
          </a:p>
        </p:txBody>
      </p:sp>
      <p:sp>
        <p:nvSpPr>
          <p:cNvPr id="23" name="Text 21"/>
          <p:cNvSpPr/>
          <p:nvPr/>
        </p:nvSpPr>
        <p:spPr>
          <a:xfrm>
            <a:off x="6186190" y="5362972"/>
            <a:ext cx="5373885"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ea typeface="DM Sans" pitchFamily="34" charset="-122"/>
                <a:cs typeface="DM Sans" pitchFamily="34" charset="-120"/>
              </a:rPr>
              <a:t>Confirmed all systems were operational, stable, and ready for redeployment.</a:t>
            </a:r>
            <a:endParaRPr lang="en-US" sz="1400" dirty="0"/>
          </a:p>
        </p:txBody>
      </p:sp>
      <p:sp>
        <p:nvSpPr>
          <p:cNvPr id="26" name="Footer Placeholder 25">
            <a:extLst>
              <a:ext uri="{FF2B5EF4-FFF2-40B4-BE49-F238E27FC236}">
                <a16:creationId xmlns:a16="http://schemas.microsoft.com/office/drawing/2014/main" id="{6A24AA56-EEB6-6276-EED5-023B1D4F0E8E}"/>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27" name="Slide Number Placeholder 26">
            <a:extLst>
              <a:ext uri="{FF2B5EF4-FFF2-40B4-BE49-F238E27FC236}">
                <a16:creationId xmlns:a16="http://schemas.microsoft.com/office/drawing/2014/main" id="{243272ED-2395-E83F-5D89-26330D609219}"/>
              </a:ext>
            </a:extLst>
          </p:cNvPr>
          <p:cNvSpPr>
            <a:spLocks noGrp="1"/>
          </p:cNvSpPr>
          <p:nvPr>
            <p:ph type="sldNum" sz="quarter" idx="4"/>
          </p:nvPr>
        </p:nvSpPr>
        <p:spPr/>
        <p:txBody>
          <a:bodyPr/>
          <a:lstStyle/>
          <a:p>
            <a:fld id="{08D6B0A0-5113-456A-82B3-EA8CCD6D43D8}" type="slidenum">
              <a:rPr lang="en-US" smtClean="0">
                <a:latin typeface="+mj-lt"/>
              </a:rPr>
              <a:t>39</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3168" y="363356"/>
            <a:ext cx="10928152" cy="315516"/>
          </a:xfrm>
          <a:prstGeom prst="rect">
            <a:avLst/>
          </a:prstGeom>
          <a:noFill/>
          <a:ln/>
        </p:spPr>
        <p:txBody>
          <a:bodyPr wrap="none" lIns="0" tIns="0" rIns="0" bIns="0" rtlCol="0" anchor="t"/>
          <a:lstStyle/>
          <a:p>
            <a:pPr>
              <a:lnSpc>
                <a:spcPct val="104000"/>
              </a:lnSpc>
            </a:pPr>
            <a:r>
              <a:rPr lang="en-US" sz="4000" dirty="0">
                <a:solidFill>
                  <a:srgbClr val="FAEBEB"/>
                </a:solidFill>
                <a:latin typeface="+mj-lt"/>
                <a:ea typeface="Dela Gothic One" pitchFamily="34" charset="-122"/>
                <a:cs typeface="Dela Gothic One" pitchFamily="34" charset="-120"/>
              </a:rPr>
              <a:t>Cleanup Outcome</a:t>
            </a:r>
            <a:endParaRPr lang="en-US" sz="4000" dirty="0">
              <a:latin typeface="+mj-lt"/>
            </a:endParaRPr>
          </a:p>
        </p:txBody>
      </p:sp>
      <p:grpSp>
        <p:nvGrpSpPr>
          <p:cNvPr id="20" name="Group 19">
            <a:extLst>
              <a:ext uri="{FF2B5EF4-FFF2-40B4-BE49-F238E27FC236}">
                <a16:creationId xmlns:a16="http://schemas.microsoft.com/office/drawing/2014/main" id="{3E37BD54-446A-6837-BFE5-B452DF8E29E1}"/>
              </a:ext>
            </a:extLst>
          </p:cNvPr>
          <p:cNvGrpSpPr/>
          <p:nvPr/>
        </p:nvGrpSpPr>
        <p:grpSpPr>
          <a:xfrm>
            <a:off x="218787" y="1588655"/>
            <a:ext cx="5674013" cy="4378035"/>
            <a:chOff x="631925" y="2951460"/>
            <a:chExt cx="5573932" cy="1346895"/>
          </a:xfrm>
        </p:grpSpPr>
        <p:sp>
          <p:nvSpPr>
            <p:cNvPr id="3" name="Shape 1"/>
            <p:cNvSpPr/>
            <p:nvPr/>
          </p:nvSpPr>
          <p:spPr>
            <a:xfrm>
              <a:off x="631925" y="2951460"/>
              <a:ext cx="2648049" cy="647997"/>
            </a:xfrm>
            <a:prstGeom prst="roundRect">
              <a:avLst>
                <a:gd name="adj" fmla="val 6217"/>
              </a:avLst>
            </a:prstGeom>
            <a:solidFill>
              <a:srgbClr val="740B0B"/>
            </a:solidFill>
            <a:ln w="4763">
              <a:solidFill>
                <a:srgbClr val="8D2424"/>
              </a:solidFill>
              <a:prstDash val="solid"/>
            </a:ln>
          </p:spPr>
          <p:txBody>
            <a:bodyPr/>
            <a:lstStyle/>
            <a:p>
              <a:endParaRPr lang="en-US" sz="2400">
                <a:latin typeface="+mj-lt"/>
              </a:endParaRPr>
            </a:p>
          </p:txBody>
        </p:sp>
        <p:sp>
          <p:nvSpPr>
            <p:cNvPr id="4" name="Text 2"/>
            <p:cNvSpPr/>
            <p:nvPr/>
          </p:nvSpPr>
          <p:spPr>
            <a:xfrm>
              <a:off x="734120" y="3053656"/>
              <a:ext cx="2443659" cy="157757"/>
            </a:xfrm>
            <a:prstGeom prst="rect">
              <a:avLst/>
            </a:prstGeom>
            <a:noFill/>
            <a:ln/>
          </p:spPr>
          <p:txBody>
            <a:bodyPr wrap="none" lIns="0" tIns="0" rIns="0" bIns="0" rtlCol="0" anchor="t"/>
            <a:lstStyle/>
            <a:p>
              <a:pPr>
                <a:lnSpc>
                  <a:spcPct val="104000"/>
                </a:lnSpc>
              </a:pPr>
              <a:r>
                <a:rPr lang="en-US" sz="1400" dirty="0">
                  <a:solidFill>
                    <a:srgbClr val="FFE5E5"/>
                  </a:solidFill>
                  <a:latin typeface="+mj-lt"/>
                  <a:ea typeface="Dela Gothic One" pitchFamily="34" charset="-122"/>
                  <a:cs typeface="Dela Gothic One" pitchFamily="34" charset="-120"/>
                </a:rPr>
                <a:t>Clean Environment</a:t>
              </a:r>
              <a:endParaRPr lang="en-US" sz="1400" dirty="0">
                <a:latin typeface="+mj-lt"/>
              </a:endParaRPr>
            </a:p>
          </p:txBody>
        </p:sp>
        <p:sp>
          <p:nvSpPr>
            <p:cNvPr id="5" name="Text 3"/>
            <p:cNvSpPr/>
            <p:nvPr/>
          </p:nvSpPr>
          <p:spPr>
            <a:xfrm>
              <a:off x="748298" y="3378071"/>
              <a:ext cx="2443659" cy="234951"/>
            </a:xfrm>
            <a:prstGeom prst="rect">
              <a:avLst/>
            </a:prstGeom>
            <a:noFill/>
            <a:ln/>
          </p:spPr>
          <p:txBody>
            <a:bodyPr wrap="square" lIns="0" tIns="0" rIns="0" bIns="0" rtlCol="0" anchor="t">
              <a:normAutofit/>
            </a:bodyPr>
            <a:lstStyle/>
            <a:p>
              <a:pPr>
                <a:lnSpc>
                  <a:spcPct val="102000"/>
                </a:lnSpc>
              </a:pPr>
              <a:r>
                <a:rPr lang="en-US" sz="1200" dirty="0">
                  <a:solidFill>
                    <a:srgbClr val="FFE5E5"/>
                  </a:solidFill>
                  <a:latin typeface="+mj-lt"/>
                  <a:ea typeface="DM Sans" pitchFamily="34" charset="-122"/>
                  <a:cs typeface="DM Sans" pitchFamily="34" charset="-120"/>
                </a:rPr>
                <a:t>No residual artifacts, test files, or modified configurations remain.</a:t>
              </a:r>
              <a:endParaRPr lang="en-US" sz="1200" dirty="0">
                <a:latin typeface="+mj-lt"/>
              </a:endParaRPr>
            </a:p>
          </p:txBody>
        </p:sp>
        <p:sp>
          <p:nvSpPr>
            <p:cNvPr id="6" name="Shape 4"/>
            <p:cNvSpPr/>
            <p:nvPr/>
          </p:nvSpPr>
          <p:spPr>
            <a:xfrm>
              <a:off x="3330873" y="2951460"/>
              <a:ext cx="2648148" cy="647997"/>
            </a:xfrm>
            <a:prstGeom prst="roundRect">
              <a:avLst>
                <a:gd name="adj" fmla="val 6217"/>
              </a:avLst>
            </a:prstGeom>
            <a:solidFill>
              <a:srgbClr val="740B0B"/>
            </a:solidFill>
            <a:ln w="4763">
              <a:solidFill>
                <a:srgbClr val="8D2424"/>
              </a:solidFill>
              <a:prstDash val="solid"/>
            </a:ln>
          </p:spPr>
          <p:txBody>
            <a:bodyPr/>
            <a:lstStyle/>
            <a:p>
              <a:endParaRPr lang="en-US" sz="2400">
                <a:latin typeface="+mj-lt"/>
              </a:endParaRPr>
            </a:p>
          </p:txBody>
        </p:sp>
        <p:sp>
          <p:nvSpPr>
            <p:cNvPr id="7" name="Text 5"/>
            <p:cNvSpPr/>
            <p:nvPr/>
          </p:nvSpPr>
          <p:spPr>
            <a:xfrm>
              <a:off x="3433068" y="3053656"/>
              <a:ext cx="2443757" cy="157757"/>
            </a:xfrm>
            <a:prstGeom prst="rect">
              <a:avLst/>
            </a:prstGeom>
            <a:noFill/>
            <a:ln/>
          </p:spPr>
          <p:txBody>
            <a:bodyPr wrap="none" lIns="0" tIns="0" rIns="0" bIns="0" rtlCol="0" anchor="t"/>
            <a:lstStyle/>
            <a:p>
              <a:pPr>
                <a:lnSpc>
                  <a:spcPct val="104000"/>
                </a:lnSpc>
              </a:pPr>
              <a:r>
                <a:rPr lang="en-US" sz="1400" dirty="0">
                  <a:solidFill>
                    <a:srgbClr val="FFE5E5"/>
                  </a:solidFill>
                  <a:latin typeface="+mj-lt"/>
                  <a:ea typeface="Dela Gothic One" pitchFamily="34" charset="-122"/>
                  <a:cs typeface="Dela Gothic One" pitchFamily="34" charset="-120"/>
                </a:rPr>
                <a:t>Stable Services</a:t>
              </a:r>
              <a:endParaRPr lang="en-US" sz="1400" dirty="0">
                <a:latin typeface="+mj-lt"/>
              </a:endParaRPr>
            </a:p>
          </p:txBody>
        </p:sp>
        <p:sp>
          <p:nvSpPr>
            <p:cNvPr id="8" name="Text 6"/>
            <p:cNvSpPr/>
            <p:nvPr/>
          </p:nvSpPr>
          <p:spPr>
            <a:xfrm>
              <a:off x="3433068" y="3366146"/>
              <a:ext cx="2443757" cy="234951"/>
            </a:xfrm>
            <a:prstGeom prst="rect">
              <a:avLst/>
            </a:prstGeom>
            <a:noFill/>
            <a:ln/>
          </p:spPr>
          <p:txBody>
            <a:bodyPr wrap="square" lIns="0" tIns="0" rIns="0" bIns="0" rtlCol="0" anchor="t">
              <a:normAutofit/>
            </a:bodyPr>
            <a:lstStyle/>
            <a:p>
              <a:pPr>
                <a:lnSpc>
                  <a:spcPct val="102000"/>
                </a:lnSpc>
              </a:pPr>
              <a:r>
                <a:rPr lang="en-US" sz="1200" dirty="0">
                  <a:solidFill>
                    <a:srgbClr val="FFE5E5"/>
                  </a:solidFill>
                  <a:latin typeface="+mj-lt"/>
                  <a:ea typeface="DM Sans" pitchFamily="34" charset="-122"/>
                  <a:cs typeface="DM Sans" pitchFamily="34" charset="-120"/>
                </a:rPr>
                <a:t>All services validated as healthy and running expected baselines.</a:t>
              </a:r>
              <a:endParaRPr lang="en-US" sz="1200" dirty="0">
                <a:latin typeface="+mj-lt"/>
              </a:endParaRPr>
            </a:p>
          </p:txBody>
        </p:sp>
        <p:sp>
          <p:nvSpPr>
            <p:cNvPr id="9" name="Shape 7"/>
            <p:cNvSpPr/>
            <p:nvPr/>
          </p:nvSpPr>
          <p:spPr>
            <a:xfrm>
              <a:off x="631925" y="3650358"/>
              <a:ext cx="2648049" cy="647997"/>
            </a:xfrm>
            <a:prstGeom prst="roundRect">
              <a:avLst>
                <a:gd name="adj" fmla="val 6217"/>
              </a:avLst>
            </a:prstGeom>
            <a:solidFill>
              <a:srgbClr val="740B0B"/>
            </a:solidFill>
            <a:ln w="4763">
              <a:solidFill>
                <a:srgbClr val="8D2424"/>
              </a:solidFill>
              <a:prstDash val="solid"/>
            </a:ln>
          </p:spPr>
          <p:txBody>
            <a:bodyPr/>
            <a:lstStyle/>
            <a:p>
              <a:endParaRPr lang="en-US" sz="2400">
                <a:latin typeface="+mj-lt"/>
              </a:endParaRPr>
            </a:p>
          </p:txBody>
        </p:sp>
        <p:sp>
          <p:nvSpPr>
            <p:cNvPr id="10" name="Text 8"/>
            <p:cNvSpPr/>
            <p:nvPr/>
          </p:nvSpPr>
          <p:spPr>
            <a:xfrm>
              <a:off x="734120" y="3752552"/>
              <a:ext cx="2443659" cy="157757"/>
            </a:xfrm>
            <a:prstGeom prst="rect">
              <a:avLst/>
            </a:prstGeom>
            <a:noFill/>
            <a:ln/>
          </p:spPr>
          <p:txBody>
            <a:bodyPr wrap="none" lIns="0" tIns="0" rIns="0" bIns="0" rtlCol="0" anchor="t"/>
            <a:lstStyle/>
            <a:p>
              <a:pPr>
                <a:lnSpc>
                  <a:spcPct val="104000"/>
                </a:lnSpc>
              </a:pPr>
              <a:r>
                <a:rPr lang="en-US" sz="1400" dirty="0">
                  <a:solidFill>
                    <a:srgbClr val="FFE5E5"/>
                  </a:solidFill>
                  <a:latin typeface="+mj-lt"/>
                  <a:ea typeface="Dela Gothic One" pitchFamily="34" charset="-122"/>
                  <a:cs typeface="Dela Gothic One" pitchFamily="34" charset="-120"/>
                </a:rPr>
                <a:t>Repeatable Deployment</a:t>
              </a:r>
              <a:endParaRPr lang="en-US" sz="1400" dirty="0">
                <a:latin typeface="+mj-lt"/>
              </a:endParaRPr>
            </a:p>
          </p:txBody>
        </p:sp>
        <p:sp>
          <p:nvSpPr>
            <p:cNvPr id="11" name="Text 9"/>
            <p:cNvSpPr/>
            <p:nvPr/>
          </p:nvSpPr>
          <p:spPr>
            <a:xfrm>
              <a:off x="734120" y="4012503"/>
              <a:ext cx="2443659" cy="234951"/>
            </a:xfrm>
            <a:prstGeom prst="rect">
              <a:avLst/>
            </a:prstGeom>
            <a:noFill/>
            <a:ln/>
          </p:spPr>
          <p:txBody>
            <a:bodyPr wrap="square" lIns="0" tIns="0" rIns="0" bIns="0" rtlCol="0" anchor="t">
              <a:normAutofit/>
            </a:bodyPr>
            <a:lstStyle/>
            <a:p>
              <a:pPr>
                <a:lnSpc>
                  <a:spcPct val="102000"/>
                </a:lnSpc>
              </a:pPr>
              <a:r>
                <a:rPr lang="en-US" sz="1200" dirty="0">
                  <a:solidFill>
                    <a:srgbClr val="FFE5E5"/>
                  </a:solidFill>
                  <a:latin typeface="+mj-lt"/>
                  <a:ea typeface="DM Sans" pitchFamily="34" charset="-122"/>
                  <a:cs typeface="DM Sans" pitchFamily="34" charset="-120"/>
                </a:rPr>
                <a:t>Lab can be redeployed identically for future assessment cycles.</a:t>
              </a:r>
              <a:endParaRPr lang="en-US" sz="1200" dirty="0">
                <a:latin typeface="+mj-lt"/>
              </a:endParaRPr>
            </a:p>
          </p:txBody>
        </p:sp>
        <p:sp>
          <p:nvSpPr>
            <p:cNvPr id="12" name="Shape 10"/>
            <p:cNvSpPr/>
            <p:nvPr/>
          </p:nvSpPr>
          <p:spPr>
            <a:xfrm>
              <a:off x="3330873" y="3650358"/>
              <a:ext cx="2648148" cy="647997"/>
            </a:xfrm>
            <a:prstGeom prst="roundRect">
              <a:avLst>
                <a:gd name="adj" fmla="val 6217"/>
              </a:avLst>
            </a:prstGeom>
            <a:solidFill>
              <a:srgbClr val="740B0B"/>
            </a:solidFill>
            <a:ln w="4763">
              <a:solidFill>
                <a:srgbClr val="8D2424"/>
              </a:solidFill>
              <a:prstDash val="solid"/>
            </a:ln>
          </p:spPr>
          <p:txBody>
            <a:bodyPr/>
            <a:lstStyle/>
            <a:p>
              <a:endParaRPr lang="en-US" sz="2400">
                <a:latin typeface="+mj-lt"/>
              </a:endParaRPr>
            </a:p>
          </p:txBody>
        </p:sp>
        <p:sp>
          <p:nvSpPr>
            <p:cNvPr id="13" name="Text 11"/>
            <p:cNvSpPr/>
            <p:nvPr/>
          </p:nvSpPr>
          <p:spPr>
            <a:xfrm>
              <a:off x="3433068" y="3752552"/>
              <a:ext cx="2772789" cy="97068"/>
            </a:xfrm>
            <a:prstGeom prst="rect">
              <a:avLst/>
            </a:prstGeom>
            <a:noFill/>
            <a:ln/>
          </p:spPr>
          <p:txBody>
            <a:bodyPr wrap="none" lIns="0" tIns="0" rIns="0" bIns="0" rtlCol="0" anchor="t"/>
            <a:lstStyle/>
            <a:p>
              <a:pPr>
                <a:lnSpc>
                  <a:spcPct val="104000"/>
                </a:lnSpc>
              </a:pPr>
              <a:r>
                <a:rPr lang="en-US" sz="1200" dirty="0">
                  <a:solidFill>
                    <a:srgbClr val="FFE5E5"/>
                  </a:solidFill>
                  <a:latin typeface="+mj-lt"/>
                  <a:ea typeface="Dela Gothic One" pitchFamily="34" charset="-122"/>
                  <a:cs typeface="Dela Gothic One" pitchFamily="34" charset="-120"/>
                </a:rPr>
                <a:t>Ready for Future Assessments</a:t>
              </a:r>
              <a:endParaRPr lang="en-US" sz="1200" dirty="0">
                <a:latin typeface="+mj-lt"/>
              </a:endParaRPr>
            </a:p>
          </p:txBody>
        </p:sp>
        <p:sp>
          <p:nvSpPr>
            <p:cNvPr id="14" name="Text 12"/>
            <p:cNvSpPr/>
            <p:nvPr/>
          </p:nvSpPr>
          <p:spPr>
            <a:xfrm>
              <a:off x="3433068" y="4002715"/>
              <a:ext cx="2443757" cy="234951"/>
            </a:xfrm>
            <a:prstGeom prst="rect">
              <a:avLst/>
            </a:prstGeom>
            <a:noFill/>
            <a:ln/>
          </p:spPr>
          <p:txBody>
            <a:bodyPr wrap="square" lIns="0" tIns="0" rIns="0" bIns="0" rtlCol="0" anchor="t">
              <a:normAutofit/>
            </a:bodyPr>
            <a:lstStyle/>
            <a:p>
              <a:pPr>
                <a:lnSpc>
                  <a:spcPct val="102000"/>
                </a:lnSpc>
              </a:pPr>
              <a:r>
                <a:rPr lang="en-US" sz="1200" dirty="0">
                  <a:solidFill>
                    <a:srgbClr val="FFE5E5"/>
                  </a:solidFill>
                  <a:latin typeface="+mj-lt"/>
                  <a:ea typeface="DM Sans" pitchFamily="34" charset="-122"/>
                  <a:cs typeface="DM Sans" pitchFamily="34" charset="-120"/>
                </a:rPr>
                <a:t>Environment is fully prepared for the next round of testing.</a:t>
              </a:r>
              <a:endParaRPr lang="en-US" sz="1200" dirty="0">
                <a:latin typeface="+mj-lt"/>
              </a:endParaRPr>
            </a:p>
          </p:txBody>
        </p:sp>
      </p:grpSp>
      <p:pic>
        <p:nvPicPr>
          <p:cNvPr id="15" name="Image 0" descr="preencoded.png"/>
          <p:cNvPicPr>
            <a:picLocks noChangeAspect="1"/>
          </p:cNvPicPr>
          <p:nvPr/>
        </p:nvPicPr>
        <p:blipFill>
          <a:blip r:embed="rId3"/>
          <a:stretch>
            <a:fillRect/>
          </a:stretch>
        </p:blipFill>
        <p:spPr>
          <a:xfrm>
            <a:off x="5892800" y="277092"/>
            <a:ext cx="6080413" cy="5902036"/>
          </a:xfrm>
          <a:prstGeom prst="rect">
            <a:avLst/>
          </a:prstGeom>
        </p:spPr>
      </p:pic>
      <p:sp>
        <p:nvSpPr>
          <p:cNvPr id="18" name="Footer Placeholder 17">
            <a:extLst>
              <a:ext uri="{FF2B5EF4-FFF2-40B4-BE49-F238E27FC236}">
                <a16:creationId xmlns:a16="http://schemas.microsoft.com/office/drawing/2014/main" id="{5F8B5DFF-4A7E-67EF-038B-68FC15144A9E}"/>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9" name="Slide Number Placeholder 18">
            <a:extLst>
              <a:ext uri="{FF2B5EF4-FFF2-40B4-BE49-F238E27FC236}">
                <a16:creationId xmlns:a16="http://schemas.microsoft.com/office/drawing/2014/main" id="{5AFAAAAA-829D-676B-2636-E941767C87B3}"/>
              </a:ext>
            </a:extLst>
          </p:cNvPr>
          <p:cNvSpPr>
            <a:spLocks noGrp="1"/>
          </p:cNvSpPr>
          <p:nvPr>
            <p:ph type="sldNum" sz="quarter" idx="4"/>
          </p:nvPr>
        </p:nvSpPr>
        <p:spPr/>
        <p:txBody>
          <a:bodyPr/>
          <a:lstStyle/>
          <a:p>
            <a:fld id="{08D6B0A0-5113-456A-82B3-EA8CCD6D43D8}" type="slidenum">
              <a:rPr lang="en-US" smtClean="0">
                <a:latin typeface="+mj-lt"/>
              </a:rPr>
              <a:t>40</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803" y="900813"/>
            <a:ext cx="10928152"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Cleanup Evidence</a:t>
            </a:r>
            <a:endParaRPr lang="en-US" sz="3733" dirty="0">
              <a:latin typeface="+mj-lt"/>
            </a:endParaRPr>
          </a:p>
        </p:txBody>
      </p:sp>
      <p:sp>
        <p:nvSpPr>
          <p:cNvPr id="3" name="Text 1"/>
          <p:cNvSpPr/>
          <p:nvPr/>
        </p:nvSpPr>
        <p:spPr>
          <a:xfrm>
            <a:off x="837803" y="1837195"/>
            <a:ext cx="7772797" cy="288925"/>
          </a:xfrm>
          <a:prstGeom prst="rect">
            <a:avLst/>
          </a:prstGeom>
          <a:noFill/>
          <a:ln/>
        </p:spPr>
        <p:txBody>
          <a:bodyPr wrap="none" lIns="0" tIns="0" rIns="0" bIns="0" rtlCol="0" anchor="t"/>
          <a:lstStyle/>
          <a:p>
            <a:pPr>
              <a:lnSpc>
                <a:spcPct val="133000"/>
              </a:lnSpc>
            </a:pPr>
            <a:r>
              <a:rPr lang="en-US" sz="1400" dirty="0">
                <a:solidFill>
                  <a:srgbClr val="FFE5E5"/>
                </a:solidFill>
                <a:ea typeface="DM Sans" pitchFamily="34" charset="-122"/>
                <a:cs typeface="DM Sans" pitchFamily="34" charset="-120"/>
              </a:rPr>
              <a:t>Final screenshots confirm the lab was fully restored to a clean and operational baseline state.</a:t>
            </a:r>
            <a:endParaRPr lang="en-US" sz="1400" dirty="0"/>
          </a:p>
        </p:txBody>
      </p:sp>
      <p:grpSp>
        <p:nvGrpSpPr>
          <p:cNvPr id="17" name="Group 16">
            <a:extLst>
              <a:ext uri="{FF2B5EF4-FFF2-40B4-BE49-F238E27FC236}">
                <a16:creationId xmlns:a16="http://schemas.microsoft.com/office/drawing/2014/main" id="{6919AA59-B6FD-A83F-B8E9-F4BDB902224D}"/>
              </a:ext>
            </a:extLst>
          </p:cNvPr>
          <p:cNvGrpSpPr/>
          <p:nvPr/>
        </p:nvGrpSpPr>
        <p:grpSpPr>
          <a:xfrm>
            <a:off x="654496" y="2402804"/>
            <a:ext cx="10928151" cy="1936353"/>
            <a:chOff x="631924" y="2718594"/>
            <a:chExt cx="10928151" cy="1936353"/>
          </a:xfrm>
        </p:grpSpPr>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4" y="2718594"/>
              <a:ext cx="5373787" cy="1936353"/>
            </a:xfrm>
            <a:prstGeom prst="rect">
              <a:avLst/>
            </a:prstGeom>
          </p:spPr>
        </p:pic>
        <p:sp>
          <p:nvSpPr>
            <p:cNvPr id="5" name="Text 2"/>
            <p:cNvSpPr/>
            <p:nvPr/>
          </p:nvSpPr>
          <p:spPr>
            <a:xfrm>
              <a:off x="837803" y="3466109"/>
              <a:ext cx="4962029"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System Cleanup</a:t>
              </a:r>
              <a:endParaRPr lang="en-US" sz="1867" dirty="0">
                <a:latin typeface="+mj-lt"/>
              </a:endParaRPr>
            </a:p>
          </p:txBody>
        </p:sp>
        <p:sp>
          <p:nvSpPr>
            <p:cNvPr id="6" name="Text 3"/>
            <p:cNvSpPr/>
            <p:nvPr/>
          </p:nvSpPr>
          <p:spPr>
            <a:xfrm>
              <a:off x="837803" y="3871217"/>
              <a:ext cx="4962029"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Verification that all test artifacts were removed and system state was restored to baseline.</a:t>
              </a:r>
              <a:endParaRPr lang="en-US" sz="1400" dirty="0">
                <a:latin typeface="+mj-lt"/>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86190" y="2718594"/>
              <a:ext cx="5373885" cy="1936353"/>
            </a:xfrm>
            <a:prstGeom prst="rect">
              <a:avLst/>
            </a:prstGeom>
          </p:spPr>
        </p:pic>
        <p:sp>
          <p:nvSpPr>
            <p:cNvPr id="8" name="Text 4"/>
            <p:cNvSpPr/>
            <p:nvPr/>
          </p:nvSpPr>
          <p:spPr>
            <a:xfrm>
              <a:off x="6392069" y="3466109"/>
              <a:ext cx="4962128" cy="296863"/>
            </a:xfrm>
            <a:prstGeom prst="rect">
              <a:avLst/>
            </a:prstGeom>
            <a:noFill/>
            <a:ln/>
          </p:spPr>
          <p:txBody>
            <a:bodyPr wrap="none" lIns="0" tIns="0" rIns="0" bIns="0" rtlCol="0" anchor="t"/>
            <a:lstStyle/>
            <a:p>
              <a:pPr>
                <a:lnSpc>
                  <a:spcPct val="104000"/>
                </a:lnSpc>
              </a:pPr>
              <a:r>
                <a:rPr lang="en-US" sz="1867" dirty="0">
                  <a:solidFill>
                    <a:srgbClr val="FFE5E5"/>
                  </a:solidFill>
                  <a:latin typeface="+mj-lt"/>
                  <a:ea typeface="Dela Gothic One" pitchFamily="34" charset="-122"/>
                  <a:cs typeface="Dela Gothic One" pitchFamily="34" charset="-120"/>
                </a:rPr>
                <a:t>Service Verification</a:t>
              </a:r>
              <a:endParaRPr lang="en-US" sz="1867" dirty="0">
                <a:latin typeface="+mj-lt"/>
              </a:endParaRPr>
            </a:p>
          </p:txBody>
        </p:sp>
        <p:sp>
          <p:nvSpPr>
            <p:cNvPr id="9" name="Text 5"/>
            <p:cNvSpPr/>
            <p:nvPr/>
          </p:nvSpPr>
          <p:spPr>
            <a:xfrm>
              <a:off x="6392069" y="3871217"/>
              <a:ext cx="4962128"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cs typeface="DM Sans" pitchFamily="34" charset="-120"/>
                </a:rPr>
                <a:t>Confirmation that all services restarted successfully and are operating within expected parameters.</a:t>
              </a:r>
              <a:endParaRPr lang="en-US" sz="1400" dirty="0">
                <a:latin typeface="+mj-lt"/>
              </a:endParaRPr>
            </a:p>
          </p:txBody>
        </p:sp>
      </p:grpSp>
      <p:sp>
        <p:nvSpPr>
          <p:cNvPr id="15" name="Footer Placeholder 14">
            <a:extLst>
              <a:ext uri="{FF2B5EF4-FFF2-40B4-BE49-F238E27FC236}">
                <a16:creationId xmlns:a16="http://schemas.microsoft.com/office/drawing/2014/main" id="{468E18BC-0D94-DC47-D41D-5E91CA977572}"/>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6" name="Slide Number Placeholder 15">
            <a:extLst>
              <a:ext uri="{FF2B5EF4-FFF2-40B4-BE49-F238E27FC236}">
                <a16:creationId xmlns:a16="http://schemas.microsoft.com/office/drawing/2014/main" id="{B30D768B-9175-5640-4EEA-6A9402DD02C1}"/>
              </a:ext>
            </a:extLst>
          </p:cNvPr>
          <p:cNvSpPr>
            <a:spLocks noGrp="1"/>
          </p:cNvSpPr>
          <p:nvPr>
            <p:ph type="sldNum" sz="quarter" idx="4"/>
          </p:nvPr>
        </p:nvSpPr>
        <p:spPr/>
        <p:txBody>
          <a:bodyPr/>
          <a:lstStyle/>
          <a:p>
            <a:fld id="{08D6B0A0-5113-456A-82B3-EA8CCD6D43D8}" type="slidenum">
              <a:rPr lang="en-US" smtClean="0">
                <a:latin typeface="+mj-lt"/>
              </a:rPr>
              <a:t>41</a:t>
            </a:fld>
            <a:endParaRPr lang="en-US" dirty="0">
              <a:latin typeface="+mj-lt"/>
            </a:endParaRPr>
          </a:p>
        </p:txBody>
      </p:sp>
      <p:pic>
        <p:nvPicPr>
          <p:cNvPr id="19" name="Picture 18">
            <a:extLst>
              <a:ext uri="{FF2B5EF4-FFF2-40B4-BE49-F238E27FC236}">
                <a16:creationId xmlns:a16="http://schemas.microsoft.com/office/drawing/2014/main" id="{5E17E29E-3CDB-D823-C7F8-BA7B45810C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077" y="4812284"/>
            <a:ext cx="5032624" cy="1177167"/>
          </a:xfrm>
          <a:prstGeom prst="rect">
            <a:avLst/>
          </a:prstGeom>
        </p:spPr>
      </p:pic>
      <p:pic>
        <p:nvPicPr>
          <p:cNvPr id="21" name="Picture 20">
            <a:extLst>
              <a:ext uri="{FF2B5EF4-FFF2-40B4-BE49-F238E27FC236}">
                <a16:creationId xmlns:a16="http://schemas.microsoft.com/office/drawing/2014/main" id="{969EE426-AF49-EE74-4ADC-BFBA58C23B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14640" y="4812283"/>
            <a:ext cx="4700049" cy="117716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25" y="940593"/>
            <a:ext cx="1334898" cy="274142"/>
          </a:xfrm>
          <a:prstGeom prst="roundRect">
            <a:avLst>
              <a:gd name="adj" fmla="val 22121"/>
            </a:avLst>
          </a:prstGeom>
          <a:solidFill>
            <a:srgbClr val="460707"/>
          </a:solidFill>
          <a:ln/>
        </p:spPr>
        <p:txBody>
          <a:bodyPr/>
          <a:lstStyle/>
          <a:p>
            <a:endParaRPr lang="en-US" sz="2400">
              <a:latin typeface="+mj-lt"/>
            </a:endParaRPr>
          </a:p>
        </p:txBody>
      </p:sp>
      <p:sp>
        <p:nvSpPr>
          <p:cNvPr id="3" name="Text 1"/>
          <p:cNvSpPr/>
          <p:nvPr/>
        </p:nvSpPr>
        <p:spPr>
          <a:xfrm>
            <a:off x="740172" y="994570"/>
            <a:ext cx="1598712" cy="166092"/>
          </a:xfrm>
          <a:prstGeom prst="rect">
            <a:avLst/>
          </a:prstGeom>
          <a:noFill/>
          <a:ln/>
        </p:spPr>
        <p:txBody>
          <a:bodyPr wrap="none" lIns="0" tIns="0" rIns="0" bIns="0" rtlCol="0" anchor="t"/>
          <a:lstStyle/>
          <a:p>
            <a:pPr>
              <a:lnSpc>
                <a:spcPct val="96000"/>
              </a:lnSpc>
            </a:pPr>
            <a:r>
              <a:rPr lang="en-US" sz="1133" dirty="0">
                <a:solidFill>
                  <a:srgbClr val="FFE5E5"/>
                </a:solidFill>
                <a:latin typeface="+mj-lt"/>
                <a:ea typeface="DM Sans" pitchFamily="34" charset="-122"/>
                <a:cs typeface="DM Sans" pitchFamily="34" charset="-120"/>
              </a:rPr>
              <a:t>FINAL RESULTS</a:t>
            </a:r>
            <a:endParaRPr lang="en-US" sz="1133" dirty="0">
              <a:latin typeface="+mj-lt"/>
            </a:endParaRPr>
          </a:p>
        </p:txBody>
      </p:sp>
      <p:sp>
        <p:nvSpPr>
          <p:cNvPr id="4" name="Text 2"/>
          <p:cNvSpPr/>
          <p:nvPr/>
        </p:nvSpPr>
        <p:spPr>
          <a:xfrm>
            <a:off x="631924" y="1286867"/>
            <a:ext cx="10928152" cy="593924"/>
          </a:xfrm>
          <a:prstGeom prst="rect">
            <a:avLst/>
          </a:prstGeom>
          <a:noFill/>
          <a:ln/>
        </p:spPr>
        <p:txBody>
          <a:bodyPr wrap="none" lIns="0" tIns="0" rIns="0" bIns="0" rtlCol="0" anchor="t"/>
          <a:lstStyle/>
          <a:p>
            <a:pPr>
              <a:lnSpc>
                <a:spcPct val="104000"/>
              </a:lnSpc>
            </a:pPr>
            <a:r>
              <a:rPr lang="en-US" sz="3733" dirty="0">
                <a:solidFill>
                  <a:srgbClr val="FAEBEB"/>
                </a:solidFill>
                <a:latin typeface="+mj-lt"/>
                <a:ea typeface="Dela Gothic One" pitchFamily="34" charset="-122"/>
                <a:cs typeface="Dela Gothic One" pitchFamily="34" charset="-120"/>
              </a:rPr>
              <a:t>Project Outcomes</a:t>
            </a:r>
            <a:endParaRPr lang="en-US" sz="3733" dirty="0">
              <a:latin typeface="+mj-lt"/>
            </a:endParaRPr>
          </a:p>
        </p:txBody>
      </p:sp>
      <p:sp>
        <p:nvSpPr>
          <p:cNvPr id="5" name="Text 3"/>
          <p:cNvSpPr/>
          <p:nvPr/>
        </p:nvSpPr>
        <p:spPr>
          <a:xfrm>
            <a:off x="631924" y="2151559"/>
            <a:ext cx="10928152" cy="819647"/>
          </a:xfrm>
          <a:prstGeom prst="rect">
            <a:avLst/>
          </a:prstGeom>
          <a:noFill/>
          <a:ln/>
        </p:spPr>
        <p:txBody>
          <a:bodyPr wrap="none" lIns="0" tIns="0" rIns="0" bIns="0" rtlCol="0" anchor="t"/>
          <a:lstStyle/>
          <a:p>
            <a:pPr>
              <a:lnSpc>
                <a:spcPct val="104000"/>
              </a:lnSpc>
            </a:pPr>
            <a:r>
              <a:rPr lang="en-US" sz="5133" dirty="0">
                <a:solidFill>
                  <a:srgbClr val="FAEBEB"/>
                </a:solidFill>
                <a:latin typeface="+mj-lt"/>
                <a:ea typeface="Dela Gothic One" pitchFamily="34" charset="-122"/>
                <a:cs typeface="Dela Gothic One" pitchFamily="34" charset="-120"/>
              </a:rPr>
              <a:t>Zero Trace Imperium</a:t>
            </a:r>
            <a:endParaRPr lang="en-US" sz="5133" dirty="0">
              <a:latin typeface="+mj-lt"/>
            </a:endParaRPr>
          </a:p>
        </p:txBody>
      </p:sp>
      <p:sp>
        <p:nvSpPr>
          <p:cNvPr id="6" name="Text 4"/>
          <p:cNvSpPr/>
          <p:nvPr/>
        </p:nvSpPr>
        <p:spPr>
          <a:xfrm>
            <a:off x="631924" y="3241972"/>
            <a:ext cx="10928152" cy="577851"/>
          </a:xfrm>
          <a:prstGeom prst="rect">
            <a:avLst/>
          </a:prstGeom>
          <a:noFill/>
          <a:ln/>
        </p:spPr>
        <p:txBody>
          <a:bodyPr wrap="square" lIns="0" tIns="0" rIns="0" bIns="0" rtlCol="0" anchor="t">
            <a:normAutofit/>
          </a:bodyPr>
          <a:lstStyle/>
          <a:p>
            <a:pPr>
              <a:lnSpc>
                <a:spcPct val="133000"/>
              </a:lnSpc>
            </a:pPr>
            <a:r>
              <a:rPr lang="en-US" sz="1400" dirty="0">
                <a:solidFill>
                  <a:srgbClr val="FFE5E5"/>
                </a:solidFill>
                <a:latin typeface="+mj-lt"/>
                <a:ea typeface="DM Sans" pitchFamily="34" charset="-122"/>
              </a:rPr>
              <a:t>Successfully demonstrated a complete enterprise inspired attack and defense lifecycle inside a controlled VMware laboratory</a:t>
            </a:r>
            <a:r>
              <a:rPr lang="ar-EG" sz="1400" dirty="0">
                <a:solidFill>
                  <a:srgbClr val="FFE5E5"/>
                </a:solidFill>
                <a:latin typeface="+mj-lt"/>
                <a:ea typeface="DM Sans" pitchFamily="34" charset="-122"/>
              </a:rPr>
              <a:t> </a:t>
            </a:r>
            <a:r>
              <a:rPr lang="en-US" sz="1400" dirty="0">
                <a:solidFill>
                  <a:srgbClr val="FFE5E5"/>
                </a:solidFill>
                <a:latin typeface="+mj-lt"/>
                <a:ea typeface="DM Sans" pitchFamily="34" charset="-122"/>
              </a:rPr>
              <a:t>from initial reconnaissance through hardening, verification, and recovery.</a:t>
            </a:r>
            <a:endParaRPr lang="en-US" sz="1400" dirty="0">
              <a:latin typeface="+mj-lt"/>
            </a:endParaRPr>
          </a:p>
        </p:txBody>
      </p:sp>
      <p:sp>
        <p:nvSpPr>
          <p:cNvPr id="7" name="Text 5"/>
          <p:cNvSpPr/>
          <p:nvPr/>
        </p:nvSpPr>
        <p:spPr>
          <a:xfrm>
            <a:off x="631924" y="4113113"/>
            <a:ext cx="3492301" cy="595808"/>
          </a:xfrm>
          <a:prstGeom prst="rect">
            <a:avLst/>
          </a:prstGeom>
          <a:noFill/>
          <a:ln/>
        </p:spPr>
        <p:txBody>
          <a:bodyPr wrap="none" lIns="0" tIns="0" rIns="0" bIns="0" rtlCol="0" anchor="t"/>
          <a:lstStyle/>
          <a:p>
            <a:pPr algn="ctr">
              <a:lnSpc>
                <a:spcPct val="83000"/>
              </a:lnSpc>
            </a:pPr>
            <a:r>
              <a:rPr lang="en-US" sz="4667" dirty="0">
                <a:solidFill>
                  <a:srgbClr val="FFE5E5"/>
                </a:solidFill>
                <a:latin typeface="+mj-lt"/>
                <a:ea typeface="Dela Gothic One" pitchFamily="34" charset="-122"/>
                <a:cs typeface="Dela Gothic One" pitchFamily="34" charset="-120"/>
              </a:rPr>
              <a:t>2</a:t>
            </a:r>
            <a:endParaRPr lang="en-US" sz="4667" dirty="0">
              <a:latin typeface="+mj-lt"/>
            </a:endParaRPr>
          </a:p>
        </p:txBody>
      </p:sp>
      <p:sp>
        <p:nvSpPr>
          <p:cNvPr id="8" name="Text 6"/>
          <p:cNvSpPr/>
          <p:nvPr/>
        </p:nvSpPr>
        <p:spPr>
          <a:xfrm>
            <a:off x="631924" y="4934447"/>
            <a:ext cx="3492301" cy="296863"/>
          </a:xfrm>
          <a:prstGeom prst="rect">
            <a:avLst/>
          </a:prstGeom>
          <a:noFill/>
          <a:ln/>
        </p:spPr>
        <p:txBody>
          <a:bodyPr wrap="none" lIns="0" tIns="0" rIns="0" bIns="0" rtlCol="0" anchor="t"/>
          <a:lstStyle/>
          <a:p>
            <a:pPr algn="ctr">
              <a:lnSpc>
                <a:spcPct val="104000"/>
              </a:lnSpc>
            </a:pPr>
            <a:r>
              <a:rPr lang="en-US" sz="1867" dirty="0">
                <a:solidFill>
                  <a:srgbClr val="FFE5E5"/>
                </a:solidFill>
                <a:latin typeface="+mj-lt"/>
                <a:ea typeface="Dela Gothic One" pitchFamily="34" charset="-122"/>
                <a:cs typeface="Dela Gothic One" pitchFamily="34" charset="-120"/>
              </a:rPr>
              <a:t>Assessment Phases</a:t>
            </a:r>
            <a:endParaRPr lang="en-US" sz="1867" dirty="0">
              <a:latin typeface="+mj-lt"/>
            </a:endParaRPr>
          </a:p>
        </p:txBody>
      </p:sp>
      <p:sp>
        <p:nvSpPr>
          <p:cNvPr id="9" name="Text 7"/>
          <p:cNvSpPr/>
          <p:nvPr/>
        </p:nvSpPr>
        <p:spPr>
          <a:xfrm>
            <a:off x="631924" y="5339556"/>
            <a:ext cx="3492301" cy="577851"/>
          </a:xfrm>
          <a:prstGeom prst="rect">
            <a:avLst/>
          </a:prstGeom>
          <a:noFill/>
          <a:ln/>
        </p:spPr>
        <p:txBody>
          <a:bodyPr wrap="square" lIns="0" tIns="0" rIns="0" bIns="0" rtlCol="0" anchor="t">
            <a:normAutofit/>
          </a:bodyPr>
          <a:lstStyle/>
          <a:p>
            <a:pPr algn="ctr">
              <a:lnSpc>
                <a:spcPct val="133000"/>
              </a:lnSpc>
            </a:pPr>
            <a:r>
              <a:rPr lang="en-US" sz="1400" dirty="0">
                <a:solidFill>
                  <a:srgbClr val="FFE5E5"/>
                </a:solidFill>
                <a:latin typeface="+mj-lt"/>
                <a:ea typeface="DM Sans" pitchFamily="34" charset="-122"/>
                <a:cs typeface="DM Sans" pitchFamily="34" charset="-120"/>
              </a:rPr>
              <a:t>Attack and defense phases fully executed and documented.</a:t>
            </a:r>
            <a:endParaRPr lang="en-US" sz="1400" dirty="0">
              <a:latin typeface="+mj-lt"/>
            </a:endParaRPr>
          </a:p>
        </p:txBody>
      </p:sp>
      <p:sp>
        <p:nvSpPr>
          <p:cNvPr id="10" name="Text 8"/>
          <p:cNvSpPr/>
          <p:nvPr/>
        </p:nvSpPr>
        <p:spPr>
          <a:xfrm>
            <a:off x="4349850" y="4113113"/>
            <a:ext cx="3492301" cy="595808"/>
          </a:xfrm>
          <a:prstGeom prst="rect">
            <a:avLst/>
          </a:prstGeom>
          <a:noFill/>
          <a:ln/>
        </p:spPr>
        <p:txBody>
          <a:bodyPr wrap="none" lIns="0" tIns="0" rIns="0" bIns="0" rtlCol="0" anchor="t"/>
          <a:lstStyle/>
          <a:p>
            <a:pPr algn="ctr">
              <a:lnSpc>
                <a:spcPct val="83000"/>
              </a:lnSpc>
            </a:pPr>
            <a:r>
              <a:rPr lang="en-US" sz="4667" dirty="0">
                <a:solidFill>
                  <a:srgbClr val="FFE5E5"/>
                </a:solidFill>
                <a:latin typeface="+mj-lt"/>
                <a:ea typeface="Dela Gothic One" pitchFamily="34" charset="-122"/>
                <a:cs typeface="Dela Gothic One" pitchFamily="34" charset="-120"/>
              </a:rPr>
              <a:t>1</a:t>
            </a:r>
            <a:r>
              <a:rPr lang="ar-EG" sz="4667" dirty="0">
                <a:solidFill>
                  <a:srgbClr val="FFE5E5"/>
                </a:solidFill>
                <a:latin typeface="+mj-lt"/>
                <a:ea typeface="Dela Gothic One" pitchFamily="34" charset="-122"/>
                <a:cs typeface="Dela Gothic One" pitchFamily="34" charset="-120"/>
              </a:rPr>
              <a:t>2</a:t>
            </a:r>
            <a:endParaRPr lang="en-US" sz="4667" dirty="0">
              <a:latin typeface="+mj-lt"/>
            </a:endParaRPr>
          </a:p>
        </p:txBody>
      </p:sp>
      <p:sp>
        <p:nvSpPr>
          <p:cNvPr id="11" name="Text 9"/>
          <p:cNvSpPr/>
          <p:nvPr/>
        </p:nvSpPr>
        <p:spPr>
          <a:xfrm>
            <a:off x="4349850" y="4934447"/>
            <a:ext cx="3492301" cy="296863"/>
          </a:xfrm>
          <a:prstGeom prst="rect">
            <a:avLst/>
          </a:prstGeom>
          <a:noFill/>
          <a:ln/>
        </p:spPr>
        <p:txBody>
          <a:bodyPr wrap="none" lIns="0" tIns="0" rIns="0" bIns="0" rtlCol="0" anchor="t"/>
          <a:lstStyle/>
          <a:p>
            <a:pPr algn="ctr">
              <a:lnSpc>
                <a:spcPct val="104000"/>
              </a:lnSpc>
            </a:pPr>
            <a:r>
              <a:rPr lang="en-US" sz="1867" dirty="0">
                <a:solidFill>
                  <a:srgbClr val="FFE5E5"/>
                </a:solidFill>
                <a:latin typeface="+mj-lt"/>
                <a:ea typeface="Dela Gothic One" pitchFamily="34" charset="-122"/>
                <a:cs typeface="Dela Gothic One" pitchFamily="34" charset="-120"/>
              </a:rPr>
              <a:t>Project Phases</a:t>
            </a:r>
            <a:endParaRPr lang="en-US" sz="1867" dirty="0">
              <a:latin typeface="+mj-lt"/>
            </a:endParaRPr>
          </a:p>
        </p:txBody>
      </p:sp>
      <p:sp>
        <p:nvSpPr>
          <p:cNvPr id="12" name="Text 10"/>
          <p:cNvSpPr/>
          <p:nvPr/>
        </p:nvSpPr>
        <p:spPr>
          <a:xfrm>
            <a:off x="4349850" y="5339556"/>
            <a:ext cx="3492301" cy="577851"/>
          </a:xfrm>
          <a:prstGeom prst="rect">
            <a:avLst/>
          </a:prstGeom>
          <a:noFill/>
          <a:ln/>
        </p:spPr>
        <p:txBody>
          <a:bodyPr wrap="square" lIns="0" tIns="0" rIns="0" bIns="0" rtlCol="0" anchor="t">
            <a:normAutofit/>
          </a:bodyPr>
          <a:lstStyle/>
          <a:p>
            <a:pPr algn="ctr">
              <a:lnSpc>
                <a:spcPct val="133000"/>
              </a:lnSpc>
            </a:pPr>
            <a:r>
              <a:rPr lang="en-US" sz="1400" dirty="0">
                <a:solidFill>
                  <a:srgbClr val="FFE5E5"/>
                </a:solidFill>
                <a:latin typeface="+mj-lt"/>
                <a:ea typeface="DM Sans" pitchFamily="34" charset="-122"/>
                <a:cs typeface="DM Sans" pitchFamily="34" charset="-120"/>
              </a:rPr>
              <a:t>End to end lifecycle from setup through cleanup.</a:t>
            </a:r>
            <a:endParaRPr lang="en-US" sz="1400" dirty="0">
              <a:latin typeface="+mj-lt"/>
            </a:endParaRPr>
          </a:p>
        </p:txBody>
      </p:sp>
      <p:sp>
        <p:nvSpPr>
          <p:cNvPr id="13" name="Text 11"/>
          <p:cNvSpPr/>
          <p:nvPr/>
        </p:nvSpPr>
        <p:spPr>
          <a:xfrm>
            <a:off x="8067775" y="4113113"/>
            <a:ext cx="3492301" cy="595808"/>
          </a:xfrm>
          <a:prstGeom prst="rect">
            <a:avLst/>
          </a:prstGeom>
          <a:noFill/>
          <a:ln/>
        </p:spPr>
        <p:txBody>
          <a:bodyPr wrap="none" lIns="0" tIns="0" rIns="0" bIns="0" rtlCol="0" anchor="t"/>
          <a:lstStyle/>
          <a:p>
            <a:pPr algn="ctr">
              <a:lnSpc>
                <a:spcPct val="83000"/>
              </a:lnSpc>
            </a:pPr>
            <a:r>
              <a:rPr lang="en-US" sz="4667" dirty="0">
                <a:solidFill>
                  <a:srgbClr val="FFE5E5"/>
                </a:solidFill>
                <a:latin typeface="+mj-lt"/>
                <a:ea typeface="Dela Gothic One" pitchFamily="34" charset="-122"/>
                <a:cs typeface="Dela Gothic One" pitchFamily="34" charset="-120"/>
              </a:rPr>
              <a:t>8</a:t>
            </a:r>
            <a:endParaRPr lang="en-US" sz="4667" dirty="0">
              <a:latin typeface="+mj-lt"/>
            </a:endParaRPr>
          </a:p>
        </p:txBody>
      </p:sp>
      <p:sp>
        <p:nvSpPr>
          <p:cNvPr id="14" name="Text 12"/>
          <p:cNvSpPr/>
          <p:nvPr/>
        </p:nvSpPr>
        <p:spPr>
          <a:xfrm>
            <a:off x="8067775" y="4934447"/>
            <a:ext cx="3492301" cy="296863"/>
          </a:xfrm>
          <a:prstGeom prst="rect">
            <a:avLst/>
          </a:prstGeom>
          <a:noFill/>
          <a:ln/>
        </p:spPr>
        <p:txBody>
          <a:bodyPr wrap="none" lIns="0" tIns="0" rIns="0" bIns="0" rtlCol="0" anchor="t"/>
          <a:lstStyle/>
          <a:p>
            <a:pPr algn="ctr">
              <a:lnSpc>
                <a:spcPct val="104000"/>
              </a:lnSpc>
            </a:pPr>
            <a:r>
              <a:rPr lang="en-US" sz="1867" dirty="0">
                <a:solidFill>
                  <a:srgbClr val="FFE5E5"/>
                </a:solidFill>
                <a:latin typeface="+mj-lt"/>
                <a:ea typeface="Dela Gothic One" pitchFamily="34" charset="-122"/>
                <a:cs typeface="Dela Gothic One" pitchFamily="34" charset="-120"/>
              </a:rPr>
              <a:t>Deliverables</a:t>
            </a:r>
            <a:endParaRPr lang="en-US" sz="1867" dirty="0">
              <a:latin typeface="+mj-lt"/>
            </a:endParaRPr>
          </a:p>
        </p:txBody>
      </p:sp>
      <p:sp>
        <p:nvSpPr>
          <p:cNvPr id="15" name="Text 13"/>
          <p:cNvSpPr/>
          <p:nvPr/>
        </p:nvSpPr>
        <p:spPr>
          <a:xfrm>
            <a:off x="8067775" y="5339556"/>
            <a:ext cx="3492301" cy="577851"/>
          </a:xfrm>
          <a:prstGeom prst="rect">
            <a:avLst/>
          </a:prstGeom>
          <a:noFill/>
          <a:ln/>
        </p:spPr>
        <p:txBody>
          <a:bodyPr wrap="square" lIns="0" tIns="0" rIns="0" bIns="0" rtlCol="0" anchor="t">
            <a:normAutofit fontScale="92500"/>
          </a:bodyPr>
          <a:lstStyle/>
          <a:p>
            <a:pPr algn="ctr">
              <a:lnSpc>
                <a:spcPct val="133000"/>
              </a:lnSpc>
            </a:pPr>
            <a:r>
              <a:rPr lang="en-US" sz="1400" dirty="0">
                <a:solidFill>
                  <a:srgbClr val="FFE5E5"/>
                </a:solidFill>
                <a:latin typeface="+mj-lt"/>
                <a:ea typeface="DM Sans" pitchFamily="34" charset="-122"/>
                <a:cs typeface="DM Sans" pitchFamily="34" charset="-120"/>
              </a:rPr>
              <a:t>Artifacts produced across documentation, tooling, and evidence.</a:t>
            </a:r>
            <a:endParaRPr lang="en-US" sz="1400" dirty="0">
              <a:latin typeface="+mj-lt"/>
            </a:endParaRPr>
          </a:p>
        </p:txBody>
      </p:sp>
      <p:sp>
        <p:nvSpPr>
          <p:cNvPr id="18" name="Footer Placeholder 17">
            <a:extLst>
              <a:ext uri="{FF2B5EF4-FFF2-40B4-BE49-F238E27FC236}">
                <a16:creationId xmlns:a16="http://schemas.microsoft.com/office/drawing/2014/main" id="{632FA7EF-298C-29EB-B497-F2CA37BB3FB6}"/>
              </a:ext>
            </a:extLst>
          </p:cNvPr>
          <p:cNvSpPr>
            <a:spLocks noGrp="1"/>
          </p:cNvSpPr>
          <p:nvPr>
            <p:ph type="ftr" sz="quarter" idx="3"/>
          </p:nvPr>
        </p:nvSpPr>
        <p:spPr/>
        <p:txBody>
          <a:bodyPr/>
          <a:lstStyle/>
          <a:p>
            <a:r>
              <a:rPr lang="en-US">
                <a:latin typeface="+mj-lt"/>
              </a:rPr>
              <a:t>Zero Trace Imperium</a:t>
            </a:r>
            <a:endParaRPr lang="en-US" dirty="0">
              <a:latin typeface="+mj-lt"/>
            </a:endParaRPr>
          </a:p>
        </p:txBody>
      </p:sp>
      <p:sp>
        <p:nvSpPr>
          <p:cNvPr id="19" name="Slide Number Placeholder 18">
            <a:extLst>
              <a:ext uri="{FF2B5EF4-FFF2-40B4-BE49-F238E27FC236}">
                <a16:creationId xmlns:a16="http://schemas.microsoft.com/office/drawing/2014/main" id="{F82EE00A-0B8E-46ED-7197-18792B9E8706}"/>
              </a:ext>
            </a:extLst>
          </p:cNvPr>
          <p:cNvSpPr>
            <a:spLocks noGrp="1"/>
          </p:cNvSpPr>
          <p:nvPr>
            <p:ph type="sldNum" sz="quarter" idx="4"/>
          </p:nvPr>
        </p:nvSpPr>
        <p:spPr/>
        <p:txBody>
          <a:bodyPr/>
          <a:lstStyle/>
          <a:p>
            <a:fld id="{08D6B0A0-5113-456A-82B3-EA8CCD6D43D8}" type="slidenum">
              <a:rPr lang="en-US" smtClean="0">
                <a:latin typeface="+mj-lt"/>
              </a:rPr>
              <a:t>42</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03016" y="552649"/>
            <a:ext cx="10928152" cy="510283"/>
          </a:xfrm>
          <a:prstGeom prst="rect">
            <a:avLst/>
          </a:prstGeom>
          <a:noFill/>
          <a:ln/>
        </p:spPr>
        <p:txBody>
          <a:bodyPr wrap="none" lIns="0" tIns="0" rIns="0" bIns="0" rtlCol="0" anchor="t"/>
          <a:lstStyle/>
          <a:p>
            <a:pPr>
              <a:lnSpc>
                <a:spcPct val="104000"/>
              </a:lnSpc>
            </a:pPr>
            <a:r>
              <a:rPr lang="en-US" sz="3200" dirty="0">
                <a:solidFill>
                  <a:srgbClr val="FAEBEB"/>
                </a:solidFill>
                <a:latin typeface="+mj-lt"/>
                <a:ea typeface="Dela Gothic One" pitchFamily="34" charset="-122"/>
                <a:cs typeface="Dela Gothic One" pitchFamily="34" charset="-120"/>
              </a:rPr>
              <a:t>Deliverables</a:t>
            </a:r>
            <a:endParaRPr lang="en-US" sz="3200" dirty="0">
              <a:latin typeface="+mj-lt"/>
            </a:endParaRPr>
          </a:p>
        </p:txBody>
      </p:sp>
      <p:sp>
        <p:nvSpPr>
          <p:cNvPr id="3" name="Text 1"/>
          <p:cNvSpPr/>
          <p:nvPr/>
        </p:nvSpPr>
        <p:spPr>
          <a:xfrm>
            <a:off x="631924" y="1333699"/>
            <a:ext cx="11537752" cy="230783"/>
          </a:xfrm>
          <a:prstGeom prst="rect">
            <a:avLst/>
          </a:prstGeom>
          <a:noFill/>
          <a:ln/>
        </p:spPr>
        <p:txBody>
          <a:bodyPr wrap="none" lIns="0" tIns="0" rIns="0" bIns="0" rtlCol="0" anchor="t"/>
          <a:lstStyle/>
          <a:p>
            <a:pPr>
              <a:lnSpc>
                <a:spcPct val="124000"/>
              </a:lnSpc>
            </a:pPr>
            <a:r>
              <a:rPr lang="en-US" sz="1400" dirty="0">
                <a:solidFill>
                  <a:srgbClr val="FFE5E5"/>
                </a:solidFill>
                <a:latin typeface="+mj-lt"/>
                <a:ea typeface="DM Sans" pitchFamily="34" charset="-122"/>
                <a:cs typeface="DM Sans" pitchFamily="34" charset="-120"/>
              </a:rPr>
              <a:t>Eight professional artifacts document the full assessment lifecycle and support future reuse.</a:t>
            </a:r>
            <a:endParaRPr lang="en-US" sz="1400" dirty="0">
              <a:latin typeface="+mj-lt"/>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25" y="1714402"/>
            <a:ext cx="387847" cy="387847"/>
          </a:xfrm>
          <a:prstGeom prst="rect">
            <a:avLst/>
          </a:prstGeom>
        </p:spPr>
      </p:pic>
      <p:sp>
        <p:nvSpPr>
          <p:cNvPr id="5" name="Text 2"/>
          <p:cNvSpPr/>
          <p:nvPr/>
        </p:nvSpPr>
        <p:spPr>
          <a:xfrm>
            <a:off x="631925" y="2268835"/>
            <a:ext cx="5380732" cy="255191"/>
          </a:xfrm>
          <a:prstGeom prst="rect">
            <a:avLst/>
          </a:prstGeom>
          <a:noFill/>
          <a:ln/>
        </p:spPr>
        <p:txBody>
          <a:bodyPr wrap="none" lIns="0" tIns="0" rIns="0" bIns="0" rtlCol="0" anchor="t"/>
          <a:lstStyle/>
          <a:p>
            <a:pPr>
              <a:lnSpc>
                <a:spcPct val="104000"/>
              </a:lnSpc>
            </a:pPr>
            <a:r>
              <a:rPr lang="en-US" sz="1600" dirty="0">
                <a:solidFill>
                  <a:srgbClr val="FFE5E5"/>
                </a:solidFill>
                <a:ea typeface="Dela Gothic One" pitchFamily="34" charset="-122"/>
                <a:cs typeface="Dela Gothic One" pitchFamily="34" charset="-120"/>
              </a:rPr>
              <a:t>Enterprise Cybersecurity Laboratory</a:t>
            </a:r>
            <a:endParaRPr lang="en-US" sz="1600" dirty="0"/>
          </a:p>
        </p:txBody>
      </p:sp>
      <p:sp>
        <p:nvSpPr>
          <p:cNvPr id="6" name="Text 3"/>
          <p:cNvSpPr/>
          <p:nvPr/>
        </p:nvSpPr>
        <p:spPr>
          <a:xfrm>
            <a:off x="631925" y="2603996"/>
            <a:ext cx="5380732" cy="461565"/>
          </a:xfrm>
          <a:prstGeom prst="rect">
            <a:avLst/>
          </a:prstGeom>
          <a:noFill/>
          <a:ln/>
        </p:spPr>
        <p:txBody>
          <a:bodyPr wrap="square" lIns="0" tIns="0" rIns="0" bIns="0" rtlCol="0" anchor="t">
            <a:normAutofit/>
          </a:bodyPr>
          <a:lstStyle/>
          <a:p>
            <a:pPr>
              <a:lnSpc>
                <a:spcPct val="124000"/>
              </a:lnSpc>
            </a:pPr>
            <a:r>
              <a:rPr lang="en-US" sz="1200" dirty="0" err="1">
                <a:solidFill>
                  <a:srgbClr val="FFE5E5"/>
                </a:solidFill>
                <a:ea typeface="DM Sans" pitchFamily="34" charset="-122"/>
                <a:cs typeface="DM Sans" pitchFamily="34" charset="-120"/>
              </a:rPr>
              <a:t>Vmware</a:t>
            </a:r>
            <a:r>
              <a:rPr lang="en-US" sz="1200" dirty="0">
                <a:solidFill>
                  <a:srgbClr val="FFE5E5"/>
                </a:solidFill>
                <a:ea typeface="DM Sans" pitchFamily="34" charset="-122"/>
                <a:cs typeface="DM Sans" pitchFamily="34" charset="-120"/>
              </a:rPr>
              <a:t> based lab replicating enterprise architecture for attack/defense testing.</a:t>
            </a:r>
            <a:endParaRPr lang="en-US" sz="12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79245" y="1714402"/>
            <a:ext cx="387847" cy="387847"/>
          </a:xfrm>
          <a:prstGeom prst="rect">
            <a:avLst/>
          </a:prstGeom>
        </p:spPr>
      </p:pic>
      <p:sp>
        <p:nvSpPr>
          <p:cNvPr id="8" name="Text 4"/>
          <p:cNvSpPr/>
          <p:nvPr/>
        </p:nvSpPr>
        <p:spPr>
          <a:xfrm>
            <a:off x="6179245" y="2268835"/>
            <a:ext cx="5380831" cy="255191"/>
          </a:xfrm>
          <a:prstGeom prst="rect">
            <a:avLst/>
          </a:prstGeom>
          <a:noFill/>
          <a:ln/>
        </p:spPr>
        <p:txBody>
          <a:bodyPr wrap="none" lIns="0" tIns="0" rIns="0" bIns="0" rtlCol="0" anchor="t"/>
          <a:lstStyle/>
          <a:p>
            <a:pPr>
              <a:lnSpc>
                <a:spcPct val="104000"/>
              </a:lnSpc>
            </a:pPr>
            <a:r>
              <a:rPr lang="en-US" sz="1600" dirty="0">
                <a:solidFill>
                  <a:srgbClr val="FFE5E5"/>
                </a:solidFill>
                <a:ea typeface="Dela Gothic One" pitchFamily="34" charset="-122"/>
                <a:cs typeface="Dela Gothic One" pitchFamily="34" charset="-120"/>
              </a:rPr>
              <a:t>Professional GitHub Repository</a:t>
            </a:r>
            <a:endParaRPr lang="en-US" sz="1600" dirty="0"/>
          </a:p>
        </p:txBody>
      </p:sp>
      <p:sp>
        <p:nvSpPr>
          <p:cNvPr id="9" name="Text 5"/>
          <p:cNvSpPr/>
          <p:nvPr/>
        </p:nvSpPr>
        <p:spPr>
          <a:xfrm>
            <a:off x="6179245" y="2603997"/>
            <a:ext cx="5380831" cy="230783"/>
          </a:xfrm>
          <a:prstGeom prst="rect">
            <a:avLst/>
          </a:prstGeom>
          <a:noFill/>
          <a:ln/>
        </p:spPr>
        <p:txBody>
          <a:bodyPr wrap="none" lIns="0" tIns="0" rIns="0" bIns="0" rtlCol="0" anchor="t"/>
          <a:lstStyle/>
          <a:p>
            <a:pPr>
              <a:lnSpc>
                <a:spcPct val="124000"/>
              </a:lnSpc>
            </a:pPr>
            <a:r>
              <a:rPr lang="en-US" sz="1200" dirty="0">
                <a:solidFill>
                  <a:srgbClr val="FFE5E5"/>
                </a:solidFill>
                <a:ea typeface="DM Sans" pitchFamily="34" charset="-122"/>
                <a:cs typeface="DM Sans" pitchFamily="34" charset="-120"/>
              </a:rPr>
              <a:t>Version controlled code, scripts, and documentation for public reference.</a:t>
            </a:r>
            <a:endParaRPr lang="en-US" sz="12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1925" y="3332163"/>
            <a:ext cx="387847" cy="387847"/>
          </a:xfrm>
          <a:prstGeom prst="rect">
            <a:avLst/>
          </a:prstGeom>
        </p:spPr>
      </p:pic>
      <p:sp>
        <p:nvSpPr>
          <p:cNvPr id="11" name="Text 6"/>
          <p:cNvSpPr/>
          <p:nvPr/>
        </p:nvSpPr>
        <p:spPr>
          <a:xfrm>
            <a:off x="631925" y="3886598"/>
            <a:ext cx="5380732" cy="255191"/>
          </a:xfrm>
          <a:prstGeom prst="rect">
            <a:avLst/>
          </a:prstGeom>
          <a:noFill/>
          <a:ln/>
        </p:spPr>
        <p:txBody>
          <a:bodyPr wrap="none" lIns="0" tIns="0" rIns="0" bIns="0" rtlCol="0" anchor="t"/>
          <a:lstStyle/>
          <a:p>
            <a:pPr>
              <a:lnSpc>
                <a:spcPct val="104000"/>
              </a:lnSpc>
            </a:pPr>
            <a:r>
              <a:rPr lang="en-US" sz="1600" dirty="0">
                <a:solidFill>
                  <a:srgbClr val="FFE5E5"/>
                </a:solidFill>
                <a:ea typeface="Dela Gothic One" pitchFamily="34" charset="-122"/>
                <a:cs typeface="Dela Gothic One" pitchFamily="34" charset="-120"/>
              </a:rPr>
              <a:t>Technical Documentation &amp; Reports</a:t>
            </a:r>
            <a:endParaRPr lang="en-US" sz="1600" dirty="0"/>
          </a:p>
        </p:txBody>
      </p:sp>
      <p:sp>
        <p:nvSpPr>
          <p:cNvPr id="12" name="Text 7"/>
          <p:cNvSpPr/>
          <p:nvPr/>
        </p:nvSpPr>
        <p:spPr>
          <a:xfrm>
            <a:off x="631925" y="4221758"/>
            <a:ext cx="5380732" cy="461565"/>
          </a:xfrm>
          <a:prstGeom prst="rect">
            <a:avLst/>
          </a:prstGeom>
          <a:noFill/>
          <a:ln/>
        </p:spPr>
        <p:txBody>
          <a:bodyPr wrap="square" lIns="0" tIns="0" rIns="0" bIns="0" rtlCol="0" anchor="t">
            <a:normAutofit/>
          </a:bodyPr>
          <a:lstStyle/>
          <a:p>
            <a:pPr>
              <a:lnSpc>
                <a:spcPct val="124000"/>
              </a:lnSpc>
            </a:pPr>
            <a:r>
              <a:rPr lang="en-US" sz="1200" dirty="0">
                <a:solidFill>
                  <a:srgbClr val="FFE5E5"/>
                </a:solidFill>
                <a:ea typeface="DM Sans" pitchFamily="34" charset="-122"/>
                <a:cs typeface="DM Sans" pitchFamily="34" charset="-120"/>
              </a:rPr>
              <a:t>Assessment reports, configuration guides, and methodology documentation.</a:t>
            </a:r>
            <a:endParaRPr lang="en-US" sz="12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79245" y="3332163"/>
            <a:ext cx="387847" cy="387847"/>
          </a:xfrm>
          <a:prstGeom prst="rect">
            <a:avLst/>
          </a:prstGeom>
        </p:spPr>
      </p:pic>
      <p:sp>
        <p:nvSpPr>
          <p:cNvPr id="14" name="Text 8"/>
          <p:cNvSpPr/>
          <p:nvPr/>
        </p:nvSpPr>
        <p:spPr>
          <a:xfrm>
            <a:off x="6179245" y="3886598"/>
            <a:ext cx="5380831" cy="255191"/>
          </a:xfrm>
          <a:prstGeom prst="rect">
            <a:avLst/>
          </a:prstGeom>
          <a:noFill/>
          <a:ln/>
        </p:spPr>
        <p:txBody>
          <a:bodyPr wrap="none" lIns="0" tIns="0" rIns="0" bIns="0" rtlCol="0" anchor="t"/>
          <a:lstStyle/>
          <a:p>
            <a:pPr>
              <a:lnSpc>
                <a:spcPct val="104000"/>
              </a:lnSpc>
            </a:pPr>
            <a:r>
              <a:rPr lang="en-US" sz="1600" dirty="0">
                <a:solidFill>
                  <a:srgbClr val="FFE5E5"/>
                </a:solidFill>
                <a:ea typeface="Dela Gothic One" pitchFamily="34" charset="-122"/>
                <a:cs typeface="Dela Gothic One" pitchFamily="34" charset="-120"/>
              </a:rPr>
              <a:t>Configuration Repository</a:t>
            </a:r>
            <a:endParaRPr lang="en-US" sz="1600" dirty="0"/>
          </a:p>
        </p:txBody>
      </p:sp>
      <p:sp>
        <p:nvSpPr>
          <p:cNvPr id="15" name="Text 9"/>
          <p:cNvSpPr/>
          <p:nvPr/>
        </p:nvSpPr>
        <p:spPr>
          <a:xfrm>
            <a:off x="6179245" y="4221758"/>
            <a:ext cx="5380831" cy="461565"/>
          </a:xfrm>
          <a:prstGeom prst="rect">
            <a:avLst/>
          </a:prstGeom>
          <a:noFill/>
          <a:ln/>
        </p:spPr>
        <p:txBody>
          <a:bodyPr wrap="square" lIns="0" tIns="0" rIns="0" bIns="0" rtlCol="0" anchor="t">
            <a:normAutofit/>
          </a:bodyPr>
          <a:lstStyle/>
          <a:p>
            <a:pPr>
              <a:lnSpc>
                <a:spcPct val="124000"/>
              </a:lnSpc>
            </a:pPr>
            <a:r>
              <a:rPr lang="en-US" sz="1200" dirty="0">
                <a:solidFill>
                  <a:srgbClr val="FFE5E5"/>
                </a:solidFill>
                <a:ea typeface="DM Sans" pitchFamily="34" charset="-122"/>
                <a:cs typeface="DM Sans" pitchFamily="34" charset="-120"/>
              </a:rPr>
              <a:t>Hardened configurations and baseline templates for repeatable deployment.</a:t>
            </a:r>
            <a:endParaRPr lang="en-US" sz="12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1925" y="4949925"/>
            <a:ext cx="387847" cy="387847"/>
          </a:xfrm>
          <a:prstGeom prst="rect">
            <a:avLst/>
          </a:prstGeom>
        </p:spPr>
      </p:pic>
      <p:sp>
        <p:nvSpPr>
          <p:cNvPr id="17" name="Text 10"/>
          <p:cNvSpPr/>
          <p:nvPr/>
        </p:nvSpPr>
        <p:spPr>
          <a:xfrm>
            <a:off x="631925" y="5504359"/>
            <a:ext cx="5380732" cy="255191"/>
          </a:xfrm>
          <a:prstGeom prst="rect">
            <a:avLst/>
          </a:prstGeom>
          <a:noFill/>
          <a:ln/>
        </p:spPr>
        <p:txBody>
          <a:bodyPr wrap="none" lIns="0" tIns="0" rIns="0" bIns="0" rtlCol="0" anchor="t"/>
          <a:lstStyle/>
          <a:p>
            <a:pPr>
              <a:lnSpc>
                <a:spcPct val="104000"/>
              </a:lnSpc>
            </a:pPr>
            <a:r>
              <a:rPr lang="en-US" sz="1600" dirty="0">
                <a:solidFill>
                  <a:srgbClr val="FFE5E5"/>
                </a:solidFill>
                <a:ea typeface="Dela Gothic One" pitchFamily="34" charset="-122"/>
                <a:cs typeface="Dela Gothic One" pitchFamily="34" charset="-120"/>
              </a:rPr>
              <a:t>Automation Scripts</a:t>
            </a:r>
            <a:endParaRPr lang="en-US" sz="1600" dirty="0"/>
          </a:p>
        </p:txBody>
      </p:sp>
      <p:sp>
        <p:nvSpPr>
          <p:cNvPr id="18" name="Text 11"/>
          <p:cNvSpPr/>
          <p:nvPr/>
        </p:nvSpPr>
        <p:spPr>
          <a:xfrm>
            <a:off x="631925" y="5839521"/>
            <a:ext cx="5380732" cy="230783"/>
          </a:xfrm>
          <a:prstGeom prst="rect">
            <a:avLst/>
          </a:prstGeom>
          <a:noFill/>
          <a:ln/>
        </p:spPr>
        <p:txBody>
          <a:bodyPr wrap="none" lIns="0" tIns="0" rIns="0" bIns="0" rtlCol="0" anchor="t"/>
          <a:lstStyle/>
          <a:p>
            <a:pPr>
              <a:lnSpc>
                <a:spcPct val="124000"/>
              </a:lnSpc>
            </a:pPr>
            <a:r>
              <a:rPr lang="en-US" sz="1200" dirty="0">
                <a:solidFill>
                  <a:srgbClr val="FFE5E5"/>
                </a:solidFill>
                <a:ea typeface="DM Sans" pitchFamily="34" charset="-122"/>
                <a:cs typeface="DM Sans" pitchFamily="34" charset="-120"/>
              </a:rPr>
              <a:t>Scripts automating setup, testing, and recovery tasks across the lab.</a:t>
            </a:r>
            <a:endParaRPr lang="en-US" sz="12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79245" y="4949925"/>
            <a:ext cx="387847" cy="387847"/>
          </a:xfrm>
          <a:prstGeom prst="rect">
            <a:avLst/>
          </a:prstGeom>
        </p:spPr>
      </p:pic>
      <p:sp>
        <p:nvSpPr>
          <p:cNvPr id="20" name="Text 12"/>
          <p:cNvSpPr/>
          <p:nvPr/>
        </p:nvSpPr>
        <p:spPr>
          <a:xfrm>
            <a:off x="6179245" y="5504359"/>
            <a:ext cx="5380831" cy="255191"/>
          </a:xfrm>
          <a:prstGeom prst="rect">
            <a:avLst/>
          </a:prstGeom>
          <a:noFill/>
          <a:ln/>
        </p:spPr>
        <p:txBody>
          <a:bodyPr wrap="none" lIns="0" tIns="0" rIns="0" bIns="0" rtlCol="0" anchor="t"/>
          <a:lstStyle/>
          <a:p>
            <a:pPr>
              <a:lnSpc>
                <a:spcPct val="104000"/>
              </a:lnSpc>
            </a:pPr>
            <a:r>
              <a:rPr lang="en-US" sz="1600" dirty="0">
                <a:solidFill>
                  <a:srgbClr val="FFE5E5"/>
                </a:solidFill>
                <a:ea typeface="Dela Gothic One" pitchFamily="34" charset="-122"/>
                <a:cs typeface="Dela Gothic One" pitchFamily="34" charset="-120"/>
              </a:rPr>
              <a:t>Network Diagrams &amp; Evidence</a:t>
            </a:r>
            <a:endParaRPr lang="en-US" sz="1600" dirty="0"/>
          </a:p>
        </p:txBody>
      </p:sp>
      <p:sp>
        <p:nvSpPr>
          <p:cNvPr id="21" name="Text 13"/>
          <p:cNvSpPr/>
          <p:nvPr/>
        </p:nvSpPr>
        <p:spPr>
          <a:xfrm>
            <a:off x="6179245" y="5839520"/>
            <a:ext cx="5380831" cy="461565"/>
          </a:xfrm>
          <a:prstGeom prst="rect">
            <a:avLst/>
          </a:prstGeom>
          <a:noFill/>
          <a:ln/>
        </p:spPr>
        <p:txBody>
          <a:bodyPr wrap="square" lIns="0" tIns="0" rIns="0" bIns="0" rtlCol="0" anchor="t">
            <a:normAutofit/>
          </a:bodyPr>
          <a:lstStyle/>
          <a:p>
            <a:pPr>
              <a:lnSpc>
                <a:spcPct val="124000"/>
              </a:lnSpc>
            </a:pPr>
            <a:r>
              <a:rPr lang="en-US" sz="1200" dirty="0">
                <a:solidFill>
                  <a:srgbClr val="FFE5E5"/>
                </a:solidFill>
                <a:ea typeface="DM Sans" pitchFamily="34" charset="-122"/>
                <a:cs typeface="DM Sans" pitchFamily="34" charset="-120"/>
              </a:rPr>
              <a:t>Topology maps and security evidence supporting all findings and conclusions.</a:t>
            </a:r>
            <a:endParaRPr lang="en-US" sz="1200" dirty="0"/>
          </a:p>
        </p:txBody>
      </p:sp>
      <p:sp>
        <p:nvSpPr>
          <p:cNvPr id="24" name="Footer Placeholder 23">
            <a:extLst>
              <a:ext uri="{FF2B5EF4-FFF2-40B4-BE49-F238E27FC236}">
                <a16:creationId xmlns:a16="http://schemas.microsoft.com/office/drawing/2014/main" id="{E7B9DF01-38B9-FD99-6E22-6807E394F7E4}"/>
              </a:ext>
            </a:extLst>
          </p:cNvPr>
          <p:cNvSpPr>
            <a:spLocks noGrp="1"/>
          </p:cNvSpPr>
          <p:nvPr>
            <p:ph type="ftr" sz="quarter" idx="3"/>
          </p:nvPr>
        </p:nvSpPr>
        <p:spPr/>
        <p:txBody>
          <a:bodyPr/>
          <a:lstStyle/>
          <a:p>
            <a:r>
              <a:rPr lang="en-US" dirty="0">
                <a:latin typeface="+mj-lt"/>
              </a:rPr>
              <a:t>Zero Trace Imperium</a:t>
            </a:r>
          </a:p>
        </p:txBody>
      </p:sp>
      <p:sp>
        <p:nvSpPr>
          <p:cNvPr id="25" name="Slide Number Placeholder 24">
            <a:extLst>
              <a:ext uri="{FF2B5EF4-FFF2-40B4-BE49-F238E27FC236}">
                <a16:creationId xmlns:a16="http://schemas.microsoft.com/office/drawing/2014/main" id="{24B4785B-F558-A092-ED34-96E2F66DAF50}"/>
              </a:ext>
            </a:extLst>
          </p:cNvPr>
          <p:cNvSpPr>
            <a:spLocks noGrp="1"/>
          </p:cNvSpPr>
          <p:nvPr>
            <p:ph type="sldNum" sz="quarter" idx="4"/>
          </p:nvPr>
        </p:nvSpPr>
        <p:spPr/>
        <p:txBody>
          <a:bodyPr/>
          <a:lstStyle/>
          <a:p>
            <a:fld id="{08D6B0A0-5113-456A-82B3-EA8CCD6D43D8}" type="slidenum">
              <a:rPr lang="en-US" smtClean="0">
                <a:latin typeface="+mj-lt"/>
              </a:rPr>
              <a:t>43</a:t>
            </a:fld>
            <a:endParaRPr lang="en-US"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B2AC6-A088-E819-9CC6-ABCC8AEFD33E}"/>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F3E0402F-13A4-C4E5-B66F-3EE47AF19B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0787080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0"/>
          <p:cNvSpPr/>
          <p:nvPr/>
        </p:nvSpPr>
        <p:spPr>
          <a:xfrm>
            <a:off x="905164" y="912010"/>
            <a:ext cx="517236" cy="198199"/>
          </a:xfrm>
          <a:prstGeom prst="roundRect">
            <a:avLst>
              <a:gd name="adj" fmla="val 22121"/>
            </a:avLst>
          </a:prstGeom>
          <a:solidFill>
            <a:srgbClr val="460707"/>
          </a:solidFill>
          <a:ln/>
        </p:spPr>
        <p:txBody>
          <a:bodyPr/>
          <a:lstStyle/>
          <a:p>
            <a:pPr algn="ctr"/>
            <a:endParaRPr lang="en-US" sz="2400">
              <a:latin typeface="+mj-lt"/>
            </a:endParaRPr>
          </a:p>
        </p:txBody>
      </p:sp>
      <p:sp>
        <p:nvSpPr>
          <p:cNvPr id="3" name="Text 1"/>
          <p:cNvSpPr/>
          <p:nvPr/>
        </p:nvSpPr>
        <p:spPr>
          <a:xfrm>
            <a:off x="721123" y="935625"/>
            <a:ext cx="890289" cy="166092"/>
          </a:xfrm>
          <a:prstGeom prst="rect">
            <a:avLst/>
          </a:prstGeom>
          <a:noFill/>
          <a:ln/>
        </p:spPr>
        <p:txBody>
          <a:bodyPr wrap="none" lIns="0" tIns="0" rIns="0" bIns="0" rtlCol="0" anchor="t"/>
          <a:lstStyle/>
          <a:p>
            <a:pPr algn="ctr">
              <a:lnSpc>
                <a:spcPct val="96000"/>
              </a:lnSpc>
            </a:pPr>
            <a:r>
              <a:rPr lang="en-US" sz="1133" dirty="0">
                <a:solidFill>
                  <a:srgbClr val="FFE5E5"/>
                </a:solidFill>
                <a:latin typeface="+mj-lt"/>
                <a:ea typeface="DM Sans" pitchFamily="34" charset="-122"/>
                <a:cs typeface="DM Sans" pitchFamily="34" charset="-120"/>
              </a:rPr>
              <a:t>END</a:t>
            </a:r>
            <a:endParaRPr lang="en-US" sz="1133" dirty="0">
              <a:latin typeface="+mj-lt"/>
            </a:endParaRPr>
          </a:p>
        </p:txBody>
      </p:sp>
      <p:sp>
        <p:nvSpPr>
          <p:cNvPr id="4" name="Text 2"/>
          <p:cNvSpPr/>
          <p:nvPr/>
        </p:nvSpPr>
        <p:spPr>
          <a:xfrm>
            <a:off x="631924" y="1237159"/>
            <a:ext cx="10928152" cy="819647"/>
          </a:xfrm>
          <a:prstGeom prst="rect">
            <a:avLst/>
          </a:prstGeom>
          <a:noFill/>
          <a:ln/>
        </p:spPr>
        <p:txBody>
          <a:bodyPr wrap="none" lIns="0" tIns="0" rIns="0" bIns="0" rtlCol="0" anchor="t"/>
          <a:lstStyle/>
          <a:p>
            <a:pPr algn="ctr">
              <a:lnSpc>
                <a:spcPct val="104000"/>
              </a:lnSpc>
            </a:pPr>
            <a:r>
              <a:rPr lang="en-US" sz="5133" dirty="0">
                <a:solidFill>
                  <a:srgbClr val="FAEBEB"/>
                </a:solidFill>
                <a:latin typeface="+mj-lt"/>
                <a:ea typeface="Dela Gothic One" pitchFamily="34" charset="-122"/>
                <a:cs typeface="Dela Gothic One" pitchFamily="34" charset="-120"/>
              </a:rPr>
              <a:t>THANK YOU</a:t>
            </a:r>
            <a:endParaRPr lang="en-US" sz="5133" dirty="0">
              <a:latin typeface="+mj-lt"/>
            </a:endParaRPr>
          </a:p>
        </p:txBody>
      </p:sp>
      <p:sp>
        <p:nvSpPr>
          <p:cNvPr id="5" name="Text 3"/>
          <p:cNvSpPr/>
          <p:nvPr/>
        </p:nvSpPr>
        <p:spPr>
          <a:xfrm>
            <a:off x="4830617" y="2372620"/>
            <a:ext cx="2388367" cy="475060"/>
          </a:xfrm>
          <a:prstGeom prst="rect">
            <a:avLst/>
          </a:prstGeom>
          <a:noFill/>
          <a:ln/>
        </p:spPr>
        <p:txBody>
          <a:bodyPr wrap="none" lIns="0" tIns="0" rIns="0" bIns="0" rtlCol="0" anchor="t"/>
          <a:lstStyle/>
          <a:p>
            <a:pPr algn="ctr">
              <a:lnSpc>
                <a:spcPct val="104000"/>
              </a:lnSpc>
            </a:pPr>
            <a:r>
              <a:rPr lang="en-US" sz="2933" dirty="0">
                <a:solidFill>
                  <a:srgbClr val="FAEBEB"/>
                </a:solidFill>
                <a:latin typeface="+mj-lt"/>
                <a:ea typeface="Dela Gothic One" pitchFamily="34" charset="-122"/>
                <a:cs typeface="Dela Gothic One" pitchFamily="34" charset="-120"/>
              </a:rPr>
              <a:t>Questions?</a:t>
            </a:r>
            <a:endParaRPr lang="en-US" sz="2933" dirty="0">
              <a:latin typeface="+mj-lt"/>
            </a:endParaRPr>
          </a:p>
        </p:txBody>
      </p:sp>
      <p:sp>
        <p:nvSpPr>
          <p:cNvPr id="6" name="Shape 4"/>
          <p:cNvSpPr/>
          <p:nvPr/>
        </p:nvSpPr>
        <p:spPr>
          <a:xfrm>
            <a:off x="631924" y="3118445"/>
            <a:ext cx="10928152" cy="25400"/>
          </a:xfrm>
          <a:prstGeom prst="roundRect">
            <a:avLst>
              <a:gd name="adj" fmla="val 60000"/>
            </a:avLst>
          </a:prstGeom>
          <a:solidFill>
            <a:srgbClr val="FFE5E5">
              <a:alpha val="50000"/>
            </a:srgbClr>
          </a:solidFill>
          <a:ln/>
        </p:spPr>
        <p:txBody>
          <a:bodyPr/>
          <a:lstStyle/>
          <a:p>
            <a:pPr algn="ctr"/>
            <a:endParaRPr lang="en-US" sz="2400">
              <a:latin typeface="+mj-lt"/>
            </a:endParaRPr>
          </a:p>
        </p:txBody>
      </p:sp>
      <p:sp>
        <p:nvSpPr>
          <p:cNvPr id="7" name="Text 5"/>
          <p:cNvSpPr/>
          <p:nvPr/>
        </p:nvSpPr>
        <p:spPr>
          <a:xfrm>
            <a:off x="631924" y="3459659"/>
            <a:ext cx="10928152" cy="356295"/>
          </a:xfrm>
          <a:prstGeom prst="rect">
            <a:avLst/>
          </a:prstGeom>
          <a:noFill/>
          <a:ln/>
        </p:spPr>
        <p:txBody>
          <a:bodyPr wrap="none" lIns="0" tIns="0" rIns="0" bIns="0" rtlCol="0" anchor="t"/>
          <a:lstStyle/>
          <a:p>
            <a:pPr algn="ctr">
              <a:lnSpc>
                <a:spcPct val="104000"/>
              </a:lnSpc>
            </a:pPr>
            <a:r>
              <a:rPr lang="en-US" sz="2200" dirty="0">
                <a:solidFill>
                  <a:srgbClr val="FAEBEB"/>
                </a:solidFill>
                <a:latin typeface="+mj-lt"/>
                <a:ea typeface="Dela Gothic One" pitchFamily="34" charset="-122"/>
                <a:cs typeface="Dela Gothic One" pitchFamily="34" charset="-120"/>
              </a:rPr>
              <a:t>Zero Trace Team</a:t>
            </a:r>
            <a:endParaRPr lang="en-US" sz="2200" dirty="0">
              <a:latin typeface="+mj-lt"/>
            </a:endParaRPr>
          </a:p>
        </p:txBody>
      </p:sp>
      <p:sp>
        <p:nvSpPr>
          <p:cNvPr id="11" name="Footer Placeholder 23">
            <a:extLst>
              <a:ext uri="{FF2B5EF4-FFF2-40B4-BE49-F238E27FC236}">
                <a16:creationId xmlns:a16="http://schemas.microsoft.com/office/drawing/2014/main" id="{DF8657D9-0285-21D6-F60B-71369E68E62D}"/>
              </a:ext>
            </a:extLst>
          </p:cNvPr>
          <p:cNvSpPr txBox="1">
            <a:spLocks/>
          </p:cNvSpPr>
          <p:nvPr/>
        </p:nvSpPr>
        <p:spPr>
          <a:xfrm>
            <a:off x="4038600" y="6356350"/>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solidFill>
                  <a:schemeClr val="tx1">
                    <a:lumMod val="65000"/>
                    <a:lumOff val="35000"/>
                  </a:schemeClr>
                </a:solidFill>
                <a:latin typeface="+mj-lt"/>
              </a:rPr>
              <a:t>Zero Trace Imperium</a:t>
            </a:r>
          </a:p>
        </p:txBody>
      </p:sp>
      <p:sp>
        <p:nvSpPr>
          <p:cNvPr id="12" name="Slide Number Placeholder 24">
            <a:extLst>
              <a:ext uri="{FF2B5EF4-FFF2-40B4-BE49-F238E27FC236}">
                <a16:creationId xmlns:a16="http://schemas.microsoft.com/office/drawing/2014/main" id="{EBFB0201-3456-8501-3E9F-A9C4B9C39B8A}"/>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8D6B0A0-5113-456A-82B3-EA8CCD6D43D8}" type="slidenum">
              <a:rPr lang="en-US" smtClean="0">
                <a:solidFill>
                  <a:schemeClr val="tx1">
                    <a:lumMod val="65000"/>
                    <a:lumOff val="35000"/>
                  </a:schemeClr>
                </a:solidFill>
                <a:latin typeface="+mj-lt"/>
              </a:rPr>
              <a:pPr algn="r"/>
              <a:t>45</a:t>
            </a:fld>
            <a:endParaRPr lang="en-US" dirty="0">
              <a:solidFill>
                <a:schemeClr val="tx1">
                  <a:lumMod val="65000"/>
                  <a:lumOff val="35000"/>
                </a:schemeClr>
              </a:solidFill>
              <a:latin typeface="+mj-lt"/>
            </a:endParaRPr>
          </a:p>
        </p:txBody>
      </p:sp>
      <p:pic>
        <p:nvPicPr>
          <p:cNvPr id="14" name="Picture 13">
            <a:extLst>
              <a:ext uri="{FF2B5EF4-FFF2-40B4-BE49-F238E27FC236}">
                <a16:creationId xmlns:a16="http://schemas.microsoft.com/office/drawing/2014/main" id="{11FBE9D1-2A61-FF08-F6EB-FAEC91FA5F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058"/>
            <a:ext cx="704088" cy="70408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3">
      <a:majorFont>
        <a:latin typeface="Montserrat 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321</TotalTime>
  <Words>3042</Words>
  <Application>Microsoft Office PowerPoint</Application>
  <PresentationFormat>Widescreen</PresentationFormat>
  <Paragraphs>568</Paragraphs>
  <Slides>46</Slides>
  <Notes>45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46</vt:i4>
      </vt:variant>
    </vt:vector>
  </HeadingPairs>
  <TitlesOfParts>
    <vt:vector size="57" baseType="lpstr">
      <vt:lpstr>Aptos</vt:lpstr>
      <vt:lpstr>Arial</vt:lpstr>
      <vt:lpstr>Barlow</vt:lpstr>
      <vt:lpstr>Barlow Bold</vt:lpstr>
      <vt:lpstr>Barlow Medium</vt:lpstr>
      <vt:lpstr>Dela Gothic One</vt:lpstr>
      <vt:lpstr>Dela Gothic One Light</vt:lpstr>
      <vt:lpstr>DM Sans</vt:lpstr>
      <vt:lpstr>DM Sans Bold</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yusuf mohammad hussein ramadan</dc:creator>
  <cp:lastModifiedBy>yusuf mohammad hussein ramadan</cp:lastModifiedBy>
  <cp:revision>143</cp:revision>
  <dcterms:created xsi:type="dcterms:W3CDTF">2026-07-10T18:41:21Z</dcterms:created>
  <dcterms:modified xsi:type="dcterms:W3CDTF">2026-07-11T15:36:25Z</dcterms:modified>
</cp:coreProperties>
</file>